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datalabto.ca/incomes/" TargetMode="External"/><Relationship Id="rId3" Type="http://schemas.openxmlformats.org/officeDocument/2006/relationships/hyperlink" Target="https://www.toronto.ca/ext/sdfa/Neighbourhood%20Profiles/pdf/2016/pdf1/cpa95.pdf"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hekitchn.com/have-you-ever-added-up-how-muc-63416"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direct.com/science/article/pii/S0959652616307168"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4963151b7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4963151b7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400293a7c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400293a7c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more renderings to panels</a:t>
            </a:r>
            <a:endParaRPr/>
          </a:p>
          <a:p>
            <a:pPr indent="0" lvl="0" marL="0" rtl="0" algn="l">
              <a:spcBef>
                <a:spcPts val="0"/>
              </a:spcBef>
              <a:spcAft>
                <a:spcPts val="0"/>
              </a:spcAft>
              <a:buNone/>
            </a:pPr>
            <a:r>
              <a:rPr lang="en"/>
              <a:t>Fix Kitchen Render </a:t>
            </a:r>
            <a:endParaRPr/>
          </a:p>
          <a:p>
            <a:pPr indent="0" lvl="0" marL="0" rtl="0" algn="l">
              <a:spcBef>
                <a:spcPts val="0"/>
              </a:spcBef>
              <a:spcAft>
                <a:spcPts val="0"/>
              </a:spcAft>
              <a:buNone/>
            </a:pPr>
            <a:r>
              <a:rPr lang="en"/>
              <a:t>Add </a:t>
            </a:r>
            <a:r>
              <a:rPr lang="en"/>
              <a:t>elevation</a:t>
            </a:r>
            <a:r>
              <a:rPr lang="en"/>
              <a:t> to the section</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3ffc8a50f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3ffc8a50f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Subclaim: design tailors to community’s needs</a:t>
            </a:r>
            <a:br>
              <a:rPr b="1" lang="en"/>
            </a:br>
            <a:r>
              <a:rPr lang="en"/>
              <a:t>Talk about during presentation:</a:t>
            </a:r>
            <a:endParaRPr/>
          </a:p>
          <a:p>
            <a:pPr indent="-298450" lvl="0" marL="457200" rtl="0" algn="l">
              <a:spcBef>
                <a:spcPts val="0"/>
              </a:spcBef>
              <a:spcAft>
                <a:spcPts val="0"/>
              </a:spcAft>
              <a:buSzPts val="1100"/>
              <a:buChar char="-"/>
            </a:pPr>
            <a:r>
              <a:rPr lang="en"/>
              <a:t>How location influenced our design decisions</a:t>
            </a:r>
            <a:endParaRPr/>
          </a:p>
          <a:p>
            <a:pPr indent="-298450" lvl="1" marL="914400" rtl="0" algn="l">
              <a:spcBef>
                <a:spcPts val="0"/>
              </a:spcBef>
              <a:spcAft>
                <a:spcPts val="0"/>
              </a:spcAft>
              <a:buSzPts val="1100"/>
              <a:buChar char="-"/>
            </a:pPr>
            <a:r>
              <a:rPr lang="en"/>
              <a:t>NCCT: growing indigenous berries</a:t>
            </a:r>
            <a:endParaRPr/>
          </a:p>
          <a:p>
            <a:pPr indent="-298450" lvl="1" marL="914400" rtl="0" algn="l">
              <a:spcBef>
                <a:spcPts val="0"/>
              </a:spcBef>
              <a:spcAft>
                <a:spcPts val="0"/>
              </a:spcAft>
              <a:buSzPts val="1100"/>
              <a:buChar char="-"/>
            </a:pPr>
            <a:r>
              <a:rPr lang="en"/>
              <a:t>UofT: student discount</a:t>
            </a:r>
            <a:endParaRPr/>
          </a:p>
          <a:p>
            <a:pPr indent="-298450" lvl="1" marL="914400" rtl="0" algn="l">
              <a:spcBef>
                <a:spcPts val="0"/>
              </a:spcBef>
              <a:spcAft>
                <a:spcPts val="0"/>
              </a:spcAft>
              <a:buSzPts val="1100"/>
              <a:buChar char="-"/>
            </a:pPr>
            <a:r>
              <a:rPr lang="en"/>
              <a:t>Lighthouse: partnership could ensure shelves are well stocked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site that we aim to implement our design on is an underutilized parking lot beside Spadina Station, in a community known as the Annex. </a:t>
            </a:r>
            <a:r>
              <a:rPr lang="en"/>
              <a:t>To make the most effective design that functions well within the site conditions </a:t>
            </a:r>
            <a:r>
              <a:rPr lang="en">
                <a:solidFill>
                  <a:schemeClr val="dk1"/>
                </a:solidFill>
              </a:rPr>
              <a:t>w</a:t>
            </a:r>
            <a:r>
              <a:rPr lang="en">
                <a:solidFill>
                  <a:schemeClr val="dk1"/>
                </a:solidFill>
              </a:rPr>
              <a:t>e took into account the surrounding service environment, like the weather conditions, temperatures, sun path, and surrounding shadows</a:t>
            </a:r>
            <a:r>
              <a:rPr lang="en"/>
              <a:t>. </a:t>
            </a:r>
            <a:r>
              <a:rPr lang="en"/>
              <a:t>These directly influenced the orientation to maximize natural light and functionality. We also took into consideration the values of key stakeholders close to the site that we hope to partner with in order to </a:t>
            </a:r>
            <a:r>
              <a:rPr lang="en"/>
              <a:t>respond</a:t>
            </a:r>
            <a:r>
              <a:rPr lang="en"/>
              <a:t> to the needs of the surrounding community. As a community </a:t>
            </a:r>
            <a:r>
              <a:rPr lang="en"/>
              <a:t>initiative</a:t>
            </a:r>
            <a:r>
              <a:rPr lang="en"/>
              <a:t>, we hope to partner with the Native Canadian Centre of Toronto to promote indigenous </a:t>
            </a:r>
            <a:r>
              <a:rPr lang="en"/>
              <a:t>cultural</a:t>
            </a:r>
            <a:r>
              <a:rPr lang="en"/>
              <a:t> </a:t>
            </a:r>
            <a:r>
              <a:rPr lang="en"/>
              <a:t>knowledge</a:t>
            </a:r>
            <a:r>
              <a:rPr lang="en"/>
              <a:t> and grow traditional berries. As a food </a:t>
            </a:r>
            <a:r>
              <a:rPr lang="en"/>
              <a:t>initiative</a:t>
            </a:r>
            <a:r>
              <a:rPr lang="en"/>
              <a:t>, we hope to partner with Lighthouse food bank we hope to maximize food production by keeping our shelves stocked and minimizing food waste. And as a large number of the surrounding population of the Annex are UofT students, we hope to integrate a meal plan or student discounts as incentives for students to purchase from our greenhouse.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400293a7c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400293a7c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Subclaim: </a:t>
            </a:r>
            <a:r>
              <a:rPr b="1" lang="en">
                <a:solidFill>
                  <a:schemeClr val="dk1"/>
                </a:solidFill>
              </a:rPr>
              <a:t>design tailors to community’s needs</a:t>
            </a:r>
            <a:endParaRPr b="1"/>
          </a:p>
          <a:p>
            <a:pPr indent="0" lvl="0" marL="0" rtl="0" algn="l">
              <a:spcBef>
                <a:spcPts val="0"/>
              </a:spcBef>
              <a:spcAft>
                <a:spcPts val="0"/>
              </a:spcAft>
              <a:buNone/>
            </a:pPr>
            <a:r>
              <a:rPr lang="en">
                <a:solidFill>
                  <a:schemeClr val="dk1"/>
                </a:solidFill>
              </a:rPr>
              <a:t>Talk about during presentation: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Smaller household size (26% lower than Toronto average, average 1.8 people per household) also indicates high student population alongside lower birth rates and students living in single bedroom units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Users weren’t limited to students, but students are considered in special aspects of the design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Sources: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Annex median income: </a:t>
            </a:r>
            <a:r>
              <a:rPr lang="en" u="sng">
                <a:solidFill>
                  <a:schemeClr val="hlink"/>
                </a:solidFill>
                <a:hlinkClick r:id="rId2"/>
              </a:rPr>
              <a:t>https://www.datalabto.ca/incomes/</a:t>
            </a:r>
            <a:r>
              <a:rPr lang="en">
                <a:solidFill>
                  <a:schemeClr val="dk1"/>
                </a:solidFill>
              </a:rPr>
              <a:t>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Student population: </a:t>
            </a:r>
            <a:r>
              <a:rPr lang="en" u="sng">
                <a:solidFill>
                  <a:schemeClr val="hlink"/>
                </a:solidFill>
                <a:hlinkClick r:id="rId3"/>
              </a:rPr>
              <a:t>https://www.toronto.ca/ext/sdfa/Neighbourhood%20Profiles/pdf/2016/pdf1/cpa95.pdf</a:t>
            </a:r>
            <a:r>
              <a:rPr lang="en">
                <a:solidFill>
                  <a:schemeClr val="dk1"/>
                </a:solidFill>
              </a:rPr>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404bc79668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404bc79668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49129c6e0d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49129c6e0d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coming up with designs, our main priority was ensuring that the community space was not more than the growing space. Through careful calculations, 414m^2 growing area was identified as ideal for the plant growing usage. This includes indoor, balcony and outdoor growing. Indoor growing will make the bulk of the year round production with balcony and outdoor growing allowing for greater summer specific plants to be grown at this time.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49129c6e0d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49129c6e0d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486c580b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486c580b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you will see the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48588d5e7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48588d5e7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Things to talk about during presentation: </a:t>
            </a:r>
            <a:endParaRPr/>
          </a:p>
          <a:p>
            <a:pPr indent="-298450" lvl="0" marL="457200" rtl="0" algn="l">
              <a:spcBef>
                <a:spcPts val="0"/>
              </a:spcBef>
              <a:spcAft>
                <a:spcPts val="0"/>
              </a:spcAft>
              <a:buSzPts val="1100"/>
              <a:buChar char="-"/>
            </a:pPr>
            <a:r>
              <a:rPr lang="en"/>
              <a:t>Meal price was calculated using average price per person of </a:t>
            </a:r>
            <a:r>
              <a:rPr lang="en"/>
              <a:t>home cooked</a:t>
            </a:r>
            <a:r>
              <a:rPr lang="en"/>
              <a:t> food</a:t>
            </a:r>
            <a:endParaRPr/>
          </a:p>
          <a:p>
            <a:pPr indent="0" lvl="0" marL="0" rtl="0" algn="l">
              <a:spcBef>
                <a:spcPts val="0"/>
              </a:spcBef>
              <a:spcAft>
                <a:spcPts val="0"/>
              </a:spcAft>
              <a:buNone/>
            </a:pPr>
            <a:r>
              <a:rPr lang="en"/>
              <a:t>Sources:</a:t>
            </a:r>
            <a:endParaRPr/>
          </a:p>
          <a:p>
            <a:pPr indent="-298450" lvl="0" marL="457200" rtl="0" algn="l">
              <a:spcBef>
                <a:spcPts val="0"/>
              </a:spcBef>
              <a:spcAft>
                <a:spcPts val="0"/>
              </a:spcAft>
              <a:buSzPts val="1100"/>
              <a:buChar char="-"/>
            </a:pPr>
            <a:r>
              <a:rPr lang="en"/>
              <a:t>Max meal cost (</a:t>
            </a:r>
            <a:r>
              <a:rPr lang="en" u="sng">
                <a:solidFill>
                  <a:schemeClr val="hlink"/>
                </a:solidFill>
                <a:hlinkClick r:id="rId2"/>
              </a:rPr>
              <a:t>https://www.thekitchn.com/have-you-ever-added-up-how-muc-63416</a:t>
            </a:r>
            <a:r>
              <a:rPr lang="en"/>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40552b0e05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40552b0e05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404bc7966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404bc7966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Sub-claim: design has the capability to supply the community with cost-efficient fresh food</a:t>
            </a:r>
            <a:endParaRPr b="1">
              <a:solidFill>
                <a:schemeClr val="dk1"/>
              </a:solidFill>
            </a:endParaRPr>
          </a:p>
          <a:p>
            <a:pPr indent="0" lvl="0" marL="0" rtl="0" algn="l">
              <a:spcBef>
                <a:spcPts val="0"/>
              </a:spcBef>
              <a:spcAft>
                <a:spcPts val="0"/>
              </a:spcAft>
              <a:buNone/>
            </a:pPr>
            <a:r>
              <a:rPr lang="en">
                <a:solidFill>
                  <a:schemeClr val="dk1"/>
                </a:solidFill>
              </a:rPr>
              <a:t>Stuff to talk about during presentation: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“Not only do we meet this metric, but we exceed it by x</a:t>
            </a:r>
            <a:endParaRPr>
              <a:solidFill>
                <a:schemeClr val="dk1"/>
              </a:solidFill>
            </a:endParaRPr>
          </a:p>
          <a:p>
            <a:pPr indent="0" lvl="0" marL="0" rtl="0" algn="l">
              <a:spcBef>
                <a:spcPts val="0"/>
              </a:spcBef>
              <a:spcAft>
                <a:spcPts val="0"/>
              </a:spcAft>
              <a:buNone/>
            </a:pPr>
            <a:r>
              <a:rPr lang="en">
                <a:solidFill>
                  <a:schemeClr val="dk1"/>
                </a:solidFill>
              </a:rPr>
              <a:t>Sources: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Source for 55.5 kg/m^2</a:t>
            </a:r>
            <a:r>
              <a:rPr lang="en">
                <a:solidFill>
                  <a:schemeClr val="dk1"/>
                </a:solidFill>
              </a:rPr>
              <a:t>/yr</a:t>
            </a:r>
            <a:r>
              <a:rPr lang="en">
                <a:solidFill>
                  <a:schemeClr val="dk1"/>
                </a:solidFill>
              </a:rPr>
              <a:t> (</a:t>
            </a:r>
            <a:r>
              <a:rPr lang="en" u="sng">
                <a:solidFill>
                  <a:schemeClr val="hlink"/>
                </a:solidFill>
                <a:hlinkClick r:id="rId2"/>
              </a:rPr>
              <a:t>https://www.sciencedirect.com/science/article/pii/S0959652616307168</a:t>
            </a:r>
            <a:r>
              <a:rPr lang="en">
                <a:solidFill>
                  <a:schemeClr val="dk1"/>
                </a:solidFill>
              </a:rPr>
              <a: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4869bc20c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4869bc20c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Sub-claim: design has the capability to supply the community with cost-efficient fresh food</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Talk about during presentation: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Why 139 servings</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48588d5e76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48588d5e7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Sub-claim: design is tailored to fit the surrounding community’s needs</a:t>
            </a:r>
            <a:endParaRPr b="1"/>
          </a:p>
          <a:p>
            <a:pPr indent="0" lvl="0" marL="0" rtl="0" algn="l">
              <a:spcBef>
                <a:spcPts val="0"/>
              </a:spcBef>
              <a:spcAft>
                <a:spcPts val="0"/>
              </a:spcAft>
              <a:buNone/>
            </a:pPr>
            <a:r>
              <a:rPr lang="en"/>
              <a:t>Include during presentation:</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
              <a:t>Our design vision is centered on addressing food insecurity issues and strengthening community within the Annex. Through our research, we found that nearly a quarter of Toronto residents experience food insecurity, as costs of food have risen in the past decade healthy options have become increasingly unaffordable and inaccessible. Not only does this affect </a:t>
            </a:r>
            <a:r>
              <a:rPr lang="en"/>
              <a:t>individuals</a:t>
            </a:r>
            <a:r>
              <a:rPr lang="en"/>
              <a:t> and families, but has an impact on the community as a whole as social isolation and division is created as stress is increased. In response, we devised a system that fulfills the Annex’s need for a sustainable, accessible and community oriented source of fresh food. </a:t>
            </a:r>
            <a:endParaRPr/>
          </a:p>
          <a:p>
            <a:pPr indent="0" lvl="0" marL="0" rtl="0" algn="l">
              <a:spcBef>
                <a:spcPts val="12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404bc79668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404bc79668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400293a7c3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400293a7c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404bc79668_1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404bc79668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404bc79668_1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404bc79668_1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404bc79668_1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404bc79668_1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404bc79668_1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404bc79668_1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4869bc20c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4869bc20c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404bc79668_1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404bc79668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49129c6e0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49129c6e0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49129c6e0d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49129c6e0d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400293a7c3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400293a7c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steel</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4963151b78_3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4963151b78_3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steel</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49129c6e0d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49129c6e0d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Water is collected through gutter → is filtered → stored in water tank → excess water is collected in the well and flows back into the ground → filtered water flows into the </a:t>
            </a:r>
            <a:r>
              <a:rPr lang="en"/>
              <a:t>greenhouse through pipes connected under each plant bed. PLACEMENT: filter connected to pipes between each water tank, well outside of greenhouse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49129c6e0d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49129c6e0d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Solar panel </a:t>
            </a:r>
            <a:r>
              <a:rPr lang="en"/>
              <a:t>absorbs</a:t>
            </a:r>
            <a:r>
              <a:rPr lang="en"/>
              <a:t> solar energy → inverter converts DC to AC for consumption → heat pump generates both heating and cooling for greenhouse. Solar energy </a:t>
            </a:r>
            <a:r>
              <a:rPr lang="en"/>
              <a:t>will</a:t>
            </a:r>
            <a:r>
              <a:rPr lang="en"/>
              <a:t> likely not be enough to power whole greenhouse so a battery backup will be </a:t>
            </a:r>
            <a:r>
              <a:rPr lang="en"/>
              <a:t>used</a:t>
            </a:r>
            <a:r>
              <a:rPr lang="en"/>
              <a:t> to generate power when energy is low. PLACEMENT: inside greenhouse walls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49129c6e0d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49129c6e0d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49219359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49219359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49129c6e0d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49129c6e0d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49129c6e0d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49129c6e0d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4963151b78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4963151b78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4963151b78_3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4963151b78_3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4963151b78_3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4963151b78_3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4963151b78_3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4963151b78_3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p14:dur="1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hyperlink" Target="http://drive.google.com/file/d/11-dGs70RLjy5-VAo58LKhb82MqTTd5Il/view" TargetMode="External"/><Relationship Id="rId6" Type="http://schemas.openxmlformats.org/officeDocument/2006/relationships/image" Target="../media/image4.jpg"/><Relationship Id="rId7"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12.png"/><Relationship Id="rId7" Type="http://schemas.openxmlformats.org/officeDocument/2006/relationships/image" Target="../media/image7.png"/><Relationship Id="rId8"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3.png"/><Relationship Id="rId6" Type="http://schemas.openxmlformats.org/officeDocument/2006/relationships/image" Target="../media/image12.png"/><Relationship Id="rId7"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0.jpg"/><Relationship Id="rId5" Type="http://schemas.openxmlformats.org/officeDocument/2006/relationships/image" Target="../media/image15.jpg"/><Relationship Id="rId6" Type="http://schemas.openxmlformats.org/officeDocument/2006/relationships/image" Target="../media/image18.jpg"/><Relationship Id="rId7"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5.jpg"/><Relationship Id="rId5"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22.png"/><Relationship Id="rId6"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23.png"/><Relationship Id="rId5" Type="http://schemas.openxmlformats.org/officeDocument/2006/relationships/image" Target="../media/image1.png"/><Relationship Id="rId6"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sciencedirect.com/science/article/pii/S0959652616307168" TargetMode="External"/><Relationship Id="rId4" Type="http://schemas.openxmlformats.org/officeDocument/2006/relationships/hyperlink" Target="https://www.jmest.org/wp-content/uploads/JMESTN42351100.pdf" TargetMode="External"/><Relationship Id="rId9" Type="http://schemas.openxmlformats.org/officeDocument/2006/relationships/image" Target="../media/image1.png"/><Relationship Id="rId5" Type="http://schemas.openxmlformats.org/officeDocument/2006/relationships/hyperlink" Target="https://www.jmest.org/wp-content/uploads/JMESTN42351100.pdf" TargetMode="External"/><Relationship Id="rId6" Type="http://schemas.openxmlformats.org/officeDocument/2006/relationships/hyperlink" Target="https://www150.statcan.gc.ca/n1/en/daily-quotidien/250217/dq250217b-eng.pdf?st=FnmX_4fe" TargetMode="External"/><Relationship Id="rId7" Type="http://schemas.openxmlformats.org/officeDocument/2006/relationships/hyperlink" Target="https://www150.statcan.gc.ca/n1/daily-quotidien/241205/dq241205f-eng.htm" TargetMode="External"/><Relationship Id="rId8" Type="http://schemas.openxmlformats.org/officeDocument/2006/relationships/hyperlink" Target="https://www.statcan.gc.ca/o1/en/plus/4143-lettuce-have-look-some-number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power.larc.nasa.gov/data-access-viewer/" TargetMode="External"/><Relationship Id="rId4" Type="http://schemas.openxmlformats.org/officeDocument/2006/relationships/hyperlink" Target="https://www.annualreviews.org/doi/pdf/10.1146/annurev-arplant-042809-112206" TargetMode="External"/><Relationship Id="rId5" Type="http://schemas.openxmlformats.org/officeDocument/2006/relationships/hyperlink" Target="https://www.eeca.govt.nz/assets/EECA-Resources/Energy-Benchmarking-in-Covered-Cropping.pdf" TargetMode="External"/><Relationship Id="rId6" Type="http://schemas.openxmlformats.org/officeDocument/2006/relationships/hyperlink" Target="https://www.sciencedirect.com/science/article/pii/S0360544211000144" TargetMode="External"/><Relationship Id="rId7"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www.researchgate.net/publication/233412837_A_simple_model_for_the_estimation_of_greenhouse_transmission_Influence_of_structures_and_internal_equipment" TargetMode="External"/><Relationship Id="rId4" Type="http://schemas.openxmlformats.org/officeDocument/2006/relationships/hyperlink" Target="https://gardenalchemyseeds.ca/pages/square-foot-gardening-chart" TargetMode="External"/><Relationship Id="rId5" Type="http://schemas.openxmlformats.org/officeDocument/2006/relationships/hyperlink" Target="https://gardenalchemyseeds.ca/pages/square-foot-gardening-chart" TargetMode="External"/><Relationship Id="rId6" Type="http://schemas.openxmlformats.org/officeDocument/2006/relationships/hyperlink" Target="https://isprs-archives.copernicus.org/articles/XLII-2-W13/407/2019/isprs-archives-XLII-2-W13-407-2019.pdf" TargetMode="External"/><Relationship Id="rId7"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www.researchgate.net/figure/The-average-of-weight-of-fresh-plant-weight-of-dry-plant-numbers-and-productivity-of_tbl1_354815537" TargetMode="External"/><Relationship Id="rId4" Type="http://schemas.openxmlformats.org/officeDocument/2006/relationships/hyperlink" Target="http://www.aces.edu/blog/topics/crop-production/greenhouse-lettuce-production/" TargetMode="External"/><Relationship Id="rId9" Type="http://schemas.openxmlformats.org/officeDocument/2006/relationships/image" Target="../media/image1.png"/><Relationship Id="rId5" Type="http://schemas.openxmlformats.org/officeDocument/2006/relationships/hyperlink" Target="http://www.aces.edu/blog/topics/crop-production/greenhouse-lettuce-production/" TargetMode="External"/><Relationship Id="rId6" Type="http://schemas.openxmlformats.org/officeDocument/2006/relationships/hyperlink" Target="https://www.desmos.com/calculator" TargetMode="External"/><Relationship Id="rId7" Type="http://schemas.openxmlformats.org/officeDocument/2006/relationships/hyperlink" Target="https://www.desmos.com/calculator/trmnh8foag" TargetMode="External"/><Relationship Id="rId8" Type="http://schemas.openxmlformats.org/officeDocument/2006/relationships/hyperlink" Target="https://www.canada.ca/content/dam/hc-sc/migration/hc-sc/fn-an/alt_formats/pdf/food-guide-aliment/track-suivi/table_male-homme_age19-50-eng.pdf"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14.png"/><Relationship Id="rId6"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3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2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36.png"/><Relationship Id="rId6" Type="http://schemas.openxmlformats.org/officeDocument/2006/relationships/image" Target="../media/image34.png"/><Relationship Id="rId7"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8.jpg"/><Relationship Id="rId4" Type="http://schemas.openxmlformats.org/officeDocument/2006/relationships/image" Target="../media/image32.png"/><Relationship Id="rId5"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body"/>
          </p:nvPr>
        </p:nvSpPr>
        <p:spPr>
          <a:xfrm>
            <a:off x="311700" y="738225"/>
            <a:ext cx="8520600" cy="2693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Lexend"/>
                <a:ea typeface="Lexend"/>
                <a:cs typeface="Lexend"/>
                <a:sym typeface="Lexend"/>
              </a:rPr>
              <a:t>This design has been prepared by first year engineering and architect students at the University of Toronto and does not present a Professional Engineering or Architecture design. A Professional Engineer or Architect has not reviewed this presentation for technical accuracy or adequacy. The recommendations of this design may not be implemented in any way unless reviewed and approved by a licensed Professional Engineer or Architect where such review and approval is required by professional or legal standards, it being understood that it is the responsibility of the recipient of the design to assess whether such a requirement exists.</a:t>
            </a:r>
            <a:endParaRPr sz="1500">
              <a:solidFill>
                <a:schemeClr val="dk1"/>
              </a:solidFill>
              <a:latin typeface="Lexend"/>
              <a:ea typeface="Lexend"/>
              <a:cs typeface="Lexend"/>
              <a:sym typeface="Lexend"/>
            </a:endParaRPr>
          </a:p>
          <a:p>
            <a:pPr indent="0" lvl="0" marL="0" rtl="0" algn="l">
              <a:spcBef>
                <a:spcPts val="1200"/>
              </a:spcBef>
              <a:spcAft>
                <a:spcPts val="1200"/>
              </a:spcAft>
              <a:buNone/>
            </a:pPr>
            <a:r>
              <a:rPr lang="en" sz="1500">
                <a:solidFill>
                  <a:schemeClr val="dk1"/>
                </a:solidFill>
                <a:latin typeface="Lexend"/>
                <a:ea typeface="Lexend"/>
                <a:cs typeface="Lexend"/>
                <a:sym typeface="Lexend"/>
              </a:rPr>
              <a:t>The Presentation may not be reproduced, in whole or in part, without this Disclaimer.</a:t>
            </a:r>
            <a:endParaRPr sz="1500">
              <a:solidFill>
                <a:schemeClr val="dk1"/>
              </a:solidFill>
              <a:latin typeface="Lexend"/>
              <a:ea typeface="Lexend"/>
              <a:cs typeface="Lexend"/>
              <a:sym typeface="Lexend"/>
            </a:endParaRPr>
          </a:p>
        </p:txBody>
      </p:sp>
      <p:sp>
        <p:nvSpPr>
          <p:cNvPr id="55" name="Google Shape;55;p13"/>
          <p:cNvSpPr txBox="1"/>
          <p:nvPr/>
        </p:nvSpPr>
        <p:spPr>
          <a:xfrm>
            <a:off x="311700" y="3396950"/>
            <a:ext cx="85206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Lexend"/>
                <a:ea typeface="Lexend"/>
                <a:cs typeface="Lexend"/>
                <a:sym typeface="Lexend"/>
              </a:rPr>
              <a:t>© Engineering Strategies and Practice, University of Toronto, 2025</a:t>
            </a:r>
            <a:endParaRPr>
              <a:solidFill>
                <a:schemeClr val="dk1"/>
              </a:solidFill>
              <a:latin typeface="Lexend"/>
              <a:ea typeface="Lexend"/>
              <a:cs typeface="Lexend"/>
              <a:sym typeface="Lexend"/>
            </a:endParaRPr>
          </a:p>
          <a:p>
            <a:pPr indent="0" lvl="0" marL="0" rtl="0" algn="l">
              <a:spcBef>
                <a:spcPts val="0"/>
              </a:spcBef>
              <a:spcAft>
                <a:spcPts val="0"/>
              </a:spcAft>
              <a:buNone/>
            </a:pPr>
            <a:r>
              <a:t/>
            </a:r>
            <a:endParaRPr>
              <a:solidFill>
                <a:schemeClr val="dk1"/>
              </a:solidFill>
              <a:latin typeface="Lexend"/>
              <a:ea typeface="Lexend"/>
              <a:cs typeface="Lexend"/>
              <a:sym typeface="Lexend"/>
            </a:endParaRPr>
          </a:p>
          <a:p>
            <a:pPr indent="0" lvl="0" marL="0" rtl="0" algn="l">
              <a:spcBef>
                <a:spcPts val="0"/>
              </a:spcBef>
              <a:spcAft>
                <a:spcPts val="0"/>
              </a:spcAft>
              <a:buNone/>
            </a:pPr>
            <a:r>
              <a:rPr lang="en">
                <a:solidFill>
                  <a:schemeClr val="dk1"/>
                </a:solidFill>
                <a:latin typeface="Lexend"/>
                <a:ea typeface="Lexend"/>
                <a:cs typeface="Lexend"/>
                <a:sym typeface="Lexend"/>
              </a:rPr>
              <a:t>Permission to reproduce material from this presentation may be requested by email to your team’s contact person, with a CC to Engineering Strategies and Practice at esp@engineering.utoronto.ca</a:t>
            </a:r>
            <a:endParaRPr>
              <a:solidFill>
                <a:schemeClr val="dk1"/>
              </a:solidFill>
              <a:latin typeface="Lexend"/>
              <a:ea typeface="Lexend"/>
              <a:cs typeface="Lexend"/>
              <a:sym typeface="Lexend"/>
            </a:endParaRPr>
          </a:p>
        </p:txBody>
      </p:sp>
      <p:cxnSp>
        <p:nvCxnSpPr>
          <p:cNvPr id="56" name="Google Shape;56;p13"/>
          <p:cNvCxnSpPr/>
          <p:nvPr/>
        </p:nvCxnSpPr>
        <p:spPr>
          <a:xfrm>
            <a:off x="311700" y="3396950"/>
            <a:ext cx="8520600" cy="0"/>
          </a:xfrm>
          <a:prstGeom prst="straightConnector1">
            <a:avLst/>
          </a:prstGeom>
          <a:noFill/>
          <a:ln cap="flat" cmpd="sng" w="19050">
            <a:solidFill>
              <a:srgbClr val="ABBF95"/>
            </a:solidFill>
            <a:prstDash val="solid"/>
            <a:round/>
            <a:headEnd len="med" w="med" type="none"/>
            <a:tailEnd len="med" w="med" type="none"/>
          </a:ln>
        </p:spPr>
      </p:cxnSp>
      <p:sp>
        <p:nvSpPr>
          <p:cNvPr id="57" name="Google Shape;57;p13"/>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Disclaimer</a:t>
            </a:r>
            <a:endParaRPr>
              <a:solidFill>
                <a:srgbClr val="A44200"/>
              </a:solidFill>
              <a:latin typeface="Lexend"/>
              <a:ea typeface="Lexend"/>
              <a:cs typeface="Lexend"/>
              <a:sym typeface="Lexend"/>
            </a:endParaRPr>
          </a:p>
        </p:txBody>
      </p:sp>
      <p:pic>
        <p:nvPicPr>
          <p:cNvPr id="58" name="Google Shape;58;p13" title="bold.png"/>
          <p:cNvPicPr preferRelativeResize="0"/>
          <p:nvPr/>
        </p:nvPicPr>
        <p:blipFill>
          <a:blip r:embed="rId3">
            <a:alphaModFix/>
          </a:blip>
          <a:stretch>
            <a:fillRect/>
          </a:stretch>
        </p:blipFill>
        <p:spPr>
          <a:xfrm>
            <a:off x="8528400" y="21325"/>
            <a:ext cx="615600" cy="615600"/>
          </a:xfrm>
          <a:prstGeom prst="rect">
            <a:avLst/>
          </a:prstGeom>
          <a:noFill/>
          <a:ln>
            <a:noFill/>
          </a:ln>
        </p:spPr>
      </p:pic>
      <p:pic>
        <p:nvPicPr>
          <p:cNvPr id="59" name="Google Shape;59;p13"/>
          <p:cNvPicPr preferRelativeResize="0"/>
          <p:nvPr/>
        </p:nvPicPr>
        <p:blipFill rotWithShape="1">
          <a:blip r:embed="rId4">
            <a:alphaModFix/>
          </a:blip>
          <a:srcRect b="37745" l="0" r="0" t="0"/>
          <a:stretch/>
        </p:blipFill>
        <p:spPr>
          <a:xfrm>
            <a:off x="6890605" y="4458295"/>
            <a:ext cx="691000" cy="685322"/>
          </a:xfrm>
          <a:prstGeom prst="rect">
            <a:avLst/>
          </a:prstGeom>
          <a:noFill/>
          <a:ln>
            <a:noFill/>
          </a:ln>
        </p:spPr>
      </p:pic>
      <p:sp>
        <p:nvSpPr>
          <p:cNvPr id="60" name="Google Shape;60;p13"/>
          <p:cNvSpPr/>
          <p:nvPr/>
        </p:nvSpPr>
        <p:spPr>
          <a:xfrm>
            <a:off x="7581600" y="4461700"/>
            <a:ext cx="1562400" cy="685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exend"/>
                <a:ea typeface="Lexend"/>
                <a:cs typeface="Lexend"/>
                <a:sym typeface="Lexend"/>
              </a:rPr>
              <a:t>Hajir Manssour</a:t>
            </a:r>
            <a:endParaRPr>
              <a:latin typeface="Lexend"/>
              <a:ea typeface="Lexend"/>
              <a:cs typeface="Lexend"/>
              <a:sym typeface="Lexend"/>
            </a:endParaRPr>
          </a:p>
        </p:txBody>
      </p:sp>
      <p:pic>
        <p:nvPicPr>
          <p:cNvPr id="61" name="Google Shape;61;p13"/>
          <p:cNvPicPr preferRelativeResize="0"/>
          <p:nvPr/>
        </p:nvPicPr>
        <p:blipFill rotWithShape="1">
          <a:blip r:embed="rId5">
            <a:alphaModFix/>
          </a:blip>
          <a:srcRect b="30357" l="79895" r="0" t="43057"/>
          <a:stretch/>
        </p:blipFill>
        <p:spPr>
          <a:xfrm>
            <a:off x="6890600" y="4458300"/>
            <a:ext cx="691000" cy="685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 name="Shape 65"/>
        <p:cNvGrpSpPr/>
        <p:nvPr/>
      </p:nvGrpSpPr>
      <p:grpSpPr>
        <a:xfrm>
          <a:off x="0" y="0"/>
          <a:ext cx="0" cy="0"/>
          <a:chOff x="0" y="0"/>
          <a:chExt cx="0" cy="0"/>
        </a:xfrm>
      </p:grpSpPr>
      <p:sp>
        <p:nvSpPr>
          <p:cNvPr id="66" name="Google Shape;66;p14"/>
          <p:cNvSpPr/>
          <p:nvPr/>
        </p:nvSpPr>
        <p:spPr>
          <a:xfrm>
            <a:off x="0" y="0"/>
            <a:ext cx="4086600" cy="5143500"/>
          </a:xfrm>
          <a:prstGeom prst="rect">
            <a:avLst/>
          </a:prstGeom>
          <a:solidFill>
            <a:srgbClr val="ABBF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4"/>
          <p:cNvSpPr txBox="1"/>
          <p:nvPr/>
        </p:nvSpPr>
        <p:spPr>
          <a:xfrm>
            <a:off x="208500" y="449550"/>
            <a:ext cx="3878100" cy="21222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b="1" lang="en" sz="3000">
                <a:solidFill>
                  <a:schemeClr val="dk1"/>
                </a:solidFill>
                <a:latin typeface="Lexend"/>
                <a:ea typeface="Lexend"/>
                <a:cs typeface="Lexend"/>
                <a:sym typeface="Lexend"/>
              </a:rPr>
              <a:t>Sprout Stairs: Growing Solutions for Urban Food Insecurity</a:t>
            </a:r>
            <a:endParaRPr b="1" sz="3000">
              <a:solidFill>
                <a:schemeClr val="dk1"/>
              </a:solidFill>
              <a:latin typeface="Lexend"/>
              <a:ea typeface="Lexend"/>
              <a:cs typeface="Lexend"/>
              <a:sym typeface="Lexend"/>
            </a:endParaRPr>
          </a:p>
        </p:txBody>
      </p:sp>
      <p:sp>
        <p:nvSpPr>
          <p:cNvPr id="68" name="Google Shape;68;p14"/>
          <p:cNvSpPr txBox="1"/>
          <p:nvPr/>
        </p:nvSpPr>
        <p:spPr>
          <a:xfrm>
            <a:off x="284700" y="2834050"/>
            <a:ext cx="2630700" cy="457200"/>
          </a:xfrm>
          <a:prstGeom prst="rect">
            <a:avLst/>
          </a:prstGeom>
          <a:solidFill>
            <a:srgbClr val="242424"/>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ABBF95"/>
                </a:solidFill>
                <a:latin typeface="Lexend"/>
                <a:ea typeface="Lexend"/>
                <a:cs typeface="Lexend"/>
                <a:sym typeface="Lexend"/>
              </a:rPr>
              <a:t>ARC/ENG </a:t>
            </a:r>
            <a:r>
              <a:rPr lang="en" sz="1600">
                <a:solidFill>
                  <a:srgbClr val="ABBF95"/>
                </a:solidFill>
                <a:latin typeface="Lexend"/>
                <a:ea typeface="Lexend"/>
                <a:cs typeface="Lexend"/>
                <a:sym typeface="Lexend"/>
              </a:rPr>
              <a:t>Team 8</a:t>
            </a:r>
            <a:endParaRPr sz="1600">
              <a:solidFill>
                <a:srgbClr val="ABBF95"/>
              </a:solidFill>
              <a:latin typeface="Lexend"/>
              <a:ea typeface="Lexend"/>
              <a:cs typeface="Lexend"/>
              <a:sym typeface="Lexend"/>
            </a:endParaRPr>
          </a:p>
        </p:txBody>
      </p:sp>
      <p:sp>
        <p:nvSpPr>
          <p:cNvPr id="69" name="Google Shape;69;p14"/>
          <p:cNvSpPr txBox="1"/>
          <p:nvPr/>
        </p:nvSpPr>
        <p:spPr>
          <a:xfrm>
            <a:off x="284700" y="3372900"/>
            <a:ext cx="2630700" cy="457200"/>
          </a:xfrm>
          <a:prstGeom prst="rect">
            <a:avLst/>
          </a:prstGeom>
          <a:solidFill>
            <a:srgbClr val="242424"/>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ABBF95"/>
                </a:solidFill>
                <a:latin typeface="Lexend"/>
                <a:ea typeface="Lexend"/>
                <a:cs typeface="Lexend"/>
                <a:sym typeface="Lexend"/>
              </a:rPr>
              <a:t>April 8th, 2025</a:t>
            </a:r>
            <a:endParaRPr sz="1600">
              <a:solidFill>
                <a:srgbClr val="ABBF95"/>
              </a:solidFill>
              <a:latin typeface="Lexend"/>
              <a:ea typeface="Lexend"/>
              <a:cs typeface="Lexend"/>
              <a:sym typeface="Lexend"/>
            </a:endParaRPr>
          </a:p>
        </p:txBody>
      </p:sp>
      <p:cxnSp>
        <p:nvCxnSpPr>
          <p:cNvPr id="70" name="Google Shape;70;p14"/>
          <p:cNvCxnSpPr/>
          <p:nvPr/>
        </p:nvCxnSpPr>
        <p:spPr>
          <a:xfrm>
            <a:off x="4495788" y="3519838"/>
            <a:ext cx="4303800" cy="0"/>
          </a:xfrm>
          <a:prstGeom prst="straightConnector1">
            <a:avLst/>
          </a:prstGeom>
          <a:noFill/>
          <a:ln cap="flat" cmpd="sng" w="28575">
            <a:solidFill>
              <a:srgbClr val="ABBF95"/>
            </a:solidFill>
            <a:prstDash val="solid"/>
            <a:round/>
            <a:headEnd len="med" w="med" type="none"/>
            <a:tailEnd len="med" w="med" type="none"/>
          </a:ln>
        </p:spPr>
      </p:cxnSp>
      <p:sp>
        <p:nvSpPr>
          <p:cNvPr id="71" name="Google Shape;71;p14"/>
          <p:cNvSpPr txBox="1"/>
          <p:nvPr/>
        </p:nvSpPr>
        <p:spPr>
          <a:xfrm>
            <a:off x="4410475" y="2892550"/>
            <a:ext cx="6789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1"/>
                </a:solidFill>
                <a:latin typeface="Lexend"/>
                <a:ea typeface="Lexend"/>
                <a:cs typeface="Lexend"/>
                <a:sym typeface="Lexend"/>
              </a:rPr>
              <a:t>Zudzin </a:t>
            </a:r>
            <a:endParaRPr sz="1000">
              <a:solidFill>
                <a:schemeClr val="dk1"/>
              </a:solidFill>
              <a:latin typeface="Lexend"/>
              <a:ea typeface="Lexend"/>
              <a:cs typeface="Lexend"/>
              <a:sym typeface="Lexend"/>
            </a:endParaRPr>
          </a:p>
          <a:p>
            <a:pPr indent="0" lvl="0" marL="0" rtl="0" algn="ctr">
              <a:spcBef>
                <a:spcPts val="0"/>
              </a:spcBef>
              <a:spcAft>
                <a:spcPts val="0"/>
              </a:spcAft>
              <a:buNone/>
            </a:pPr>
            <a:r>
              <a:rPr lang="en" sz="1000">
                <a:solidFill>
                  <a:schemeClr val="dk1"/>
                </a:solidFill>
                <a:latin typeface="Lexend"/>
                <a:ea typeface="Lexend"/>
                <a:cs typeface="Lexend"/>
                <a:sym typeface="Lexend"/>
              </a:rPr>
              <a:t>Huang</a:t>
            </a:r>
            <a:endParaRPr sz="1000">
              <a:solidFill>
                <a:schemeClr val="dk1"/>
              </a:solidFill>
              <a:latin typeface="Lexend"/>
              <a:ea typeface="Lexend"/>
              <a:cs typeface="Lexend"/>
              <a:sym typeface="Lexend"/>
            </a:endParaRPr>
          </a:p>
        </p:txBody>
      </p:sp>
      <p:sp>
        <p:nvSpPr>
          <p:cNvPr id="72" name="Google Shape;72;p14"/>
          <p:cNvSpPr txBox="1"/>
          <p:nvPr/>
        </p:nvSpPr>
        <p:spPr>
          <a:xfrm>
            <a:off x="4495738" y="3982488"/>
            <a:ext cx="1958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Lexend"/>
                <a:ea typeface="Lexend"/>
                <a:cs typeface="Lexend"/>
                <a:sym typeface="Lexend"/>
              </a:rPr>
              <a:t>Danielle Whitley</a:t>
            </a:r>
            <a:endParaRPr sz="1600">
              <a:solidFill>
                <a:schemeClr val="dk1"/>
              </a:solidFill>
              <a:latin typeface="Lexend"/>
              <a:ea typeface="Lexend"/>
              <a:cs typeface="Lexend"/>
              <a:sym typeface="Lexend"/>
            </a:endParaRPr>
          </a:p>
        </p:txBody>
      </p:sp>
      <p:sp>
        <p:nvSpPr>
          <p:cNvPr id="73" name="Google Shape;73;p14"/>
          <p:cNvSpPr txBox="1"/>
          <p:nvPr/>
        </p:nvSpPr>
        <p:spPr>
          <a:xfrm>
            <a:off x="4495750" y="4261188"/>
            <a:ext cx="3786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A44200"/>
                </a:solidFill>
                <a:latin typeface="Lexend"/>
                <a:ea typeface="Lexend"/>
                <a:cs typeface="Lexend"/>
                <a:sym typeface="Lexend"/>
              </a:rPr>
              <a:t>Senior Associate, SvN Architects and Planners</a:t>
            </a:r>
            <a:endParaRPr>
              <a:solidFill>
                <a:srgbClr val="A44200"/>
              </a:solidFill>
              <a:latin typeface="Lexend"/>
              <a:ea typeface="Lexend"/>
              <a:cs typeface="Lexend"/>
              <a:sym typeface="Lexend"/>
            </a:endParaRPr>
          </a:p>
        </p:txBody>
      </p:sp>
      <p:sp>
        <p:nvSpPr>
          <p:cNvPr id="74" name="Google Shape;74;p14"/>
          <p:cNvSpPr txBox="1"/>
          <p:nvPr/>
        </p:nvSpPr>
        <p:spPr>
          <a:xfrm>
            <a:off x="4495750" y="3645588"/>
            <a:ext cx="3786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242424"/>
                </a:solidFill>
                <a:latin typeface="Lexend"/>
                <a:ea typeface="Lexend"/>
                <a:cs typeface="Lexend"/>
                <a:sym typeface="Lexend"/>
              </a:rPr>
              <a:t>Developed for:</a:t>
            </a:r>
            <a:endParaRPr>
              <a:solidFill>
                <a:srgbClr val="242424"/>
              </a:solidFill>
              <a:latin typeface="Lexend"/>
              <a:ea typeface="Lexend"/>
              <a:cs typeface="Lexend"/>
              <a:sym typeface="Lexend"/>
            </a:endParaRPr>
          </a:p>
        </p:txBody>
      </p:sp>
      <p:pic>
        <p:nvPicPr>
          <p:cNvPr id="75" name="Google Shape;75;p14" title="bold.png"/>
          <p:cNvPicPr preferRelativeResize="0"/>
          <p:nvPr/>
        </p:nvPicPr>
        <p:blipFill>
          <a:blip r:embed="rId3">
            <a:alphaModFix/>
          </a:blip>
          <a:stretch>
            <a:fillRect/>
          </a:stretch>
        </p:blipFill>
        <p:spPr>
          <a:xfrm>
            <a:off x="8528400" y="4526450"/>
            <a:ext cx="615600" cy="615600"/>
          </a:xfrm>
          <a:prstGeom prst="rect">
            <a:avLst/>
          </a:prstGeom>
          <a:noFill/>
          <a:ln>
            <a:noFill/>
          </a:ln>
        </p:spPr>
      </p:pic>
      <p:pic>
        <p:nvPicPr>
          <p:cNvPr id="76" name="Google Shape;76;p14"/>
          <p:cNvPicPr preferRelativeResize="0"/>
          <p:nvPr/>
        </p:nvPicPr>
        <p:blipFill rotWithShape="1">
          <a:blip r:embed="rId4">
            <a:alphaModFix/>
          </a:blip>
          <a:srcRect b="0" l="1681" r="0" t="31054"/>
          <a:stretch/>
        </p:blipFill>
        <p:spPr>
          <a:xfrm>
            <a:off x="4317463" y="354650"/>
            <a:ext cx="4660475" cy="2451149"/>
          </a:xfrm>
          <a:prstGeom prst="rect">
            <a:avLst/>
          </a:prstGeom>
          <a:noFill/>
          <a:ln cap="flat" cmpd="sng" w="28575">
            <a:solidFill>
              <a:srgbClr val="ABBF95"/>
            </a:solidFill>
            <a:prstDash val="solid"/>
            <a:round/>
            <a:headEnd len="sm" w="sm" type="none"/>
            <a:tailEnd len="sm" w="sm" type="none"/>
          </a:ln>
        </p:spPr>
      </p:pic>
      <p:sp>
        <p:nvSpPr>
          <p:cNvPr id="77" name="Google Shape;77;p14"/>
          <p:cNvSpPr txBox="1"/>
          <p:nvPr/>
        </p:nvSpPr>
        <p:spPr>
          <a:xfrm>
            <a:off x="5083738" y="2874850"/>
            <a:ext cx="6789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1"/>
                </a:solidFill>
                <a:latin typeface="Lexend"/>
                <a:ea typeface="Lexend"/>
                <a:cs typeface="Lexend"/>
                <a:sym typeface="Lexend"/>
              </a:rPr>
              <a:t>Sakina Pirbhai</a:t>
            </a:r>
            <a:endParaRPr sz="1000">
              <a:solidFill>
                <a:schemeClr val="dk1"/>
              </a:solidFill>
              <a:latin typeface="Lexend"/>
              <a:ea typeface="Lexend"/>
              <a:cs typeface="Lexend"/>
              <a:sym typeface="Lexend"/>
            </a:endParaRPr>
          </a:p>
        </p:txBody>
      </p:sp>
      <p:sp>
        <p:nvSpPr>
          <p:cNvPr id="78" name="Google Shape;78;p14"/>
          <p:cNvSpPr txBox="1"/>
          <p:nvPr/>
        </p:nvSpPr>
        <p:spPr>
          <a:xfrm>
            <a:off x="5655438" y="2874850"/>
            <a:ext cx="1156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1"/>
                </a:solidFill>
                <a:latin typeface="Lexend"/>
                <a:ea typeface="Lexend"/>
                <a:cs typeface="Lexend"/>
                <a:sym typeface="Lexend"/>
              </a:rPr>
              <a:t>Francesca Mangano</a:t>
            </a:r>
            <a:endParaRPr sz="1000">
              <a:solidFill>
                <a:schemeClr val="dk1"/>
              </a:solidFill>
              <a:latin typeface="Lexend"/>
              <a:ea typeface="Lexend"/>
              <a:cs typeface="Lexend"/>
              <a:sym typeface="Lexend"/>
            </a:endParaRPr>
          </a:p>
        </p:txBody>
      </p:sp>
      <p:sp>
        <p:nvSpPr>
          <p:cNvPr id="79" name="Google Shape;79;p14"/>
          <p:cNvSpPr txBox="1"/>
          <p:nvPr/>
        </p:nvSpPr>
        <p:spPr>
          <a:xfrm>
            <a:off x="6584463" y="2874850"/>
            <a:ext cx="764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1"/>
                </a:solidFill>
                <a:latin typeface="Lexend"/>
                <a:ea typeface="Lexend"/>
                <a:cs typeface="Lexend"/>
                <a:sym typeface="Lexend"/>
              </a:rPr>
              <a:t>Dina</a:t>
            </a:r>
            <a:endParaRPr sz="1000">
              <a:solidFill>
                <a:schemeClr val="dk1"/>
              </a:solidFill>
              <a:latin typeface="Lexend"/>
              <a:ea typeface="Lexend"/>
              <a:cs typeface="Lexend"/>
              <a:sym typeface="Lexend"/>
            </a:endParaRPr>
          </a:p>
          <a:p>
            <a:pPr indent="0" lvl="0" marL="0" rtl="0" algn="ctr">
              <a:spcBef>
                <a:spcPts val="0"/>
              </a:spcBef>
              <a:spcAft>
                <a:spcPts val="0"/>
              </a:spcAft>
              <a:buNone/>
            </a:pPr>
            <a:r>
              <a:rPr lang="en" sz="1000">
                <a:solidFill>
                  <a:schemeClr val="dk1"/>
                </a:solidFill>
                <a:latin typeface="Lexend"/>
                <a:ea typeface="Lexend"/>
                <a:cs typeface="Lexend"/>
                <a:sym typeface="Lexend"/>
              </a:rPr>
              <a:t> Magdas</a:t>
            </a:r>
            <a:endParaRPr sz="1000">
              <a:solidFill>
                <a:schemeClr val="dk1"/>
              </a:solidFill>
              <a:latin typeface="Lexend"/>
              <a:ea typeface="Lexend"/>
              <a:cs typeface="Lexend"/>
              <a:sym typeface="Lexend"/>
            </a:endParaRPr>
          </a:p>
        </p:txBody>
      </p:sp>
      <p:sp>
        <p:nvSpPr>
          <p:cNvPr id="80" name="Google Shape;80;p14"/>
          <p:cNvSpPr txBox="1"/>
          <p:nvPr/>
        </p:nvSpPr>
        <p:spPr>
          <a:xfrm>
            <a:off x="7307738" y="2874850"/>
            <a:ext cx="764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1"/>
                </a:solidFill>
                <a:latin typeface="Lexend"/>
                <a:ea typeface="Lexend"/>
                <a:cs typeface="Lexend"/>
                <a:sym typeface="Lexend"/>
              </a:rPr>
              <a:t>Sara Kabir</a:t>
            </a:r>
            <a:endParaRPr sz="1000">
              <a:solidFill>
                <a:schemeClr val="dk1"/>
              </a:solidFill>
              <a:latin typeface="Lexend"/>
              <a:ea typeface="Lexend"/>
              <a:cs typeface="Lexend"/>
              <a:sym typeface="Lexend"/>
            </a:endParaRPr>
          </a:p>
        </p:txBody>
      </p:sp>
      <p:sp>
        <p:nvSpPr>
          <p:cNvPr id="81" name="Google Shape;81;p14"/>
          <p:cNvSpPr txBox="1"/>
          <p:nvPr/>
        </p:nvSpPr>
        <p:spPr>
          <a:xfrm>
            <a:off x="8072138" y="2874850"/>
            <a:ext cx="8490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1"/>
                </a:solidFill>
                <a:latin typeface="Lexend"/>
                <a:ea typeface="Lexend"/>
                <a:cs typeface="Lexend"/>
                <a:sym typeface="Lexend"/>
              </a:rPr>
              <a:t>Hajir Manssour</a:t>
            </a:r>
            <a:endParaRPr sz="1000">
              <a:solidFill>
                <a:schemeClr val="dk1"/>
              </a:solidFill>
              <a:latin typeface="Lexend"/>
              <a:ea typeface="Lexend"/>
              <a:cs typeface="Lexend"/>
              <a:sym typeface="Lexend"/>
            </a:endParaRPr>
          </a:p>
        </p:txBody>
      </p:sp>
    </p:spTree>
  </p:cSld>
  <p:clrMapOvr>
    <a:masterClrMapping/>
  </p:clrMapOvr>
  <mc:AlternateContent>
    <mc:Choice Requires="p14">
      <p:transition p14:dur="1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5"/>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Introducing Sprout Stairs: the sustainable solution</a:t>
            </a:r>
            <a:endParaRPr>
              <a:solidFill>
                <a:srgbClr val="A44200"/>
              </a:solidFill>
              <a:latin typeface="Lexend"/>
              <a:ea typeface="Lexend"/>
              <a:cs typeface="Lexend"/>
              <a:sym typeface="Lexend"/>
            </a:endParaRPr>
          </a:p>
        </p:txBody>
      </p:sp>
      <p:pic>
        <p:nvPicPr>
          <p:cNvPr id="87" name="Google Shape;87;p15" title="Screenshot 2025-04-06 154809.png"/>
          <p:cNvPicPr preferRelativeResize="0"/>
          <p:nvPr/>
        </p:nvPicPr>
        <p:blipFill rotWithShape="1">
          <a:blip r:embed="rId3">
            <a:alphaModFix/>
          </a:blip>
          <a:srcRect b="8534" l="0" r="0" t="8534"/>
          <a:stretch/>
        </p:blipFill>
        <p:spPr>
          <a:xfrm>
            <a:off x="5" y="4454895"/>
            <a:ext cx="691000" cy="685322"/>
          </a:xfrm>
          <a:prstGeom prst="rect">
            <a:avLst/>
          </a:prstGeom>
          <a:noFill/>
          <a:ln>
            <a:noFill/>
          </a:ln>
        </p:spPr>
      </p:pic>
      <p:sp>
        <p:nvSpPr>
          <p:cNvPr id="88" name="Google Shape;88;p15"/>
          <p:cNvSpPr/>
          <p:nvPr/>
        </p:nvSpPr>
        <p:spPr>
          <a:xfrm>
            <a:off x="691000" y="4458300"/>
            <a:ext cx="1562400" cy="685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exend"/>
                <a:ea typeface="Lexend"/>
                <a:cs typeface="Lexend"/>
                <a:sym typeface="Lexend"/>
              </a:rPr>
              <a:t>Dina Magdas</a:t>
            </a:r>
            <a:endParaRPr>
              <a:latin typeface="Lexend"/>
              <a:ea typeface="Lexend"/>
              <a:cs typeface="Lexend"/>
              <a:sym typeface="Lexend"/>
            </a:endParaRPr>
          </a:p>
        </p:txBody>
      </p:sp>
      <p:pic>
        <p:nvPicPr>
          <p:cNvPr id="89" name="Google Shape;89;p15" title="bold.png"/>
          <p:cNvPicPr preferRelativeResize="0"/>
          <p:nvPr/>
        </p:nvPicPr>
        <p:blipFill>
          <a:blip r:embed="rId4">
            <a:alphaModFix/>
          </a:blip>
          <a:stretch>
            <a:fillRect/>
          </a:stretch>
        </p:blipFill>
        <p:spPr>
          <a:xfrm>
            <a:off x="8528400" y="21325"/>
            <a:ext cx="615600" cy="615600"/>
          </a:xfrm>
          <a:prstGeom prst="rect">
            <a:avLst/>
          </a:prstGeom>
          <a:noFill/>
          <a:ln>
            <a:noFill/>
          </a:ln>
        </p:spPr>
      </p:pic>
      <p:pic>
        <p:nvPicPr>
          <p:cNvPr id="90" name="Google Shape;90;p15" title="Video1.mp4">
            <a:hlinkClick r:id="rId5"/>
          </p:cNvPr>
          <p:cNvPicPr preferRelativeResize="0"/>
          <p:nvPr/>
        </p:nvPicPr>
        <p:blipFill>
          <a:blip r:embed="rId6">
            <a:alphaModFix/>
          </a:blip>
          <a:stretch>
            <a:fillRect/>
          </a:stretch>
        </p:blipFill>
        <p:spPr>
          <a:xfrm>
            <a:off x="276900" y="898975"/>
            <a:ext cx="6144101" cy="3456051"/>
          </a:xfrm>
          <a:prstGeom prst="rect">
            <a:avLst/>
          </a:prstGeom>
          <a:noFill/>
          <a:ln cap="flat" cmpd="sng" w="28575">
            <a:solidFill>
              <a:srgbClr val="87A290"/>
            </a:solidFill>
            <a:prstDash val="solid"/>
            <a:round/>
            <a:headEnd len="sm" w="sm" type="none"/>
            <a:tailEnd len="sm" w="sm" type="none"/>
          </a:ln>
        </p:spPr>
      </p:pic>
      <p:sp>
        <p:nvSpPr>
          <p:cNvPr id="91" name="Google Shape;91;p15"/>
          <p:cNvSpPr/>
          <p:nvPr/>
        </p:nvSpPr>
        <p:spPr>
          <a:xfrm>
            <a:off x="6752850" y="899000"/>
            <a:ext cx="2079600" cy="3456000"/>
          </a:xfrm>
          <a:prstGeom prst="rect">
            <a:avLst/>
          </a:prstGeom>
          <a:solidFill>
            <a:srgbClr val="87A290"/>
          </a:solidFill>
          <a:ln cap="flat" cmpd="sng" w="9525">
            <a:solidFill>
              <a:srgbClr val="B7B7B7"/>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800">
                <a:solidFill>
                  <a:schemeClr val="lt1"/>
                </a:solidFill>
                <a:latin typeface="Lexend"/>
                <a:ea typeface="Lexend"/>
                <a:cs typeface="Lexend"/>
                <a:sym typeface="Lexend"/>
              </a:rPr>
              <a:t>Requirements:</a:t>
            </a:r>
            <a:endParaRPr b="1">
              <a:solidFill>
                <a:schemeClr val="lt1"/>
              </a:solidFill>
              <a:latin typeface="Lexend"/>
              <a:ea typeface="Lexend"/>
              <a:cs typeface="Lexend"/>
              <a:sym typeface="Lexend"/>
            </a:endParaRPr>
          </a:p>
          <a:p>
            <a:pPr indent="0" lvl="0" marL="0" rtl="0" algn="ctr">
              <a:lnSpc>
                <a:spcPct val="115000"/>
              </a:lnSpc>
              <a:spcBef>
                <a:spcPts val="0"/>
              </a:spcBef>
              <a:spcAft>
                <a:spcPts val="0"/>
              </a:spcAft>
              <a:buNone/>
            </a:pPr>
            <a:r>
              <a:t/>
            </a:r>
            <a:endParaRPr b="1">
              <a:solidFill>
                <a:schemeClr val="lt1"/>
              </a:solidFill>
              <a:latin typeface="Lexend"/>
              <a:ea typeface="Lexend"/>
              <a:cs typeface="Lexend"/>
              <a:sym typeface="Lexend"/>
            </a:endParaRPr>
          </a:p>
          <a:p>
            <a:pPr indent="0" lvl="0" marL="457200" rtl="0" algn="l">
              <a:lnSpc>
                <a:spcPct val="115000"/>
              </a:lnSpc>
              <a:spcBef>
                <a:spcPts val="0"/>
              </a:spcBef>
              <a:spcAft>
                <a:spcPts val="0"/>
              </a:spcAft>
              <a:buNone/>
            </a:pPr>
            <a:r>
              <a:rPr lang="en">
                <a:solidFill>
                  <a:schemeClr val="lt1"/>
                </a:solidFill>
                <a:latin typeface="Lexend"/>
                <a:ea typeface="Lexend"/>
                <a:cs typeface="Lexend"/>
                <a:sym typeface="Lexend"/>
              </a:rPr>
              <a:t>Plant growing space</a:t>
            </a:r>
            <a:endParaRPr>
              <a:solidFill>
                <a:schemeClr val="lt1"/>
              </a:solidFill>
              <a:latin typeface="Lexend"/>
              <a:ea typeface="Lexend"/>
              <a:cs typeface="Lexend"/>
              <a:sym typeface="Lexend"/>
            </a:endParaRPr>
          </a:p>
          <a:p>
            <a:pPr indent="0" lvl="0" marL="457200" rtl="0" algn="l">
              <a:lnSpc>
                <a:spcPct val="115000"/>
              </a:lnSpc>
              <a:spcBef>
                <a:spcPts val="0"/>
              </a:spcBef>
              <a:spcAft>
                <a:spcPts val="0"/>
              </a:spcAft>
              <a:buNone/>
            </a:pPr>
            <a:r>
              <a:t/>
            </a:r>
            <a:endParaRPr>
              <a:solidFill>
                <a:schemeClr val="lt1"/>
              </a:solidFill>
              <a:latin typeface="Lexend"/>
              <a:ea typeface="Lexend"/>
              <a:cs typeface="Lexend"/>
              <a:sym typeface="Lexend"/>
            </a:endParaRPr>
          </a:p>
          <a:p>
            <a:pPr indent="0" lvl="0" marL="457200" rtl="0" algn="l">
              <a:lnSpc>
                <a:spcPct val="115000"/>
              </a:lnSpc>
              <a:spcBef>
                <a:spcPts val="0"/>
              </a:spcBef>
              <a:spcAft>
                <a:spcPts val="0"/>
              </a:spcAft>
              <a:buNone/>
            </a:pPr>
            <a:r>
              <a:rPr lang="en">
                <a:solidFill>
                  <a:schemeClr val="lt1"/>
                </a:solidFill>
                <a:latin typeface="Lexend"/>
                <a:ea typeface="Lexend"/>
                <a:cs typeface="Lexend"/>
                <a:sym typeface="Lexend"/>
              </a:rPr>
              <a:t>2 community programs</a:t>
            </a:r>
            <a:endParaRPr>
              <a:solidFill>
                <a:schemeClr val="lt1"/>
              </a:solidFill>
              <a:latin typeface="Lexend"/>
              <a:ea typeface="Lexend"/>
              <a:cs typeface="Lexend"/>
              <a:sym typeface="Lexend"/>
            </a:endParaRPr>
          </a:p>
          <a:p>
            <a:pPr indent="0" lvl="0" marL="457200" rtl="0" algn="l">
              <a:lnSpc>
                <a:spcPct val="115000"/>
              </a:lnSpc>
              <a:spcBef>
                <a:spcPts val="0"/>
              </a:spcBef>
              <a:spcAft>
                <a:spcPts val="0"/>
              </a:spcAft>
              <a:buNone/>
            </a:pPr>
            <a:r>
              <a:t/>
            </a:r>
            <a:endParaRPr>
              <a:solidFill>
                <a:schemeClr val="lt1"/>
              </a:solidFill>
              <a:latin typeface="Lexend"/>
              <a:ea typeface="Lexend"/>
              <a:cs typeface="Lexend"/>
              <a:sym typeface="Lexend"/>
            </a:endParaRPr>
          </a:p>
          <a:p>
            <a:pPr indent="0" lvl="0" marL="457200" rtl="0" algn="l">
              <a:lnSpc>
                <a:spcPct val="115000"/>
              </a:lnSpc>
              <a:spcBef>
                <a:spcPts val="0"/>
              </a:spcBef>
              <a:spcAft>
                <a:spcPts val="0"/>
              </a:spcAft>
              <a:buNone/>
            </a:pPr>
            <a:r>
              <a:rPr lang="en">
                <a:solidFill>
                  <a:schemeClr val="lt1"/>
                </a:solidFill>
                <a:latin typeface="Lexend"/>
                <a:ea typeface="Lexend"/>
                <a:cs typeface="Lexend"/>
                <a:sym typeface="Lexend"/>
              </a:rPr>
              <a:t>Maximization of bio-based materials</a:t>
            </a:r>
            <a:endParaRPr>
              <a:solidFill>
                <a:schemeClr val="lt1"/>
              </a:solidFill>
              <a:latin typeface="Lexend"/>
              <a:ea typeface="Lexend"/>
              <a:cs typeface="Lexend"/>
              <a:sym typeface="Lexend"/>
            </a:endParaRPr>
          </a:p>
        </p:txBody>
      </p:sp>
      <p:pic>
        <p:nvPicPr>
          <p:cNvPr id="92" name="Google Shape;92;p15"/>
          <p:cNvPicPr preferRelativeResize="0"/>
          <p:nvPr/>
        </p:nvPicPr>
        <p:blipFill>
          <a:blip r:embed="rId7">
            <a:alphaModFix/>
          </a:blip>
          <a:stretch>
            <a:fillRect/>
          </a:stretch>
        </p:blipFill>
        <p:spPr>
          <a:xfrm>
            <a:off x="6996925" y="1527350"/>
            <a:ext cx="249650" cy="249650"/>
          </a:xfrm>
          <a:prstGeom prst="rect">
            <a:avLst/>
          </a:prstGeom>
          <a:noFill/>
          <a:ln>
            <a:noFill/>
          </a:ln>
        </p:spPr>
      </p:pic>
      <p:pic>
        <p:nvPicPr>
          <p:cNvPr id="93" name="Google Shape;93;p15"/>
          <p:cNvPicPr preferRelativeResize="0"/>
          <p:nvPr/>
        </p:nvPicPr>
        <p:blipFill>
          <a:blip r:embed="rId7">
            <a:alphaModFix/>
          </a:blip>
          <a:stretch>
            <a:fillRect/>
          </a:stretch>
        </p:blipFill>
        <p:spPr>
          <a:xfrm>
            <a:off x="6996925" y="2289350"/>
            <a:ext cx="249650" cy="249650"/>
          </a:xfrm>
          <a:prstGeom prst="rect">
            <a:avLst/>
          </a:prstGeom>
          <a:noFill/>
          <a:ln>
            <a:noFill/>
          </a:ln>
        </p:spPr>
      </p:pic>
      <p:pic>
        <p:nvPicPr>
          <p:cNvPr id="94" name="Google Shape;94;p15"/>
          <p:cNvPicPr preferRelativeResize="0"/>
          <p:nvPr/>
        </p:nvPicPr>
        <p:blipFill>
          <a:blip r:embed="rId7">
            <a:alphaModFix/>
          </a:blip>
          <a:stretch>
            <a:fillRect/>
          </a:stretch>
        </p:blipFill>
        <p:spPr>
          <a:xfrm>
            <a:off x="6996925" y="3051350"/>
            <a:ext cx="249650" cy="249650"/>
          </a:xfrm>
          <a:prstGeom prst="rect">
            <a:avLst/>
          </a:prstGeom>
          <a:noFill/>
          <a:ln>
            <a:noFill/>
          </a:ln>
        </p:spPr>
      </p:pic>
    </p:spTree>
  </p:cSld>
  <p:clrMapOvr>
    <a:masterClrMapping/>
  </p:clrMapOvr>
  <mc:AlternateContent>
    <mc:Choice Requires="p14">
      <p:transition p14:dur="10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1000"/>
                                        <p:tgtEl>
                                          <p:spTgt spid="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16"/>
          <p:cNvPicPr preferRelativeResize="0"/>
          <p:nvPr/>
        </p:nvPicPr>
        <p:blipFill rotWithShape="1">
          <a:blip r:embed="rId3">
            <a:alphaModFix/>
          </a:blip>
          <a:srcRect b="7834" l="0" r="0" t="0"/>
          <a:stretch/>
        </p:blipFill>
        <p:spPr>
          <a:xfrm>
            <a:off x="468250" y="1024475"/>
            <a:ext cx="3183825" cy="2205876"/>
          </a:xfrm>
          <a:prstGeom prst="rect">
            <a:avLst/>
          </a:prstGeom>
          <a:noFill/>
          <a:ln cap="flat" cmpd="sng" w="28575">
            <a:solidFill>
              <a:srgbClr val="87A290"/>
            </a:solidFill>
            <a:prstDash val="solid"/>
            <a:round/>
            <a:headEnd len="sm" w="sm" type="none"/>
            <a:tailEnd len="sm" w="sm" type="none"/>
          </a:ln>
        </p:spPr>
      </p:pic>
      <p:sp>
        <p:nvSpPr>
          <p:cNvPr id="100" name="Google Shape;100;p16"/>
          <p:cNvSpPr/>
          <p:nvPr/>
        </p:nvSpPr>
        <p:spPr>
          <a:xfrm>
            <a:off x="1426852" y="1679045"/>
            <a:ext cx="1266600" cy="1026000"/>
          </a:xfrm>
          <a:prstGeom prst="rect">
            <a:avLst/>
          </a:prstGeom>
          <a:noFill/>
          <a:ln cap="flat" cmpd="sng" w="38100">
            <a:solidFill>
              <a:srgbClr val="FFF37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6"/>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Located in the Spadina TTC Station parking lot</a:t>
            </a:r>
            <a:endParaRPr>
              <a:solidFill>
                <a:srgbClr val="A44200"/>
              </a:solidFill>
              <a:latin typeface="Lexend"/>
              <a:ea typeface="Lexend"/>
              <a:cs typeface="Lexend"/>
              <a:sym typeface="Lexend"/>
            </a:endParaRPr>
          </a:p>
        </p:txBody>
      </p:sp>
      <p:sp>
        <p:nvSpPr>
          <p:cNvPr id="102" name="Google Shape;102;p16"/>
          <p:cNvSpPr/>
          <p:nvPr/>
        </p:nvSpPr>
        <p:spPr>
          <a:xfrm>
            <a:off x="7581600" y="4353075"/>
            <a:ext cx="1562400" cy="79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exend"/>
                <a:ea typeface="Lexend"/>
                <a:cs typeface="Lexend"/>
                <a:sym typeface="Lexend"/>
              </a:rPr>
              <a:t>Sara Kabir</a:t>
            </a:r>
            <a:endParaRPr>
              <a:latin typeface="Lexend"/>
              <a:ea typeface="Lexend"/>
              <a:cs typeface="Lexend"/>
              <a:sym typeface="Lexend"/>
            </a:endParaRPr>
          </a:p>
        </p:txBody>
      </p:sp>
      <p:sp>
        <p:nvSpPr>
          <p:cNvPr id="103" name="Google Shape;103;p16"/>
          <p:cNvSpPr/>
          <p:nvPr/>
        </p:nvSpPr>
        <p:spPr>
          <a:xfrm>
            <a:off x="468238" y="3425625"/>
            <a:ext cx="3183900" cy="400200"/>
          </a:xfrm>
          <a:prstGeom prst="rect">
            <a:avLst/>
          </a:prstGeom>
          <a:solidFill>
            <a:srgbClr val="87A290"/>
          </a:solidFill>
          <a:ln cap="flat" cmpd="sng" w="9525">
            <a:solidFill>
              <a:srgbClr val="ABBF95"/>
            </a:solidFill>
            <a:prstDash val="solid"/>
            <a:round/>
            <a:headEnd len="sm" w="sm" type="none"/>
            <a:tailEnd len="sm" w="sm" type="none"/>
          </a:ln>
        </p:spPr>
        <p:txBody>
          <a:bodyPr anchorCtr="0" anchor="ctr" bIns="91425" lIns="91425" spcFirstLastPara="1" rIns="91425" wrap="square" tIns="91425">
            <a:noAutofit/>
          </a:bodyPr>
          <a:lstStyle/>
          <a:p>
            <a:pPr indent="457200" lvl="0" marL="0" rtl="0" algn="l">
              <a:spcBef>
                <a:spcPts val="0"/>
              </a:spcBef>
              <a:spcAft>
                <a:spcPts val="0"/>
              </a:spcAft>
              <a:buNone/>
            </a:pPr>
            <a:r>
              <a:rPr b="1" lang="en" sz="900">
                <a:solidFill>
                  <a:schemeClr val="lt1"/>
                </a:solidFill>
                <a:latin typeface="Lexend"/>
                <a:ea typeface="Lexend"/>
                <a:cs typeface="Lexend"/>
                <a:sym typeface="Lexend"/>
              </a:rPr>
              <a:t>Native Canadian Centre of Toronto</a:t>
            </a:r>
            <a:r>
              <a:rPr lang="en" sz="900">
                <a:solidFill>
                  <a:schemeClr val="lt1"/>
                </a:solidFill>
                <a:latin typeface="Lexend"/>
                <a:ea typeface="Lexend"/>
                <a:cs typeface="Lexend"/>
                <a:sym typeface="Lexend"/>
              </a:rPr>
              <a:t>  2 mins</a:t>
            </a:r>
            <a:endParaRPr sz="900">
              <a:solidFill>
                <a:schemeClr val="lt1"/>
              </a:solidFill>
              <a:latin typeface="Lexend"/>
              <a:ea typeface="Lexend"/>
              <a:cs typeface="Lexend"/>
              <a:sym typeface="Lexend"/>
            </a:endParaRPr>
          </a:p>
        </p:txBody>
      </p:sp>
      <p:pic>
        <p:nvPicPr>
          <p:cNvPr id="104" name="Google Shape;104;p16"/>
          <p:cNvPicPr preferRelativeResize="0"/>
          <p:nvPr/>
        </p:nvPicPr>
        <p:blipFill>
          <a:blip r:embed="rId4">
            <a:alphaModFix/>
          </a:blip>
          <a:stretch>
            <a:fillRect/>
          </a:stretch>
        </p:blipFill>
        <p:spPr>
          <a:xfrm>
            <a:off x="641315" y="3473088"/>
            <a:ext cx="193661" cy="301673"/>
          </a:xfrm>
          <a:prstGeom prst="rect">
            <a:avLst/>
          </a:prstGeom>
          <a:noFill/>
          <a:ln>
            <a:noFill/>
          </a:ln>
        </p:spPr>
      </p:pic>
      <p:sp>
        <p:nvSpPr>
          <p:cNvPr id="105" name="Google Shape;105;p16"/>
          <p:cNvSpPr/>
          <p:nvPr/>
        </p:nvSpPr>
        <p:spPr>
          <a:xfrm>
            <a:off x="468213" y="4451725"/>
            <a:ext cx="3183900" cy="400200"/>
          </a:xfrm>
          <a:prstGeom prst="rect">
            <a:avLst/>
          </a:prstGeom>
          <a:solidFill>
            <a:srgbClr val="87A290"/>
          </a:solidFill>
          <a:ln cap="flat" cmpd="sng" w="9525">
            <a:solidFill>
              <a:srgbClr val="ABBF95"/>
            </a:solidFill>
            <a:prstDash val="solid"/>
            <a:round/>
            <a:headEnd len="sm" w="sm" type="none"/>
            <a:tailEnd len="sm" w="sm" type="none"/>
          </a:ln>
        </p:spPr>
        <p:txBody>
          <a:bodyPr anchorCtr="0" anchor="ctr" bIns="91425" lIns="91425" spcFirstLastPara="1" rIns="91425" wrap="square" tIns="91425">
            <a:noAutofit/>
          </a:bodyPr>
          <a:lstStyle/>
          <a:p>
            <a:pPr indent="457200" lvl="0" marL="0" rtl="0" algn="l">
              <a:spcBef>
                <a:spcPts val="0"/>
              </a:spcBef>
              <a:spcAft>
                <a:spcPts val="0"/>
              </a:spcAft>
              <a:buNone/>
            </a:pPr>
            <a:r>
              <a:rPr b="1" lang="en" sz="900">
                <a:solidFill>
                  <a:schemeClr val="lt1"/>
                </a:solidFill>
                <a:latin typeface="Lexend"/>
                <a:ea typeface="Lexend"/>
                <a:cs typeface="Lexend"/>
                <a:sym typeface="Lexend"/>
              </a:rPr>
              <a:t>Lighthouse Food Bank</a:t>
            </a:r>
            <a:r>
              <a:rPr lang="en" sz="900">
                <a:solidFill>
                  <a:schemeClr val="lt1"/>
                </a:solidFill>
                <a:latin typeface="Lexend"/>
                <a:ea typeface="Lexend"/>
                <a:cs typeface="Lexend"/>
                <a:sym typeface="Lexend"/>
              </a:rPr>
              <a:t>                       17 mins</a:t>
            </a:r>
            <a:endParaRPr sz="900">
              <a:solidFill>
                <a:schemeClr val="lt1"/>
              </a:solidFill>
              <a:latin typeface="Lexend"/>
              <a:ea typeface="Lexend"/>
              <a:cs typeface="Lexend"/>
              <a:sym typeface="Lexend"/>
            </a:endParaRPr>
          </a:p>
        </p:txBody>
      </p:sp>
      <p:pic>
        <p:nvPicPr>
          <p:cNvPr id="106" name="Google Shape;106;p16"/>
          <p:cNvPicPr preferRelativeResize="0"/>
          <p:nvPr/>
        </p:nvPicPr>
        <p:blipFill>
          <a:blip r:embed="rId4">
            <a:alphaModFix/>
          </a:blip>
          <a:stretch>
            <a:fillRect/>
          </a:stretch>
        </p:blipFill>
        <p:spPr>
          <a:xfrm>
            <a:off x="641290" y="4502808"/>
            <a:ext cx="193661" cy="301673"/>
          </a:xfrm>
          <a:prstGeom prst="rect">
            <a:avLst/>
          </a:prstGeom>
          <a:noFill/>
          <a:ln>
            <a:noFill/>
          </a:ln>
        </p:spPr>
      </p:pic>
      <p:sp>
        <p:nvSpPr>
          <p:cNvPr id="107" name="Google Shape;107;p16"/>
          <p:cNvSpPr/>
          <p:nvPr/>
        </p:nvSpPr>
        <p:spPr>
          <a:xfrm>
            <a:off x="468225" y="3938675"/>
            <a:ext cx="3183900" cy="400200"/>
          </a:xfrm>
          <a:prstGeom prst="rect">
            <a:avLst/>
          </a:prstGeom>
          <a:solidFill>
            <a:srgbClr val="87A290"/>
          </a:solidFill>
          <a:ln cap="flat" cmpd="sng" w="9525">
            <a:solidFill>
              <a:srgbClr val="ABBF95"/>
            </a:solidFill>
            <a:prstDash val="solid"/>
            <a:round/>
            <a:headEnd len="sm" w="sm" type="none"/>
            <a:tailEnd len="sm" w="sm" type="none"/>
          </a:ln>
        </p:spPr>
        <p:txBody>
          <a:bodyPr anchorCtr="0" anchor="ctr" bIns="91425" lIns="91425" spcFirstLastPara="1" rIns="91425" wrap="square" tIns="91425">
            <a:noAutofit/>
          </a:bodyPr>
          <a:lstStyle/>
          <a:p>
            <a:pPr indent="457200" lvl="0" marL="0" rtl="0" algn="l">
              <a:spcBef>
                <a:spcPts val="0"/>
              </a:spcBef>
              <a:spcAft>
                <a:spcPts val="0"/>
              </a:spcAft>
              <a:buNone/>
            </a:pPr>
            <a:r>
              <a:rPr b="1" lang="en" sz="900">
                <a:solidFill>
                  <a:schemeClr val="lt1"/>
                </a:solidFill>
                <a:latin typeface="Lexend"/>
                <a:ea typeface="Lexend"/>
                <a:cs typeface="Lexend"/>
                <a:sym typeface="Lexend"/>
              </a:rPr>
              <a:t>University of Toronto</a:t>
            </a:r>
            <a:r>
              <a:rPr lang="en" sz="900">
                <a:solidFill>
                  <a:schemeClr val="lt1"/>
                </a:solidFill>
                <a:latin typeface="Lexend"/>
                <a:ea typeface="Lexend"/>
                <a:cs typeface="Lexend"/>
                <a:sym typeface="Lexend"/>
              </a:rPr>
              <a:t>                           6 mins</a:t>
            </a:r>
            <a:endParaRPr sz="900">
              <a:solidFill>
                <a:schemeClr val="lt1"/>
              </a:solidFill>
              <a:latin typeface="Lexend"/>
              <a:ea typeface="Lexend"/>
              <a:cs typeface="Lexend"/>
              <a:sym typeface="Lexend"/>
            </a:endParaRPr>
          </a:p>
        </p:txBody>
      </p:sp>
      <p:pic>
        <p:nvPicPr>
          <p:cNvPr id="108" name="Google Shape;108;p16"/>
          <p:cNvPicPr preferRelativeResize="0"/>
          <p:nvPr/>
        </p:nvPicPr>
        <p:blipFill>
          <a:blip r:embed="rId4">
            <a:alphaModFix/>
          </a:blip>
          <a:stretch>
            <a:fillRect/>
          </a:stretch>
        </p:blipFill>
        <p:spPr>
          <a:xfrm>
            <a:off x="641303" y="3987940"/>
            <a:ext cx="193661" cy="301673"/>
          </a:xfrm>
          <a:prstGeom prst="rect">
            <a:avLst/>
          </a:prstGeom>
          <a:noFill/>
          <a:ln>
            <a:noFill/>
          </a:ln>
        </p:spPr>
      </p:pic>
      <p:pic>
        <p:nvPicPr>
          <p:cNvPr id="109" name="Google Shape;109;p16" title="bold.png"/>
          <p:cNvPicPr preferRelativeResize="0"/>
          <p:nvPr/>
        </p:nvPicPr>
        <p:blipFill>
          <a:blip r:embed="rId5">
            <a:alphaModFix/>
          </a:blip>
          <a:stretch>
            <a:fillRect/>
          </a:stretch>
        </p:blipFill>
        <p:spPr>
          <a:xfrm>
            <a:off x="8528400" y="21325"/>
            <a:ext cx="615600" cy="615600"/>
          </a:xfrm>
          <a:prstGeom prst="rect">
            <a:avLst/>
          </a:prstGeom>
          <a:noFill/>
          <a:ln>
            <a:noFill/>
          </a:ln>
        </p:spPr>
      </p:pic>
      <p:pic>
        <p:nvPicPr>
          <p:cNvPr id="110" name="Google Shape;110;p16"/>
          <p:cNvPicPr preferRelativeResize="0"/>
          <p:nvPr/>
        </p:nvPicPr>
        <p:blipFill rotWithShape="1">
          <a:blip r:embed="rId6">
            <a:alphaModFix/>
          </a:blip>
          <a:srcRect b="36785" l="64443" r="20585" t="44782"/>
          <a:stretch/>
        </p:blipFill>
        <p:spPr>
          <a:xfrm>
            <a:off x="6718360" y="4353075"/>
            <a:ext cx="863242" cy="797100"/>
          </a:xfrm>
          <a:prstGeom prst="rect">
            <a:avLst/>
          </a:prstGeom>
          <a:noFill/>
          <a:ln>
            <a:noFill/>
          </a:ln>
        </p:spPr>
      </p:pic>
      <p:sp>
        <p:nvSpPr>
          <p:cNvPr id="111" name="Google Shape;111;p16"/>
          <p:cNvSpPr/>
          <p:nvPr/>
        </p:nvSpPr>
        <p:spPr>
          <a:xfrm>
            <a:off x="4026175" y="4451713"/>
            <a:ext cx="2318100" cy="400200"/>
          </a:xfrm>
          <a:prstGeom prst="rect">
            <a:avLst/>
          </a:prstGeom>
          <a:solidFill>
            <a:schemeClr val="lt1"/>
          </a:solidFill>
          <a:ln cap="flat" cmpd="sng" w="19050">
            <a:solidFill>
              <a:srgbClr val="87A2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Lexend"/>
                <a:ea typeface="Lexend"/>
                <a:cs typeface="Lexend"/>
                <a:sym typeface="Lexend"/>
              </a:rPr>
              <a:t>   The Annex, Toronto ON</a:t>
            </a:r>
            <a:endParaRPr sz="1000">
              <a:solidFill>
                <a:schemeClr val="dk1"/>
              </a:solidFill>
              <a:latin typeface="Lexend"/>
              <a:ea typeface="Lexend"/>
              <a:cs typeface="Lexend"/>
              <a:sym typeface="Lexend"/>
            </a:endParaRPr>
          </a:p>
        </p:txBody>
      </p:sp>
      <p:pic>
        <p:nvPicPr>
          <p:cNvPr id="112" name="Google Shape;112;p16"/>
          <p:cNvPicPr preferRelativeResize="0"/>
          <p:nvPr/>
        </p:nvPicPr>
        <p:blipFill>
          <a:blip r:embed="rId7">
            <a:alphaModFix/>
          </a:blip>
          <a:stretch>
            <a:fillRect/>
          </a:stretch>
        </p:blipFill>
        <p:spPr>
          <a:xfrm>
            <a:off x="4260950" y="4554975"/>
            <a:ext cx="193650" cy="193650"/>
          </a:xfrm>
          <a:prstGeom prst="rect">
            <a:avLst/>
          </a:prstGeom>
          <a:solidFill>
            <a:schemeClr val="lt1"/>
          </a:solidFill>
          <a:ln>
            <a:noFill/>
          </a:ln>
        </p:spPr>
      </p:pic>
      <p:pic>
        <p:nvPicPr>
          <p:cNvPr id="113" name="Google Shape;113;p16"/>
          <p:cNvPicPr preferRelativeResize="0"/>
          <p:nvPr/>
        </p:nvPicPr>
        <p:blipFill rotWithShape="1">
          <a:blip r:embed="rId8">
            <a:alphaModFix/>
          </a:blip>
          <a:srcRect b="0" l="3274" r="30579" t="5006"/>
          <a:stretch/>
        </p:blipFill>
        <p:spPr>
          <a:xfrm>
            <a:off x="3896700" y="866025"/>
            <a:ext cx="4739924" cy="3191599"/>
          </a:xfrm>
          <a:prstGeom prst="rect">
            <a:avLst/>
          </a:prstGeom>
          <a:noFill/>
          <a:ln>
            <a:noFill/>
          </a:ln>
        </p:spPr>
      </p:pic>
      <p:cxnSp>
        <p:nvCxnSpPr>
          <p:cNvPr id="114" name="Google Shape;114;p16"/>
          <p:cNvCxnSpPr/>
          <p:nvPr/>
        </p:nvCxnSpPr>
        <p:spPr>
          <a:xfrm>
            <a:off x="8642250" y="1209425"/>
            <a:ext cx="0" cy="2615400"/>
          </a:xfrm>
          <a:prstGeom prst="straightConnector1">
            <a:avLst/>
          </a:prstGeom>
          <a:noFill/>
          <a:ln cap="flat" cmpd="sng" w="19050">
            <a:solidFill>
              <a:srgbClr val="434343"/>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7"/>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solidFill>
                  <a:srgbClr val="A44200"/>
                </a:solidFill>
                <a:latin typeface="Lexend"/>
                <a:ea typeface="Lexend"/>
                <a:cs typeface="Lexend"/>
                <a:sym typeface="Lexend"/>
              </a:rPr>
              <a:t>Getting to know The Annex’s community is crucial</a:t>
            </a:r>
            <a:endParaRPr>
              <a:solidFill>
                <a:srgbClr val="A44200"/>
              </a:solidFill>
              <a:latin typeface="Lexend"/>
              <a:ea typeface="Lexend"/>
              <a:cs typeface="Lexend"/>
              <a:sym typeface="Lexend"/>
            </a:endParaRPr>
          </a:p>
          <a:p>
            <a:pPr indent="0" lvl="0" marL="0" rtl="0" algn="l">
              <a:spcBef>
                <a:spcPts val="0"/>
              </a:spcBef>
              <a:spcAft>
                <a:spcPts val="0"/>
              </a:spcAft>
              <a:buNone/>
            </a:pPr>
            <a:r>
              <a:t/>
            </a:r>
            <a:endParaRPr>
              <a:solidFill>
                <a:srgbClr val="A44200"/>
              </a:solidFill>
              <a:latin typeface="Lexend"/>
              <a:ea typeface="Lexend"/>
              <a:cs typeface="Lexend"/>
              <a:sym typeface="Lexend"/>
            </a:endParaRPr>
          </a:p>
        </p:txBody>
      </p:sp>
      <p:sp>
        <p:nvSpPr>
          <p:cNvPr id="120" name="Google Shape;120;p17"/>
          <p:cNvSpPr/>
          <p:nvPr/>
        </p:nvSpPr>
        <p:spPr>
          <a:xfrm>
            <a:off x="691000" y="4458300"/>
            <a:ext cx="1562400" cy="685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exend"/>
                <a:ea typeface="Lexend"/>
                <a:cs typeface="Lexend"/>
                <a:sym typeface="Lexend"/>
              </a:rPr>
              <a:t>Francesca Mangano</a:t>
            </a:r>
            <a:endParaRPr>
              <a:latin typeface="Lexend"/>
              <a:ea typeface="Lexend"/>
              <a:cs typeface="Lexend"/>
              <a:sym typeface="Lexend"/>
            </a:endParaRPr>
          </a:p>
        </p:txBody>
      </p:sp>
      <p:sp>
        <p:nvSpPr>
          <p:cNvPr id="121" name="Google Shape;121;p17"/>
          <p:cNvSpPr txBox="1"/>
          <p:nvPr>
            <p:ph idx="1" type="body"/>
          </p:nvPr>
        </p:nvSpPr>
        <p:spPr>
          <a:xfrm>
            <a:off x="640350" y="781750"/>
            <a:ext cx="7863300" cy="6852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1200"/>
              </a:spcAft>
              <a:buNone/>
            </a:pPr>
            <a:r>
              <a:rPr lang="en" sz="1900">
                <a:solidFill>
                  <a:schemeClr val="dk1"/>
                </a:solidFill>
                <a:latin typeface="Lexend"/>
                <a:ea typeface="Lexend"/>
                <a:cs typeface="Lexend"/>
                <a:sym typeface="Lexend"/>
              </a:rPr>
              <a:t>The Annex’s median annual income is </a:t>
            </a:r>
            <a:r>
              <a:rPr lang="en" sz="1900">
                <a:solidFill>
                  <a:srgbClr val="A44200"/>
                </a:solidFill>
                <a:latin typeface="Lexend"/>
                <a:ea typeface="Lexend"/>
                <a:cs typeface="Lexend"/>
                <a:sym typeface="Lexend"/>
              </a:rPr>
              <a:t>18%</a:t>
            </a:r>
            <a:r>
              <a:rPr lang="en" sz="1900">
                <a:solidFill>
                  <a:schemeClr val="dk1"/>
                </a:solidFill>
                <a:latin typeface="Lexend"/>
                <a:ea typeface="Lexend"/>
                <a:cs typeface="Lexend"/>
                <a:sym typeface="Lexend"/>
              </a:rPr>
              <a:t> lower than the Toronto average</a:t>
            </a:r>
            <a:endParaRPr>
              <a:solidFill>
                <a:schemeClr val="dk1"/>
              </a:solidFill>
              <a:latin typeface="Lexend"/>
              <a:ea typeface="Lexend"/>
              <a:cs typeface="Lexend"/>
              <a:sym typeface="Lexend"/>
            </a:endParaRPr>
          </a:p>
        </p:txBody>
      </p:sp>
      <p:sp>
        <p:nvSpPr>
          <p:cNvPr id="122" name="Google Shape;122;p17"/>
          <p:cNvSpPr/>
          <p:nvPr/>
        </p:nvSpPr>
        <p:spPr>
          <a:xfrm>
            <a:off x="3515225" y="1964200"/>
            <a:ext cx="756900" cy="14211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17"/>
          <p:cNvSpPr/>
          <p:nvPr/>
        </p:nvSpPr>
        <p:spPr>
          <a:xfrm>
            <a:off x="4457575" y="2245675"/>
            <a:ext cx="756900" cy="1139400"/>
          </a:xfrm>
          <a:prstGeom prst="rect">
            <a:avLst/>
          </a:prstGeom>
          <a:solidFill>
            <a:srgbClr val="ABBF95"/>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17"/>
          <p:cNvSpPr txBox="1"/>
          <p:nvPr/>
        </p:nvSpPr>
        <p:spPr>
          <a:xfrm>
            <a:off x="4457575" y="3330200"/>
            <a:ext cx="756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Lexend"/>
                <a:ea typeface="Lexend"/>
                <a:cs typeface="Lexend"/>
                <a:sym typeface="Lexend"/>
              </a:rPr>
              <a:t>Annex</a:t>
            </a:r>
            <a:endParaRPr>
              <a:solidFill>
                <a:schemeClr val="dk1"/>
              </a:solidFill>
              <a:latin typeface="Lexend"/>
              <a:ea typeface="Lexend"/>
              <a:cs typeface="Lexend"/>
              <a:sym typeface="Lexend"/>
            </a:endParaRPr>
          </a:p>
        </p:txBody>
      </p:sp>
      <p:sp>
        <p:nvSpPr>
          <p:cNvPr id="125" name="Google Shape;125;p17"/>
          <p:cNvSpPr txBox="1"/>
          <p:nvPr/>
        </p:nvSpPr>
        <p:spPr>
          <a:xfrm>
            <a:off x="3436475" y="3330200"/>
            <a:ext cx="914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Lexend"/>
                <a:ea typeface="Lexend"/>
                <a:cs typeface="Lexend"/>
                <a:sym typeface="Lexend"/>
              </a:rPr>
              <a:t>Toronto</a:t>
            </a:r>
            <a:endParaRPr>
              <a:solidFill>
                <a:schemeClr val="dk1"/>
              </a:solidFill>
              <a:latin typeface="Lexend"/>
              <a:ea typeface="Lexend"/>
              <a:cs typeface="Lexend"/>
              <a:sym typeface="Lexend"/>
            </a:endParaRPr>
          </a:p>
        </p:txBody>
      </p:sp>
      <p:sp>
        <p:nvSpPr>
          <p:cNvPr id="126" name="Google Shape;126;p17"/>
          <p:cNvSpPr txBox="1"/>
          <p:nvPr/>
        </p:nvSpPr>
        <p:spPr>
          <a:xfrm>
            <a:off x="3436475" y="1637488"/>
            <a:ext cx="914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Lexend"/>
                <a:ea typeface="Lexend"/>
                <a:cs typeface="Lexend"/>
                <a:sym typeface="Lexend"/>
              </a:rPr>
              <a:t>$78,373</a:t>
            </a:r>
            <a:endParaRPr>
              <a:solidFill>
                <a:schemeClr val="dk1"/>
              </a:solidFill>
              <a:latin typeface="Lexend"/>
              <a:ea typeface="Lexend"/>
              <a:cs typeface="Lexend"/>
              <a:sym typeface="Lexend"/>
            </a:endParaRPr>
          </a:p>
        </p:txBody>
      </p:sp>
      <p:sp>
        <p:nvSpPr>
          <p:cNvPr id="127" name="Google Shape;127;p17"/>
          <p:cNvSpPr txBox="1"/>
          <p:nvPr/>
        </p:nvSpPr>
        <p:spPr>
          <a:xfrm>
            <a:off x="4378825" y="1934863"/>
            <a:ext cx="914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Lexend"/>
                <a:ea typeface="Lexend"/>
                <a:cs typeface="Lexend"/>
                <a:sym typeface="Lexend"/>
              </a:rPr>
              <a:t>$64,569</a:t>
            </a:r>
            <a:endParaRPr>
              <a:solidFill>
                <a:schemeClr val="dk1"/>
              </a:solidFill>
              <a:latin typeface="Lexend"/>
              <a:ea typeface="Lexend"/>
              <a:cs typeface="Lexend"/>
              <a:sym typeface="Lexend"/>
            </a:endParaRPr>
          </a:p>
        </p:txBody>
      </p:sp>
      <p:sp>
        <p:nvSpPr>
          <p:cNvPr id="128" name="Google Shape;128;p17"/>
          <p:cNvSpPr txBox="1"/>
          <p:nvPr>
            <p:ph idx="1" type="body"/>
          </p:nvPr>
        </p:nvSpPr>
        <p:spPr>
          <a:xfrm>
            <a:off x="640350" y="3882550"/>
            <a:ext cx="7863300" cy="6852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1200"/>
              </a:spcAft>
              <a:buNone/>
            </a:pPr>
            <a:r>
              <a:rPr lang="en" sz="1900">
                <a:solidFill>
                  <a:schemeClr val="dk1"/>
                </a:solidFill>
                <a:latin typeface="Lexend"/>
                <a:ea typeface="Lexend"/>
                <a:cs typeface="Lexend"/>
                <a:sym typeface="Lexend"/>
              </a:rPr>
              <a:t>This is largely due to the </a:t>
            </a:r>
            <a:r>
              <a:rPr lang="en" sz="1900">
                <a:solidFill>
                  <a:srgbClr val="A44200"/>
                </a:solidFill>
                <a:latin typeface="Lexend"/>
                <a:ea typeface="Lexend"/>
                <a:cs typeface="Lexend"/>
                <a:sym typeface="Lexend"/>
              </a:rPr>
              <a:t>high</a:t>
            </a:r>
            <a:r>
              <a:rPr lang="en" sz="1900">
                <a:solidFill>
                  <a:schemeClr val="dk1"/>
                </a:solidFill>
                <a:latin typeface="Lexend"/>
                <a:ea typeface="Lexend"/>
                <a:cs typeface="Lexend"/>
                <a:sym typeface="Lexend"/>
              </a:rPr>
              <a:t> student population in the surrounding area</a:t>
            </a:r>
            <a:endParaRPr>
              <a:solidFill>
                <a:schemeClr val="dk1"/>
              </a:solidFill>
              <a:latin typeface="Lexend"/>
              <a:ea typeface="Lexend"/>
              <a:cs typeface="Lexend"/>
              <a:sym typeface="Lexend"/>
            </a:endParaRPr>
          </a:p>
        </p:txBody>
      </p:sp>
      <p:pic>
        <p:nvPicPr>
          <p:cNvPr id="129" name="Google Shape;129;p17" title="bold.png"/>
          <p:cNvPicPr preferRelativeResize="0"/>
          <p:nvPr/>
        </p:nvPicPr>
        <p:blipFill>
          <a:blip r:embed="rId3">
            <a:alphaModFix/>
          </a:blip>
          <a:stretch>
            <a:fillRect/>
          </a:stretch>
        </p:blipFill>
        <p:spPr>
          <a:xfrm>
            <a:off x="8528400" y="21325"/>
            <a:ext cx="615600" cy="615600"/>
          </a:xfrm>
          <a:prstGeom prst="rect">
            <a:avLst/>
          </a:prstGeom>
          <a:noFill/>
          <a:ln>
            <a:noFill/>
          </a:ln>
        </p:spPr>
      </p:pic>
      <p:pic>
        <p:nvPicPr>
          <p:cNvPr id="130" name="Google Shape;130;p17"/>
          <p:cNvPicPr preferRelativeResize="0"/>
          <p:nvPr/>
        </p:nvPicPr>
        <p:blipFill rotWithShape="1">
          <a:blip r:embed="rId4">
            <a:alphaModFix/>
          </a:blip>
          <a:srcRect b="28087" l="32564" r="51310" t="50593"/>
          <a:stretch/>
        </p:blipFill>
        <p:spPr>
          <a:xfrm>
            <a:off x="0" y="4458300"/>
            <a:ext cx="691000" cy="6852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18"/>
          <p:cNvPicPr preferRelativeResize="0"/>
          <p:nvPr/>
        </p:nvPicPr>
        <p:blipFill rotWithShape="1">
          <a:blip r:embed="rId3">
            <a:alphaModFix/>
          </a:blip>
          <a:srcRect b="0" l="0" r="0" t="7741"/>
          <a:stretch/>
        </p:blipFill>
        <p:spPr>
          <a:xfrm>
            <a:off x="175650" y="818187"/>
            <a:ext cx="8656650" cy="3730963"/>
          </a:xfrm>
          <a:prstGeom prst="rect">
            <a:avLst/>
          </a:prstGeom>
          <a:noFill/>
          <a:ln>
            <a:noFill/>
          </a:ln>
        </p:spPr>
      </p:pic>
      <p:pic>
        <p:nvPicPr>
          <p:cNvPr id="136" name="Google Shape;136;p18" title="bold.png"/>
          <p:cNvPicPr preferRelativeResize="0"/>
          <p:nvPr/>
        </p:nvPicPr>
        <p:blipFill>
          <a:blip r:embed="rId4">
            <a:alphaModFix/>
          </a:blip>
          <a:stretch>
            <a:fillRect/>
          </a:stretch>
        </p:blipFill>
        <p:spPr>
          <a:xfrm>
            <a:off x="8528400" y="21325"/>
            <a:ext cx="615600" cy="615600"/>
          </a:xfrm>
          <a:prstGeom prst="rect">
            <a:avLst/>
          </a:prstGeom>
          <a:noFill/>
          <a:ln>
            <a:noFill/>
          </a:ln>
        </p:spPr>
      </p:pic>
      <p:sp>
        <p:nvSpPr>
          <p:cNvPr id="137" name="Google Shape;137;p18"/>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solidFill>
                  <a:srgbClr val="A44200"/>
                </a:solidFill>
                <a:latin typeface="Lexend"/>
                <a:ea typeface="Lexend"/>
                <a:cs typeface="Lexend"/>
                <a:sym typeface="Lexend"/>
              </a:rPr>
              <a:t>Form meets function: maximizing sunlight exposure</a:t>
            </a:r>
            <a:endParaRPr>
              <a:solidFill>
                <a:srgbClr val="A44200"/>
              </a:solidFill>
              <a:latin typeface="Lexend"/>
              <a:ea typeface="Lexend"/>
              <a:cs typeface="Lexend"/>
              <a:sym typeface="Lexend"/>
            </a:endParaRPr>
          </a:p>
          <a:p>
            <a:pPr indent="0" lvl="0" marL="0" rtl="0" algn="l">
              <a:spcBef>
                <a:spcPts val="0"/>
              </a:spcBef>
              <a:spcAft>
                <a:spcPts val="0"/>
              </a:spcAft>
              <a:buClr>
                <a:schemeClr val="dk1"/>
              </a:buClr>
              <a:buSzPct val="39286"/>
              <a:buFont typeface="Arial"/>
              <a:buNone/>
            </a:pPr>
            <a:r>
              <a:t/>
            </a:r>
            <a:endParaRPr>
              <a:solidFill>
                <a:srgbClr val="A44200"/>
              </a:solidFill>
              <a:latin typeface="Lexend"/>
              <a:ea typeface="Lexend"/>
              <a:cs typeface="Lexend"/>
              <a:sym typeface="Lexend"/>
            </a:endParaRPr>
          </a:p>
          <a:p>
            <a:pPr indent="0" lvl="0" marL="0" rtl="0" algn="l">
              <a:spcBef>
                <a:spcPts val="0"/>
              </a:spcBef>
              <a:spcAft>
                <a:spcPts val="0"/>
              </a:spcAft>
              <a:buNone/>
            </a:pPr>
            <a:r>
              <a:t/>
            </a:r>
            <a:endParaRPr>
              <a:solidFill>
                <a:srgbClr val="A44200"/>
              </a:solidFill>
              <a:latin typeface="Lexend"/>
              <a:ea typeface="Lexend"/>
              <a:cs typeface="Lexend"/>
              <a:sym typeface="Lexend"/>
            </a:endParaRPr>
          </a:p>
        </p:txBody>
      </p:sp>
      <p:pic>
        <p:nvPicPr>
          <p:cNvPr id="138" name="Google Shape;138;p18" title="Screenshot 2025-04-06 154809.png"/>
          <p:cNvPicPr preferRelativeResize="0"/>
          <p:nvPr/>
        </p:nvPicPr>
        <p:blipFill rotWithShape="1">
          <a:blip r:embed="rId5">
            <a:alphaModFix/>
          </a:blip>
          <a:srcRect b="8534" l="0" r="0" t="8534"/>
          <a:stretch/>
        </p:blipFill>
        <p:spPr>
          <a:xfrm>
            <a:off x="6890605" y="4454895"/>
            <a:ext cx="691000" cy="685322"/>
          </a:xfrm>
          <a:prstGeom prst="rect">
            <a:avLst/>
          </a:prstGeom>
          <a:noFill/>
          <a:ln>
            <a:noFill/>
          </a:ln>
        </p:spPr>
      </p:pic>
      <p:sp>
        <p:nvSpPr>
          <p:cNvPr id="139" name="Google Shape;139;p18"/>
          <p:cNvSpPr/>
          <p:nvPr/>
        </p:nvSpPr>
        <p:spPr>
          <a:xfrm>
            <a:off x="7581600" y="4458300"/>
            <a:ext cx="1562400" cy="685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exend"/>
                <a:ea typeface="Lexend"/>
                <a:cs typeface="Lexend"/>
                <a:sym typeface="Lexend"/>
              </a:rPr>
              <a:t>Dina Magdas</a:t>
            </a:r>
            <a:endParaRPr>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19"/>
          <p:cNvPicPr preferRelativeResize="0"/>
          <p:nvPr/>
        </p:nvPicPr>
        <p:blipFill>
          <a:blip r:embed="rId3">
            <a:alphaModFix/>
          </a:blip>
          <a:stretch>
            <a:fillRect/>
          </a:stretch>
        </p:blipFill>
        <p:spPr>
          <a:xfrm>
            <a:off x="2456700" y="757038"/>
            <a:ext cx="6375601" cy="3577749"/>
          </a:xfrm>
          <a:prstGeom prst="rect">
            <a:avLst/>
          </a:prstGeom>
          <a:noFill/>
          <a:ln>
            <a:noFill/>
          </a:ln>
        </p:spPr>
      </p:pic>
      <p:sp>
        <p:nvSpPr>
          <p:cNvPr id="145" name="Google Shape;145;p19"/>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Sprout Stairs has </a:t>
            </a:r>
            <a:r>
              <a:rPr lang="en">
                <a:latin typeface="Lexend"/>
                <a:ea typeface="Lexend"/>
                <a:cs typeface="Lexend"/>
                <a:sym typeface="Lexend"/>
              </a:rPr>
              <a:t>414</a:t>
            </a:r>
            <a:r>
              <a:rPr lang="en">
                <a:solidFill>
                  <a:srgbClr val="A44200"/>
                </a:solidFill>
                <a:latin typeface="Lexend"/>
                <a:ea typeface="Lexend"/>
                <a:cs typeface="Lexend"/>
                <a:sym typeface="Lexend"/>
              </a:rPr>
              <a:t> m</a:t>
            </a:r>
            <a:r>
              <a:rPr baseline="30000" lang="en">
                <a:solidFill>
                  <a:srgbClr val="A44200"/>
                </a:solidFill>
                <a:latin typeface="Lexend"/>
                <a:ea typeface="Lexend"/>
                <a:cs typeface="Lexend"/>
                <a:sym typeface="Lexend"/>
              </a:rPr>
              <a:t>2</a:t>
            </a:r>
            <a:r>
              <a:rPr lang="en">
                <a:solidFill>
                  <a:srgbClr val="A44200"/>
                </a:solidFill>
                <a:latin typeface="Lexend"/>
                <a:ea typeface="Lexend"/>
                <a:cs typeface="Lexend"/>
                <a:sym typeface="Lexend"/>
              </a:rPr>
              <a:t> of plant growing area</a:t>
            </a:r>
            <a:endParaRPr>
              <a:solidFill>
                <a:srgbClr val="A44200"/>
              </a:solidFill>
              <a:latin typeface="Lexend"/>
              <a:ea typeface="Lexend"/>
              <a:cs typeface="Lexend"/>
              <a:sym typeface="Lexend"/>
            </a:endParaRPr>
          </a:p>
        </p:txBody>
      </p:sp>
      <p:pic>
        <p:nvPicPr>
          <p:cNvPr id="146" name="Google Shape;146;p19" title="bold.png"/>
          <p:cNvPicPr preferRelativeResize="0"/>
          <p:nvPr/>
        </p:nvPicPr>
        <p:blipFill>
          <a:blip r:embed="rId4">
            <a:alphaModFix/>
          </a:blip>
          <a:stretch>
            <a:fillRect/>
          </a:stretch>
        </p:blipFill>
        <p:spPr>
          <a:xfrm>
            <a:off x="8528400" y="21325"/>
            <a:ext cx="615600" cy="615600"/>
          </a:xfrm>
          <a:prstGeom prst="rect">
            <a:avLst/>
          </a:prstGeom>
          <a:noFill/>
          <a:ln>
            <a:noFill/>
          </a:ln>
        </p:spPr>
      </p:pic>
      <p:pic>
        <p:nvPicPr>
          <p:cNvPr id="147" name="Google Shape;147;p19"/>
          <p:cNvPicPr preferRelativeResize="0"/>
          <p:nvPr/>
        </p:nvPicPr>
        <p:blipFill rotWithShape="1">
          <a:blip r:embed="rId5">
            <a:alphaModFix/>
          </a:blip>
          <a:srcRect b="37745" l="0" r="0" t="0"/>
          <a:stretch/>
        </p:blipFill>
        <p:spPr>
          <a:xfrm>
            <a:off x="6890605" y="4454895"/>
            <a:ext cx="691000" cy="685322"/>
          </a:xfrm>
          <a:prstGeom prst="rect">
            <a:avLst/>
          </a:prstGeom>
          <a:noFill/>
          <a:ln>
            <a:noFill/>
          </a:ln>
        </p:spPr>
      </p:pic>
      <p:sp>
        <p:nvSpPr>
          <p:cNvPr id="148" name="Google Shape;148;p19"/>
          <p:cNvSpPr/>
          <p:nvPr/>
        </p:nvSpPr>
        <p:spPr>
          <a:xfrm>
            <a:off x="7581600" y="4458300"/>
            <a:ext cx="1562400" cy="685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exend"/>
                <a:ea typeface="Lexend"/>
                <a:cs typeface="Lexend"/>
                <a:sym typeface="Lexend"/>
              </a:rPr>
              <a:t>Sakina Pirbhai</a:t>
            </a:r>
            <a:endParaRPr>
              <a:latin typeface="Lexend"/>
              <a:ea typeface="Lexend"/>
              <a:cs typeface="Lexend"/>
              <a:sym typeface="Lexend"/>
            </a:endParaRPr>
          </a:p>
        </p:txBody>
      </p:sp>
      <p:sp>
        <p:nvSpPr>
          <p:cNvPr id="149" name="Google Shape;149;p19"/>
          <p:cNvSpPr/>
          <p:nvPr/>
        </p:nvSpPr>
        <p:spPr>
          <a:xfrm>
            <a:off x="194400" y="875025"/>
            <a:ext cx="2262300" cy="3338100"/>
          </a:xfrm>
          <a:prstGeom prst="rect">
            <a:avLst/>
          </a:prstGeom>
          <a:solidFill>
            <a:srgbClr val="87A290"/>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100">
                <a:solidFill>
                  <a:schemeClr val="lt1"/>
                </a:solidFill>
                <a:latin typeface="Lexend"/>
                <a:ea typeface="Lexend"/>
                <a:cs typeface="Lexend"/>
                <a:sym typeface="Lexend"/>
              </a:rPr>
              <a:t>Indoor:</a:t>
            </a:r>
            <a:endParaRPr b="1" sz="2100">
              <a:solidFill>
                <a:schemeClr val="lt1"/>
              </a:solidFill>
              <a:latin typeface="Lexend"/>
              <a:ea typeface="Lexend"/>
              <a:cs typeface="Lexend"/>
              <a:sym typeface="Lexend"/>
            </a:endParaRPr>
          </a:p>
          <a:p>
            <a:pPr indent="0" lvl="0" marL="0" rtl="0" algn="ctr">
              <a:lnSpc>
                <a:spcPct val="115000"/>
              </a:lnSpc>
              <a:spcBef>
                <a:spcPts val="0"/>
              </a:spcBef>
              <a:spcAft>
                <a:spcPts val="0"/>
              </a:spcAft>
              <a:buNone/>
            </a:pPr>
            <a:r>
              <a:rPr lang="en" sz="2100">
                <a:solidFill>
                  <a:schemeClr val="lt1"/>
                </a:solidFill>
                <a:latin typeface="Lexend"/>
                <a:ea typeface="Lexend"/>
                <a:cs typeface="Lexend"/>
                <a:sym typeface="Lexend"/>
              </a:rPr>
              <a:t>26 m</a:t>
            </a:r>
            <a:r>
              <a:rPr baseline="30000" lang="en" sz="2100">
                <a:solidFill>
                  <a:schemeClr val="lt1"/>
                </a:solidFill>
                <a:latin typeface="Lexend"/>
                <a:ea typeface="Lexend"/>
                <a:cs typeface="Lexend"/>
                <a:sym typeface="Lexend"/>
              </a:rPr>
              <a:t>2</a:t>
            </a:r>
            <a:endParaRPr baseline="30000" sz="2100">
              <a:solidFill>
                <a:schemeClr val="lt1"/>
              </a:solidFill>
              <a:latin typeface="Lexend"/>
              <a:ea typeface="Lexend"/>
              <a:cs typeface="Lexend"/>
              <a:sym typeface="Lexend"/>
            </a:endParaRPr>
          </a:p>
          <a:p>
            <a:pPr indent="0" lvl="0" marL="0" rtl="0" algn="ctr">
              <a:lnSpc>
                <a:spcPct val="115000"/>
              </a:lnSpc>
              <a:spcBef>
                <a:spcPts val="0"/>
              </a:spcBef>
              <a:spcAft>
                <a:spcPts val="0"/>
              </a:spcAft>
              <a:buClr>
                <a:schemeClr val="dk1"/>
              </a:buClr>
              <a:buSzPts val="1100"/>
              <a:buFont typeface="Arial"/>
              <a:buNone/>
            </a:pPr>
            <a:r>
              <a:rPr b="1" lang="en" sz="2100">
                <a:solidFill>
                  <a:schemeClr val="lt1"/>
                </a:solidFill>
                <a:latin typeface="Lexend"/>
                <a:ea typeface="Lexend"/>
                <a:cs typeface="Lexend"/>
                <a:sym typeface="Lexend"/>
              </a:rPr>
              <a:t>Outdoor:</a:t>
            </a:r>
            <a:endParaRPr b="1" sz="2100">
              <a:solidFill>
                <a:schemeClr val="lt1"/>
              </a:solidFill>
              <a:latin typeface="Lexend"/>
              <a:ea typeface="Lexend"/>
              <a:cs typeface="Lexend"/>
              <a:sym typeface="Lexend"/>
            </a:endParaRPr>
          </a:p>
          <a:p>
            <a:pPr indent="0" lvl="0" marL="0" rtl="0" algn="ctr">
              <a:lnSpc>
                <a:spcPct val="115000"/>
              </a:lnSpc>
              <a:spcBef>
                <a:spcPts val="0"/>
              </a:spcBef>
              <a:spcAft>
                <a:spcPts val="0"/>
              </a:spcAft>
              <a:buNone/>
            </a:pPr>
            <a:r>
              <a:rPr lang="en" sz="2100">
                <a:solidFill>
                  <a:schemeClr val="lt1"/>
                </a:solidFill>
                <a:latin typeface="Lexend"/>
                <a:ea typeface="Lexend"/>
                <a:cs typeface="Lexend"/>
                <a:sym typeface="Lexend"/>
              </a:rPr>
              <a:t>373 m</a:t>
            </a:r>
            <a:r>
              <a:rPr baseline="30000" lang="en" sz="2100">
                <a:solidFill>
                  <a:schemeClr val="lt1"/>
                </a:solidFill>
                <a:latin typeface="Lexend"/>
                <a:ea typeface="Lexend"/>
                <a:cs typeface="Lexend"/>
                <a:sym typeface="Lexend"/>
              </a:rPr>
              <a:t>2</a:t>
            </a:r>
            <a:endParaRPr baseline="30000" sz="2100">
              <a:solidFill>
                <a:schemeClr val="lt1"/>
              </a:solidFill>
              <a:latin typeface="Lexend"/>
              <a:ea typeface="Lexend"/>
              <a:cs typeface="Lexend"/>
              <a:sym typeface="Lexend"/>
            </a:endParaRPr>
          </a:p>
          <a:p>
            <a:pPr indent="0" lvl="0" marL="0" rtl="0" algn="ctr">
              <a:lnSpc>
                <a:spcPct val="115000"/>
              </a:lnSpc>
              <a:spcBef>
                <a:spcPts val="0"/>
              </a:spcBef>
              <a:spcAft>
                <a:spcPts val="0"/>
              </a:spcAft>
              <a:buNone/>
            </a:pPr>
            <a:r>
              <a:rPr b="1" lang="en" sz="2100">
                <a:solidFill>
                  <a:schemeClr val="lt1"/>
                </a:solidFill>
                <a:latin typeface="Lexend"/>
                <a:ea typeface="Lexend"/>
                <a:cs typeface="Lexend"/>
                <a:sym typeface="Lexend"/>
              </a:rPr>
              <a:t>Balcony:</a:t>
            </a:r>
            <a:endParaRPr b="1" sz="2100">
              <a:solidFill>
                <a:schemeClr val="lt1"/>
              </a:solidFill>
              <a:latin typeface="Lexend"/>
              <a:ea typeface="Lexend"/>
              <a:cs typeface="Lexend"/>
              <a:sym typeface="Lexend"/>
            </a:endParaRPr>
          </a:p>
          <a:p>
            <a:pPr indent="0" lvl="0" marL="0" rtl="0" algn="ctr">
              <a:lnSpc>
                <a:spcPct val="115000"/>
              </a:lnSpc>
              <a:spcBef>
                <a:spcPts val="0"/>
              </a:spcBef>
              <a:spcAft>
                <a:spcPts val="0"/>
              </a:spcAft>
              <a:buNone/>
            </a:pPr>
            <a:r>
              <a:rPr lang="en" sz="2100">
                <a:solidFill>
                  <a:schemeClr val="lt1"/>
                </a:solidFill>
                <a:latin typeface="Lexend"/>
                <a:ea typeface="Lexend"/>
                <a:cs typeface="Lexend"/>
                <a:sym typeface="Lexend"/>
              </a:rPr>
              <a:t>15 m</a:t>
            </a:r>
            <a:r>
              <a:rPr baseline="30000" lang="en" sz="2100">
                <a:solidFill>
                  <a:schemeClr val="lt1"/>
                </a:solidFill>
                <a:latin typeface="Lexend"/>
                <a:ea typeface="Lexend"/>
                <a:cs typeface="Lexend"/>
                <a:sym typeface="Lexend"/>
              </a:rPr>
              <a:t>2</a:t>
            </a:r>
            <a:endParaRPr baseline="30000" sz="2100">
              <a:solidFill>
                <a:schemeClr val="lt1"/>
              </a:solidFill>
              <a:latin typeface="Lexend"/>
              <a:ea typeface="Lexend"/>
              <a:cs typeface="Lexend"/>
              <a:sym typeface="Lexend"/>
            </a:endParaRPr>
          </a:p>
          <a:p>
            <a:pPr indent="0" lvl="0" marL="0" rtl="0" algn="ctr">
              <a:lnSpc>
                <a:spcPct val="115000"/>
              </a:lnSpc>
              <a:spcBef>
                <a:spcPts val="0"/>
              </a:spcBef>
              <a:spcAft>
                <a:spcPts val="0"/>
              </a:spcAft>
              <a:buNone/>
            </a:pPr>
            <a:r>
              <a:t/>
            </a:r>
            <a:endParaRPr baseline="30000" sz="2100">
              <a:solidFill>
                <a:schemeClr val="lt1"/>
              </a:solidFill>
              <a:latin typeface="Lexend"/>
              <a:ea typeface="Lexend"/>
              <a:cs typeface="Lexend"/>
              <a:sym typeface="Lexend"/>
            </a:endParaRPr>
          </a:p>
        </p:txBody>
      </p:sp>
      <p:pic>
        <p:nvPicPr>
          <p:cNvPr id="150" name="Google Shape;150;p19"/>
          <p:cNvPicPr preferRelativeResize="0"/>
          <p:nvPr/>
        </p:nvPicPr>
        <p:blipFill rotWithShape="1">
          <a:blip r:embed="rId6">
            <a:alphaModFix/>
          </a:blip>
          <a:srcRect b="32298" l="18141" r="66430" t="47300"/>
          <a:stretch/>
        </p:blipFill>
        <p:spPr>
          <a:xfrm>
            <a:off x="6890600" y="4458300"/>
            <a:ext cx="691000" cy="685325"/>
          </a:xfrm>
          <a:prstGeom prst="rect">
            <a:avLst/>
          </a:prstGeom>
          <a:noFill/>
          <a:ln>
            <a:noFill/>
          </a:ln>
        </p:spPr>
      </p:pic>
      <p:sp>
        <p:nvSpPr>
          <p:cNvPr id="151" name="Google Shape;151;p19"/>
          <p:cNvSpPr txBox="1"/>
          <p:nvPr/>
        </p:nvSpPr>
        <p:spPr>
          <a:xfrm>
            <a:off x="311700" y="4454900"/>
            <a:ext cx="790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Lexend"/>
                <a:ea typeface="Lexend"/>
                <a:cs typeface="Lexend"/>
                <a:sym typeface="Lexend"/>
              </a:rPr>
              <a:t>This aligns with our primary objective: </a:t>
            </a:r>
            <a:r>
              <a:rPr lang="en">
                <a:solidFill>
                  <a:srgbClr val="A44200"/>
                </a:solidFill>
                <a:latin typeface="Lexend"/>
                <a:ea typeface="Lexend"/>
                <a:cs typeface="Lexend"/>
                <a:sym typeface="Lexend"/>
              </a:rPr>
              <a:t>abundant food production</a:t>
            </a:r>
            <a:endParaRPr>
              <a:solidFill>
                <a:srgbClr val="A44200"/>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0"/>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There is also community area where users can purchase and cook reduced-price produce</a:t>
            </a:r>
            <a:endParaRPr>
              <a:solidFill>
                <a:srgbClr val="A44200"/>
              </a:solidFill>
              <a:latin typeface="Lexend"/>
              <a:ea typeface="Lexend"/>
              <a:cs typeface="Lexend"/>
              <a:sym typeface="Lexend"/>
            </a:endParaRPr>
          </a:p>
        </p:txBody>
      </p:sp>
      <p:pic>
        <p:nvPicPr>
          <p:cNvPr id="157" name="Google Shape;157;p20" title="bold.png"/>
          <p:cNvPicPr preferRelativeResize="0"/>
          <p:nvPr/>
        </p:nvPicPr>
        <p:blipFill>
          <a:blip r:embed="rId3">
            <a:alphaModFix/>
          </a:blip>
          <a:stretch>
            <a:fillRect/>
          </a:stretch>
        </p:blipFill>
        <p:spPr>
          <a:xfrm>
            <a:off x="8528400" y="21325"/>
            <a:ext cx="615600" cy="615600"/>
          </a:xfrm>
          <a:prstGeom prst="rect">
            <a:avLst/>
          </a:prstGeom>
          <a:noFill/>
          <a:ln>
            <a:noFill/>
          </a:ln>
        </p:spPr>
      </p:pic>
      <p:pic>
        <p:nvPicPr>
          <p:cNvPr id="158" name="Google Shape;158;p20"/>
          <p:cNvPicPr preferRelativeResize="0"/>
          <p:nvPr/>
        </p:nvPicPr>
        <p:blipFill rotWithShape="1">
          <a:blip r:embed="rId4">
            <a:alphaModFix/>
          </a:blip>
          <a:srcRect b="37745" l="0" r="0" t="0"/>
          <a:stretch/>
        </p:blipFill>
        <p:spPr>
          <a:xfrm>
            <a:off x="5" y="4454895"/>
            <a:ext cx="691000" cy="685322"/>
          </a:xfrm>
          <a:prstGeom prst="rect">
            <a:avLst/>
          </a:prstGeom>
          <a:noFill/>
          <a:ln>
            <a:noFill/>
          </a:ln>
        </p:spPr>
      </p:pic>
      <p:sp>
        <p:nvSpPr>
          <p:cNvPr id="159" name="Google Shape;159;p20"/>
          <p:cNvSpPr/>
          <p:nvPr/>
        </p:nvSpPr>
        <p:spPr>
          <a:xfrm>
            <a:off x="691000" y="4458300"/>
            <a:ext cx="1562400" cy="685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exend"/>
                <a:ea typeface="Lexend"/>
                <a:cs typeface="Lexend"/>
                <a:sym typeface="Lexend"/>
              </a:rPr>
              <a:t>Hajir Manssour</a:t>
            </a:r>
            <a:endParaRPr>
              <a:latin typeface="Lexend"/>
              <a:ea typeface="Lexend"/>
              <a:cs typeface="Lexend"/>
              <a:sym typeface="Lexend"/>
            </a:endParaRPr>
          </a:p>
        </p:txBody>
      </p:sp>
      <p:pic>
        <p:nvPicPr>
          <p:cNvPr id="160" name="Google Shape;160;p20"/>
          <p:cNvPicPr preferRelativeResize="0"/>
          <p:nvPr/>
        </p:nvPicPr>
        <p:blipFill rotWithShape="1">
          <a:blip r:embed="rId5">
            <a:alphaModFix/>
          </a:blip>
          <a:srcRect b="0" l="6603" r="0" t="0"/>
          <a:stretch/>
        </p:blipFill>
        <p:spPr>
          <a:xfrm>
            <a:off x="144550" y="1252088"/>
            <a:ext cx="4536845" cy="2732476"/>
          </a:xfrm>
          <a:prstGeom prst="rect">
            <a:avLst/>
          </a:prstGeom>
          <a:noFill/>
          <a:ln cap="flat" cmpd="sng" w="28575">
            <a:solidFill>
              <a:srgbClr val="87A290"/>
            </a:solidFill>
            <a:prstDash val="solid"/>
            <a:round/>
            <a:headEnd len="sm" w="sm" type="none"/>
            <a:tailEnd len="sm" w="sm" type="none"/>
          </a:ln>
        </p:spPr>
      </p:pic>
      <p:pic>
        <p:nvPicPr>
          <p:cNvPr id="161" name="Google Shape;161;p20"/>
          <p:cNvPicPr preferRelativeResize="0"/>
          <p:nvPr/>
        </p:nvPicPr>
        <p:blipFill rotWithShape="1">
          <a:blip r:embed="rId6">
            <a:alphaModFix/>
          </a:blip>
          <a:srcRect b="30357" l="79895" r="0" t="43057"/>
          <a:stretch/>
        </p:blipFill>
        <p:spPr>
          <a:xfrm>
            <a:off x="0" y="4454900"/>
            <a:ext cx="691000" cy="685325"/>
          </a:xfrm>
          <a:prstGeom prst="rect">
            <a:avLst/>
          </a:prstGeom>
          <a:noFill/>
          <a:ln>
            <a:noFill/>
          </a:ln>
        </p:spPr>
      </p:pic>
      <p:sp>
        <p:nvSpPr>
          <p:cNvPr id="162" name="Google Shape;162;p20"/>
          <p:cNvSpPr txBox="1"/>
          <p:nvPr/>
        </p:nvSpPr>
        <p:spPr>
          <a:xfrm>
            <a:off x="2377425" y="4495663"/>
            <a:ext cx="790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Lexend"/>
                <a:ea typeface="Lexend"/>
                <a:cs typeface="Lexend"/>
                <a:sym typeface="Lexend"/>
              </a:rPr>
              <a:t>This aligns with our secondary objective: </a:t>
            </a:r>
            <a:r>
              <a:rPr lang="en">
                <a:solidFill>
                  <a:srgbClr val="A44200"/>
                </a:solidFill>
                <a:latin typeface="Lexend"/>
                <a:ea typeface="Lexend"/>
                <a:cs typeface="Lexend"/>
                <a:sym typeface="Lexend"/>
              </a:rPr>
              <a:t>increasing community utilization</a:t>
            </a:r>
            <a:endParaRPr>
              <a:solidFill>
                <a:srgbClr val="A44200"/>
              </a:solidFill>
              <a:latin typeface="Lexend"/>
              <a:ea typeface="Lexend"/>
              <a:cs typeface="Lexend"/>
              <a:sym typeface="Lexend"/>
            </a:endParaRPr>
          </a:p>
        </p:txBody>
      </p:sp>
      <p:pic>
        <p:nvPicPr>
          <p:cNvPr id="163" name="Google Shape;163;p20"/>
          <p:cNvPicPr preferRelativeResize="0"/>
          <p:nvPr/>
        </p:nvPicPr>
        <p:blipFill rotWithShape="1">
          <a:blip r:embed="rId7">
            <a:alphaModFix/>
          </a:blip>
          <a:srcRect b="0" l="1351" r="12598" t="0"/>
          <a:stretch/>
        </p:blipFill>
        <p:spPr>
          <a:xfrm>
            <a:off x="4807073" y="1245725"/>
            <a:ext cx="4180354" cy="2732476"/>
          </a:xfrm>
          <a:prstGeom prst="rect">
            <a:avLst/>
          </a:prstGeom>
          <a:noFill/>
          <a:ln cap="flat" cmpd="sng" w="28575">
            <a:solidFill>
              <a:srgbClr val="87A290"/>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21" title="bold.png"/>
          <p:cNvPicPr preferRelativeResize="0"/>
          <p:nvPr/>
        </p:nvPicPr>
        <p:blipFill>
          <a:blip r:embed="rId3">
            <a:alphaModFix/>
          </a:blip>
          <a:stretch>
            <a:fillRect/>
          </a:stretch>
        </p:blipFill>
        <p:spPr>
          <a:xfrm>
            <a:off x="8528400" y="21325"/>
            <a:ext cx="615600" cy="615600"/>
          </a:xfrm>
          <a:prstGeom prst="rect">
            <a:avLst/>
          </a:prstGeom>
          <a:noFill/>
          <a:ln>
            <a:noFill/>
          </a:ln>
        </p:spPr>
      </p:pic>
      <p:pic>
        <p:nvPicPr>
          <p:cNvPr id="169" name="Google Shape;169;p21" title="SE copy.jpg"/>
          <p:cNvPicPr preferRelativeResize="0"/>
          <p:nvPr/>
        </p:nvPicPr>
        <p:blipFill>
          <a:blip r:embed="rId4">
            <a:alphaModFix/>
          </a:blip>
          <a:stretch>
            <a:fillRect/>
          </a:stretch>
        </p:blipFill>
        <p:spPr>
          <a:xfrm>
            <a:off x="3254698" y="1487162"/>
            <a:ext cx="2634626" cy="2378480"/>
          </a:xfrm>
          <a:prstGeom prst="rect">
            <a:avLst/>
          </a:prstGeom>
          <a:noFill/>
          <a:ln cap="flat" cmpd="sng" w="28575">
            <a:solidFill>
              <a:srgbClr val="87A290"/>
            </a:solidFill>
            <a:prstDash val="solid"/>
            <a:round/>
            <a:headEnd len="sm" w="sm" type="none"/>
            <a:tailEnd len="sm" w="sm" type="none"/>
          </a:ln>
        </p:spPr>
      </p:pic>
      <p:pic>
        <p:nvPicPr>
          <p:cNvPr id="170" name="Google Shape;170;p21" title="SS copy.jpg"/>
          <p:cNvPicPr preferRelativeResize="0"/>
          <p:nvPr/>
        </p:nvPicPr>
        <p:blipFill>
          <a:blip r:embed="rId5">
            <a:alphaModFix/>
          </a:blip>
          <a:stretch>
            <a:fillRect/>
          </a:stretch>
        </p:blipFill>
        <p:spPr>
          <a:xfrm>
            <a:off x="6312348" y="1484557"/>
            <a:ext cx="2634626" cy="2383689"/>
          </a:xfrm>
          <a:prstGeom prst="rect">
            <a:avLst/>
          </a:prstGeom>
          <a:noFill/>
          <a:ln cap="flat" cmpd="sng" w="28575">
            <a:solidFill>
              <a:srgbClr val="87A290"/>
            </a:solidFill>
            <a:prstDash val="solid"/>
            <a:round/>
            <a:headEnd len="sm" w="sm" type="none"/>
            <a:tailEnd len="sm" w="sm" type="none"/>
          </a:ln>
        </p:spPr>
      </p:pic>
      <p:pic>
        <p:nvPicPr>
          <p:cNvPr id="171" name="Google Shape;171;p21" title="WS copy.jpg"/>
          <p:cNvPicPr preferRelativeResize="0"/>
          <p:nvPr/>
        </p:nvPicPr>
        <p:blipFill>
          <a:blip r:embed="rId6">
            <a:alphaModFix/>
          </a:blip>
          <a:stretch>
            <a:fillRect/>
          </a:stretch>
        </p:blipFill>
        <p:spPr>
          <a:xfrm>
            <a:off x="249950" y="1484548"/>
            <a:ext cx="2634626" cy="2383700"/>
          </a:xfrm>
          <a:prstGeom prst="rect">
            <a:avLst/>
          </a:prstGeom>
          <a:noFill/>
          <a:ln cap="flat" cmpd="sng" w="28575">
            <a:solidFill>
              <a:srgbClr val="87A290"/>
            </a:solidFill>
            <a:prstDash val="solid"/>
            <a:round/>
            <a:headEnd len="sm" w="sm" type="none"/>
            <a:tailEnd len="sm" w="sm" type="none"/>
          </a:ln>
        </p:spPr>
      </p:pic>
      <p:sp>
        <p:nvSpPr>
          <p:cNvPr id="172" name="Google Shape;172;p21"/>
          <p:cNvSpPr/>
          <p:nvPr/>
        </p:nvSpPr>
        <p:spPr>
          <a:xfrm>
            <a:off x="691000" y="4458300"/>
            <a:ext cx="1562400" cy="685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exend"/>
                <a:ea typeface="Lexend"/>
                <a:cs typeface="Lexend"/>
                <a:sym typeface="Lexend"/>
              </a:rPr>
              <a:t>Sakina Pirbhai</a:t>
            </a:r>
            <a:endParaRPr>
              <a:latin typeface="Lexend"/>
              <a:ea typeface="Lexend"/>
              <a:cs typeface="Lexend"/>
              <a:sym typeface="Lexend"/>
            </a:endParaRPr>
          </a:p>
        </p:txBody>
      </p:sp>
      <p:sp>
        <p:nvSpPr>
          <p:cNvPr id="173" name="Google Shape;173;p21"/>
          <p:cNvSpPr txBox="1"/>
          <p:nvPr>
            <p:ph idx="1" type="body"/>
          </p:nvPr>
        </p:nvSpPr>
        <p:spPr>
          <a:xfrm>
            <a:off x="601563" y="3865650"/>
            <a:ext cx="1931400" cy="2583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1200"/>
              </a:spcAft>
              <a:buNone/>
            </a:pPr>
            <a:r>
              <a:rPr lang="en" sz="1400">
                <a:solidFill>
                  <a:schemeClr val="dk1"/>
                </a:solidFill>
                <a:latin typeface="Lexend"/>
                <a:ea typeface="Lexend"/>
                <a:cs typeface="Lexend"/>
                <a:sym typeface="Lexend"/>
              </a:rPr>
              <a:t>Winter solstice</a:t>
            </a:r>
            <a:endParaRPr sz="1300">
              <a:solidFill>
                <a:schemeClr val="dk1"/>
              </a:solidFill>
              <a:latin typeface="Lexend"/>
              <a:ea typeface="Lexend"/>
              <a:cs typeface="Lexend"/>
              <a:sym typeface="Lexend"/>
            </a:endParaRPr>
          </a:p>
        </p:txBody>
      </p:sp>
      <p:sp>
        <p:nvSpPr>
          <p:cNvPr id="174" name="Google Shape;174;p21"/>
          <p:cNvSpPr txBox="1"/>
          <p:nvPr>
            <p:ph idx="1" type="body"/>
          </p:nvPr>
        </p:nvSpPr>
        <p:spPr>
          <a:xfrm>
            <a:off x="3379200" y="3865650"/>
            <a:ext cx="2385600" cy="6852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1200"/>
              </a:spcAft>
              <a:buNone/>
            </a:pPr>
            <a:r>
              <a:rPr lang="en" sz="1400">
                <a:solidFill>
                  <a:schemeClr val="dk1"/>
                </a:solidFill>
                <a:latin typeface="Lexend"/>
                <a:ea typeface="Lexend"/>
                <a:cs typeface="Lexend"/>
                <a:sym typeface="Lexend"/>
              </a:rPr>
              <a:t>Spring/fall equinox</a:t>
            </a:r>
            <a:endParaRPr sz="1300">
              <a:solidFill>
                <a:schemeClr val="dk1"/>
              </a:solidFill>
              <a:latin typeface="Lexend"/>
              <a:ea typeface="Lexend"/>
              <a:cs typeface="Lexend"/>
              <a:sym typeface="Lexend"/>
            </a:endParaRPr>
          </a:p>
        </p:txBody>
      </p:sp>
      <p:sp>
        <p:nvSpPr>
          <p:cNvPr id="175" name="Google Shape;175;p21"/>
          <p:cNvSpPr txBox="1"/>
          <p:nvPr>
            <p:ph idx="1" type="body"/>
          </p:nvPr>
        </p:nvSpPr>
        <p:spPr>
          <a:xfrm>
            <a:off x="6663963" y="3865650"/>
            <a:ext cx="1931400" cy="6852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1200"/>
              </a:spcAft>
              <a:buNone/>
            </a:pPr>
            <a:r>
              <a:rPr lang="en" sz="1400">
                <a:solidFill>
                  <a:schemeClr val="dk1"/>
                </a:solidFill>
                <a:latin typeface="Lexend"/>
                <a:ea typeface="Lexend"/>
                <a:cs typeface="Lexend"/>
                <a:sym typeface="Lexend"/>
              </a:rPr>
              <a:t>Summer </a:t>
            </a:r>
            <a:r>
              <a:rPr lang="en" sz="1400">
                <a:solidFill>
                  <a:schemeClr val="dk1"/>
                </a:solidFill>
                <a:latin typeface="Lexend"/>
                <a:ea typeface="Lexend"/>
                <a:cs typeface="Lexend"/>
                <a:sym typeface="Lexend"/>
              </a:rPr>
              <a:t>solstice</a:t>
            </a:r>
            <a:endParaRPr sz="1300">
              <a:solidFill>
                <a:schemeClr val="dk1"/>
              </a:solidFill>
              <a:latin typeface="Lexend"/>
              <a:ea typeface="Lexend"/>
              <a:cs typeface="Lexend"/>
              <a:sym typeface="Lexend"/>
            </a:endParaRPr>
          </a:p>
        </p:txBody>
      </p:sp>
      <p:sp>
        <p:nvSpPr>
          <p:cNvPr id="176" name="Google Shape;176;p21"/>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Shadow patterns greatly influenced greenhouse position and orientation</a:t>
            </a:r>
            <a:endParaRPr>
              <a:solidFill>
                <a:srgbClr val="A44200"/>
              </a:solidFill>
              <a:latin typeface="Lexend"/>
              <a:ea typeface="Lexend"/>
              <a:cs typeface="Lexend"/>
              <a:sym typeface="Lexend"/>
            </a:endParaRPr>
          </a:p>
        </p:txBody>
      </p:sp>
      <p:pic>
        <p:nvPicPr>
          <p:cNvPr id="177" name="Google Shape;177;p21"/>
          <p:cNvPicPr preferRelativeResize="0"/>
          <p:nvPr/>
        </p:nvPicPr>
        <p:blipFill rotWithShape="1">
          <a:blip r:embed="rId7">
            <a:alphaModFix/>
          </a:blip>
          <a:srcRect b="32298" l="18141" r="66430" t="47300"/>
          <a:stretch/>
        </p:blipFill>
        <p:spPr>
          <a:xfrm>
            <a:off x="0" y="4458238"/>
            <a:ext cx="691000" cy="685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The community had a large impact on our logistical design decisions</a:t>
            </a:r>
            <a:endParaRPr>
              <a:solidFill>
                <a:srgbClr val="A44200"/>
              </a:solidFill>
              <a:latin typeface="Lexend"/>
              <a:ea typeface="Lexend"/>
              <a:cs typeface="Lexend"/>
              <a:sym typeface="Lexend"/>
            </a:endParaRPr>
          </a:p>
        </p:txBody>
      </p:sp>
      <p:sp>
        <p:nvSpPr>
          <p:cNvPr id="183" name="Google Shape;183;p22"/>
          <p:cNvSpPr/>
          <p:nvPr/>
        </p:nvSpPr>
        <p:spPr>
          <a:xfrm>
            <a:off x="691000" y="4458300"/>
            <a:ext cx="1562400" cy="685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exend"/>
                <a:ea typeface="Lexend"/>
                <a:cs typeface="Lexend"/>
                <a:sym typeface="Lexend"/>
              </a:rPr>
              <a:t>Francesca Mangano</a:t>
            </a:r>
            <a:endParaRPr>
              <a:latin typeface="Lexend"/>
              <a:ea typeface="Lexend"/>
              <a:cs typeface="Lexend"/>
              <a:sym typeface="Lexend"/>
            </a:endParaRPr>
          </a:p>
        </p:txBody>
      </p:sp>
      <p:pic>
        <p:nvPicPr>
          <p:cNvPr id="184" name="Google Shape;184;p22" title="bold.png"/>
          <p:cNvPicPr preferRelativeResize="0"/>
          <p:nvPr/>
        </p:nvPicPr>
        <p:blipFill>
          <a:blip r:embed="rId3">
            <a:alphaModFix/>
          </a:blip>
          <a:stretch>
            <a:fillRect/>
          </a:stretch>
        </p:blipFill>
        <p:spPr>
          <a:xfrm>
            <a:off x="8528400" y="21325"/>
            <a:ext cx="615600" cy="615600"/>
          </a:xfrm>
          <a:prstGeom prst="rect">
            <a:avLst/>
          </a:prstGeom>
          <a:noFill/>
          <a:ln>
            <a:noFill/>
          </a:ln>
        </p:spPr>
      </p:pic>
      <p:sp>
        <p:nvSpPr>
          <p:cNvPr id="185" name="Google Shape;185;p22"/>
          <p:cNvSpPr/>
          <p:nvPr/>
        </p:nvSpPr>
        <p:spPr>
          <a:xfrm>
            <a:off x="471025" y="1586625"/>
            <a:ext cx="2908800" cy="340500"/>
          </a:xfrm>
          <a:prstGeom prst="rect">
            <a:avLst/>
          </a:prstGeom>
          <a:solidFill>
            <a:srgbClr val="87A290"/>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exend"/>
                <a:ea typeface="Lexend"/>
                <a:cs typeface="Lexend"/>
                <a:sym typeface="Lexend"/>
              </a:rPr>
              <a:t>Management and Logistics</a:t>
            </a:r>
            <a:endParaRPr>
              <a:solidFill>
                <a:schemeClr val="lt1"/>
              </a:solidFill>
              <a:latin typeface="Lexend"/>
              <a:ea typeface="Lexend"/>
              <a:cs typeface="Lexend"/>
              <a:sym typeface="Lexend"/>
            </a:endParaRPr>
          </a:p>
        </p:txBody>
      </p:sp>
      <p:sp>
        <p:nvSpPr>
          <p:cNvPr id="186" name="Google Shape;186;p22"/>
          <p:cNvSpPr/>
          <p:nvPr/>
        </p:nvSpPr>
        <p:spPr>
          <a:xfrm>
            <a:off x="481075" y="2037825"/>
            <a:ext cx="2908800" cy="1612200"/>
          </a:xfrm>
          <a:prstGeom prst="rect">
            <a:avLst/>
          </a:prstGeom>
          <a:noFill/>
          <a:ln cap="flat" cmpd="sng" w="28575">
            <a:solidFill>
              <a:srgbClr val="ABBF95"/>
            </a:solidFill>
            <a:prstDash val="solid"/>
            <a:round/>
            <a:headEnd len="sm" w="sm" type="none"/>
            <a:tailEnd len="sm" w="sm" type="none"/>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Maximum cost per pound: </a:t>
            </a:r>
            <a:r>
              <a:rPr lang="en" sz="1200">
                <a:solidFill>
                  <a:srgbClr val="A44200"/>
                </a:solidFill>
                <a:latin typeface="Lexend"/>
                <a:ea typeface="Lexend"/>
                <a:cs typeface="Lexend"/>
                <a:sym typeface="Lexend"/>
              </a:rPr>
              <a:t>50¢</a:t>
            </a:r>
            <a:endParaRPr sz="1200">
              <a:solidFill>
                <a:srgbClr val="A44200"/>
              </a:solidFill>
              <a:latin typeface="Lexend"/>
              <a:ea typeface="Lexend"/>
              <a:cs typeface="Lexend"/>
              <a:sym typeface="Lexend"/>
            </a:endParaRPr>
          </a:p>
          <a:p>
            <a:pPr indent="-304800" lvl="1" marL="914400" rtl="0" algn="l">
              <a:spcBef>
                <a:spcPts val="0"/>
              </a:spcBef>
              <a:spcAft>
                <a:spcPts val="0"/>
              </a:spcAft>
              <a:buClr>
                <a:schemeClr val="dk1"/>
              </a:buClr>
              <a:buSzPts val="1200"/>
              <a:buFont typeface="Lexend"/>
              <a:buChar char="○"/>
            </a:pPr>
            <a:r>
              <a:rPr lang="en" sz="1200">
                <a:solidFill>
                  <a:srgbClr val="A44200"/>
                </a:solidFill>
                <a:latin typeface="Lexend"/>
                <a:ea typeface="Lexend"/>
                <a:cs typeface="Lexend"/>
                <a:sym typeface="Lexend"/>
              </a:rPr>
              <a:t>35%</a:t>
            </a:r>
            <a:r>
              <a:rPr lang="en" sz="1200">
                <a:solidFill>
                  <a:schemeClr val="dk1"/>
                </a:solidFill>
                <a:latin typeface="Lexend"/>
                <a:ea typeface="Lexend"/>
                <a:cs typeface="Lexend"/>
                <a:sym typeface="Lexend"/>
              </a:rPr>
              <a:t> off university student discount (must show ID)</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1 manager on site</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Financed by donors/partnerships and profit from sales</a:t>
            </a:r>
            <a:endParaRPr sz="1200">
              <a:solidFill>
                <a:schemeClr val="dk1"/>
              </a:solidFill>
              <a:latin typeface="Lexend"/>
              <a:ea typeface="Lexend"/>
              <a:cs typeface="Lexend"/>
              <a:sym typeface="Lexend"/>
            </a:endParaRPr>
          </a:p>
        </p:txBody>
      </p:sp>
      <p:pic>
        <p:nvPicPr>
          <p:cNvPr id="187" name="Google Shape;187;p22" title="veg portrait.jpg"/>
          <p:cNvPicPr preferRelativeResize="0"/>
          <p:nvPr/>
        </p:nvPicPr>
        <p:blipFill rotWithShape="1">
          <a:blip r:embed="rId4">
            <a:alphaModFix/>
          </a:blip>
          <a:srcRect b="17934" l="0" r="0" t="16805"/>
          <a:stretch/>
        </p:blipFill>
        <p:spPr>
          <a:xfrm>
            <a:off x="4272361" y="914051"/>
            <a:ext cx="4141389" cy="3822623"/>
          </a:xfrm>
          <a:prstGeom prst="rect">
            <a:avLst/>
          </a:prstGeom>
          <a:noFill/>
          <a:ln>
            <a:noFill/>
          </a:ln>
        </p:spPr>
      </p:pic>
      <p:sp>
        <p:nvSpPr>
          <p:cNvPr id="188" name="Google Shape;188;p22"/>
          <p:cNvSpPr/>
          <p:nvPr/>
        </p:nvSpPr>
        <p:spPr>
          <a:xfrm>
            <a:off x="3931950" y="3261950"/>
            <a:ext cx="690900" cy="435000"/>
          </a:xfrm>
          <a:prstGeom prst="rect">
            <a:avLst/>
          </a:prstGeom>
          <a:noFill/>
          <a:ln cap="flat" cmpd="sng" w="19050">
            <a:solidFill>
              <a:srgbClr val="ABBF9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Lexend"/>
                <a:ea typeface="Lexend"/>
                <a:cs typeface="Lexend"/>
                <a:sym typeface="Lexend"/>
              </a:rPr>
              <a:t>Herbs</a:t>
            </a:r>
            <a:endParaRPr sz="1200">
              <a:solidFill>
                <a:schemeClr val="dk1"/>
              </a:solidFill>
              <a:latin typeface="Lexend"/>
              <a:ea typeface="Lexend"/>
              <a:cs typeface="Lexend"/>
              <a:sym typeface="Lexend"/>
            </a:endParaRPr>
          </a:p>
        </p:txBody>
      </p:sp>
      <p:sp>
        <p:nvSpPr>
          <p:cNvPr id="189" name="Google Shape;189;p22"/>
          <p:cNvSpPr/>
          <p:nvPr/>
        </p:nvSpPr>
        <p:spPr>
          <a:xfrm>
            <a:off x="7629750" y="1472375"/>
            <a:ext cx="1039800" cy="572700"/>
          </a:xfrm>
          <a:prstGeom prst="rect">
            <a:avLst/>
          </a:prstGeom>
          <a:noFill/>
          <a:ln cap="flat" cmpd="sng" w="19050">
            <a:solidFill>
              <a:srgbClr val="ABBF9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Lexend"/>
                <a:ea typeface="Lexend"/>
                <a:cs typeface="Lexend"/>
                <a:sym typeface="Lexend"/>
              </a:rPr>
              <a:t>Winter produce</a:t>
            </a:r>
            <a:endParaRPr sz="1200">
              <a:solidFill>
                <a:schemeClr val="dk1"/>
              </a:solidFill>
              <a:latin typeface="Lexend"/>
              <a:ea typeface="Lexend"/>
              <a:cs typeface="Lexend"/>
              <a:sym typeface="Lexend"/>
            </a:endParaRPr>
          </a:p>
        </p:txBody>
      </p:sp>
      <p:sp>
        <p:nvSpPr>
          <p:cNvPr id="190" name="Google Shape;190;p22"/>
          <p:cNvSpPr/>
          <p:nvPr/>
        </p:nvSpPr>
        <p:spPr>
          <a:xfrm>
            <a:off x="5171600" y="4454900"/>
            <a:ext cx="1039800" cy="572700"/>
          </a:xfrm>
          <a:prstGeom prst="rect">
            <a:avLst/>
          </a:prstGeom>
          <a:noFill/>
          <a:ln cap="flat" cmpd="sng" w="19050">
            <a:solidFill>
              <a:srgbClr val="ABBF9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Lexend"/>
                <a:ea typeface="Lexend"/>
                <a:cs typeface="Lexend"/>
                <a:sym typeface="Lexend"/>
              </a:rPr>
              <a:t>Summer </a:t>
            </a:r>
            <a:r>
              <a:rPr lang="en" sz="1200">
                <a:solidFill>
                  <a:schemeClr val="dk1"/>
                </a:solidFill>
                <a:latin typeface="Lexend"/>
                <a:ea typeface="Lexend"/>
                <a:cs typeface="Lexend"/>
                <a:sym typeface="Lexend"/>
              </a:rPr>
              <a:t>produce</a:t>
            </a:r>
            <a:endParaRPr sz="1200">
              <a:solidFill>
                <a:schemeClr val="dk1"/>
              </a:solidFill>
              <a:latin typeface="Lexend"/>
              <a:ea typeface="Lexend"/>
              <a:cs typeface="Lexend"/>
              <a:sym typeface="Lexend"/>
            </a:endParaRPr>
          </a:p>
        </p:txBody>
      </p:sp>
      <p:sp>
        <p:nvSpPr>
          <p:cNvPr id="191" name="Google Shape;191;p22"/>
          <p:cNvSpPr/>
          <p:nvPr/>
        </p:nvSpPr>
        <p:spPr>
          <a:xfrm>
            <a:off x="7961000" y="3261950"/>
            <a:ext cx="1039800" cy="572700"/>
          </a:xfrm>
          <a:prstGeom prst="rect">
            <a:avLst/>
          </a:prstGeom>
          <a:noFill/>
          <a:ln cap="flat" cmpd="sng" w="19050">
            <a:solidFill>
              <a:srgbClr val="ABBF9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Lexend"/>
                <a:ea typeface="Lexend"/>
                <a:cs typeface="Lexend"/>
                <a:sym typeface="Lexend"/>
              </a:rPr>
              <a:t>Indigenous</a:t>
            </a:r>
            <a:r>
              <a:rPr lang="en" sz="1200">
                <a:solidFill>
                  <a:schemeClr val="dk1"/>
                </a:solidFill>
                <a:latin typeface="Lexend"/>
                <a:ea typeface="Lexend"/>
                <a:cs typeface="Lexend"/>
                <a:sym typeface="Lexend"/>
              </a:rPr>
              <a:t> berries</a:t>
            </a:r>
            <a:endParaRPr sz="1200">
              <a:solidFill>
                <a:schemeClr val="dk1"/>
              </a:solidFill>
              <a:latin typeface="Lexend"/>
              <a:ea typeface="Lexend"/>
              <a:cs typeface="Lexend"/>
              <a:sym typeface="Lexend"/>
            </a:endParaRPr>
          </a:p>
        </p:txBody>
      </p:sp>
      <p:pic>
        <p:nvPicPr>
          <p:cNvPr id="192" name="Google Shape;192;p22"/>
          <p:cNvPicPr preferRelativeResize="0"/>
          <p:nvPr/>
        </p:nvPicPr>
        <p:blipFill rotWithShape="1">
          <a:blip r:embed="rId5">
            <a:alphaModFix/>
          </a:blip>
          <a:srcRect b="28087" l="32564" r="51310" t="50593"/>
          <a:stretch/>
        </p:blipFill>
        <p:spPr>
          <a:xfrm>
            <a:off x="0" y="4458300"/>
            <a:ext cx="691000" cy="6852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The following virtual systems were implemented to align with our foundational objectives</a:t>
            </a:r>
            <a:endParaRPr>
              <a:solidFill>
                <a:srgbClr val="A44200"/>
              </a:solidFill>
              <a:latin typeface="Lexend"/>
              <a:ea typeface="Lexend"/>
              <a:cs typeface="Lexend"/>
              <a:sym typeface="Lexend"/>
            </a:endParaRPr>
          </a:p>
        </p:txBody>
      </p:sp>
      <p:sp>
        <p:nvSpPr>
          <p:cNvPr id="198" name="Google Shape;198;p23"/>
          <p:cNvSpPr/>
          <p:nvPr/>
        </p:nvSpPr>
        <p:spPr>
          <a:xfrm>
            <a:off x="691000" y="4458300"/>
            <a:ext cx="1562400" cy="685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exend"/>
                <a:ea typeface="Lexend"/>
                <a:cs typeface="Lexend"/>
                <a:sym typeface="Lexend"/>
              </a:rPr>
              <a:t>Hajir Manssour</a:t>
            </a:r>
            <a:endParaRPr>
              <a:latin typeface="Lexend"/>
              <a:ea typeface="Lexend"/>
              <a:cs typeface="Lexend"/>
              <a:sym typeface="Lexend"/>
            </a:endParaRPr>
          </a:p>
        </p:txBody>
      </p:sp>
      <p:pic>
        <p:nvPicPr>
          <p:cNvPr id="199" name="Google Shape;199;p23" title="bold.png"/>
          <p:cNvPicPr preferRelativeResize="0"/>
          <p:nvPr/>
        </p:nvPicPr>
        <p:blipFill>
          <a:blip r:embed="rId3">
            <a:alphaModFix/>
          </a:blip>
          <a:stretch>
            <a:fillRect/>
          </a:stretch>
        </p:blipFill>
        <p:spPr>
          <a:xfrm>
            <a:off x="8528400" y="21325"/>
            <a:ext cx="615600" cy="615600"/>
          </a:xfrm>
          <a:prstGeom prst="rect">
            <a:avLst/>
          </a:prstGeom>
          <a:noFill/>
          <a:ln>
            <a:noFill/>
          </a:ln>
        </p:spPr>
      </p:pic>
      <p:pic>
        <p:nvPicPr>
          <p:cNvPr id="200" name="Google Shape;200;p23"/>
          <p:cNvPicPr preferRelativeResize="0"/>
          <p:nvPr/>
        </p:nvPicPr>
        <p:blipFill rotWithShape="1">
          <a:blip r:embed="rId4">
            <a:alphaModFix/>
          </a:blip>
          <a:srcRect b="28087" l="32564" r="51310" t="50593"/>
          <a:stretch/>
        </p:blipFill>
        <p:spPr>
          <a:xfrm>
            <a:off x="0" y="4458300"/>
            <a:ext cx="691000" cy="685202"/>
          </a:xfrm>
          <a:prstGeom prst="rect">
            <a:avLst/>
          </a:prstGeom>
          <a:noFill/>
          <a:ln>
            <a:noFill/>
          </a:ln>
        </p:spPr>
      </p:pic>
      <p:pic>
        <p:nvPicPr>
          <p:cNvPr id="201" name="Google Shape;201;p23"/>
          <p:cNvPicPr preferRelativeResize="0"/>
          <p:nvPr/>
        </p:nvPicPr>
        <p:blipFill rotWithShape="1">
          <a:blip r:embed="rId4">
            <a:alphaModFix/>
          </a:blip>
          <a:srcRect b="30357" l="79895" r="0" t="43057"/>
          <a:stretch/>
        </p:blipFill>
        <p:spPr>
          <a:xfrm>
            <a:off x="0" y="4458238"/>
            <a:ext cx="691000" cy="685325"/>
          </a:xfrm>
          <a:prstGeom prst="rect">
            <a:avLst/>
          </a:prstGeom>
          <a:noFill/>
          <a:ln>
            <a:noFill/>
          </a:ln>
        </p:spPr>
      </p:pic>
      <p:sp>
        <p:nvSpPr>
          <p:cNvPr id="202" name="Google Shape;202;p23"/>
          <p:cNvSpPr/>
          <p:nvPr/>
        </p:nvSpPr>
        <p:spPr>
          <a:xfrm>
            <a:off x="4908863" y="1255150"/>
            <a:ext cx="1373100" cy="798600"/>
          </a:xfrm>
          <a:prstGeom prst="rect">
            <a:avLst/>
          </a:prstGeom>
          <a:solidFill>
            <a:srgbClr val="87A290"/>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exend"/>
                <a:ea typeface="Lexend"/>
                <a:cs typeface="Lexend"/>
                <a:sym typeface="Lexend"/>
              </a:rPr>
              <a:t>Rainwater efficiency</a:t>
            </a:r>
            <a:endParaRPr sz="1200">
              <a:solidFill>
                <a:schemeClr val="lt1"/>
              </a:solidFill>
              <a:latin typeface="Lexend"/>
              <a:ea typeface="Lexend"/>
              <a:cs typeface="Lexend"/>
              <a:sym typeface="Lexend"/>
            </a:endParaRPr>
          </a:p>
        </p:txBody>
      </p:sp>
      <p:sp>
        <p:nvSpPr>
          <p:cNvPr id="203" name="Google Shape;203;p23"/>
          <p:cNvSpPr/>
          <p:nvPr/>
        </p:nvSpPr>
        <p:spPr>
          <a:xfrm>
            <a:off x="4908863" y="3591350"/>
            <a:ext cx="1373100" cy="798600"/>
          </a:xfrm>
          <a:prstGeom prst="rect">
            <a:avLst/>
          </a:prstGeom>
          <a:solidFill>
            <a:srgbClr val="87A290"/>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exend"/>
                <a:ea typeface="Lexend"/>
                <a:cs typeface="Lexend"/>
                <a:sym typeface="Lexend"/>
              </a:rPr>
              <a:t>Thermal stability</a:t>
            </a:r>
            <a:endParaRPr sz="1200">
              <a:solidFill>
                <a:schemeClr val="lt1"/>
              </a:solidFill>
              <a:latin typeface="Lexend"/>
              <a:ea typeface="Lexend"/>
              <a:cs typeface="Lexend"/>
              <a:sym typeface="Lexend"/>
            </a:endParaRPr>
          </a:p>
        </p:txBody>
      </p:sp>
      <p:sp>
        <p:nvSpPr>
          <p:cNvPr id="204" name="Google Shape;204;p23"/>
          <p:cNvSpPr/>
          <p:nvPr/>
        </p:nvSpPr>
        <p:spPr>
          <a:xfrm>
            <a:off x="4908875" y="2115600"/>
            <a:ext cx="1373100" cy="1413900"/>
          </a:xfrm>
          <a:prstGeom prst="rect">
            <a:avLst/>
          </a:prstGeom>
          <a:solidFill>
            <a:srgbClr val="87A290"/>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exend"/>
                <a:ea typeface="Lexend"/>
                <a:cs typeface="Lexend"/>
                <a:sym typeface="Lexend"/>
              </a:rPr>
              <a:t>Optimized lighting</a:t>
            </a:r>
            <a:endParaRPr sz="1200">
              <a:solidFill>
                <a:schemeClr val="lt1"/>
              </a:solidFill>
              <a:latin typeface="Lexend"/>
              <a:ea typeface="Lexend"/>
              <a:cs typeface="Lexend"/>
              <a:sym typeface="Lexend"/>
            </a:endParaRPr>
          </a:p>
        </p:txBody>
      </p:sp>
      <p:sp>
        <p:nvSpPr>
          <p:cNvPr id="205" name="Google Shape;205;p23"/>
          <p:cNvSpPr/>
          <p:nvPr/>
        </p:nvSpPr>
        <p:spPr>
          <a:xfrm>
            <a:off x="6353838" y="1255150"/>
            <a:ext cx="2678100" cy="798600"/>
          </a:xfrm>
          <a:prstGeom prst="rect">
            <a:avLst/>
          </a:prstGeom>
          <a:noFill/>
          <a:ln cap="flat" cmpd="sng" w="28575">
            <a:solidFill>
              <a:srgbClr val="ABBF95"/>
            </a:solidFill>
            <a:prstDash val="solid"/>
            <a:round/>
            <a:headEnd len="sm" w="sm" type="none"/>
            <a:tailEnd len="sm" w="sm" type="none"/>
          </a:ln>
        </p:spPr>
        <p:txBody>
          <a:bodyPr anchorCtr="0" anchor="ctr" bIns="91425" lIns="91425" spcFirstLastPara="1" rIns="91425" wrap="square" tIns="91425">
            <a:noAutofit/>
          </a:bodyPr>
          <a:lstStyle/>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Rainwater collection system</a:t>
            </a:r>
            <a:endParaRPr sz="1200">
              <a:solidFill>
                <a:schemeClr val="dk1"/>
              </a:solidFill>
              <a:latin typeface="Lexend"/>
              <a:ea typeface="Lexend"/>
              <a:cs typeface="Lexend"/>
              <a:sym typeface="Lexend"/>
            </a:endParaRPr>
          </a:p>
          <a:p>
            <a:pPr indent="-304800" lvl="1" marL="9144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Used for irrigation</a:t>
            </a:r>
            <a:endParaRPr sz="1200">
              <a:solidFill>
                <a:schemeClr val="dk1"/>
              </a:solidFill>
              <a:latin typeface="Lexend"/>
              <a:ea typeface="Lexend"/>
              <a:cs typeface="Lexend"/>
              <a:sym typeface="Lexend"/>
            </a:endParaRPr>
          </a:p>
        </p:txBody>
      </p:sp>
      <p:sp>
        <p:nvSpPr>
          <p:cNvPr id="206" name="Google Shape;206;p23"/>
          <p:cNvSpPr/>
          <p:nvPr/>
        </p:nvSpPr>
        <p:spPr>
          <a:xfrm>
            <a:off x="6353838" y="3591350"/>
            <a:ext cx="2678100" cy="798600"/>
          </a:xfrm>
          <a:prstGeom prst="rect">
            <a:avLst/>
          </a:prstGeom>
          <a:noFill/>
          <a:ln cap="flat" cmpd="sng" w="28575">
            <a:solidFill>
              <a:srgbClr val="ABBF95"/>
            </a:solidFill>
            <a:prstDash val="solid"/>
            <a:round/>
            <a:headEnd len="sm" w="sm" type="none"/>
            <a:tailEnd len="sm" w="sm" type="none"/>
          </a:ln>
        </p:spPr>
        <p:txBody>
          <a:bodyPr anchorCtr="0" anchor="ctr" bIns="91425" lIns="91425" spcFirstLastPara="1" rIns="91425" wrap="square" tIns="91425">
            <a:noAutofit/>
          </a:bodyPr>
          <a:lstStyle/>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Operable windows</a:t>
            </a:r>
            <a:endParaRPr sz="1200">
              <a:solidFill>
                <a:schemeClr val="dk1"/>
              </a:solidFill>
              <a:latin typeface="Lexend"/>
              <a:ea typeface="Lexend"/>
              <a:cs typeface="Lexend"/>
              <a:sym typeface="Lexend"/>
            </a:endParaRPr>
          </a:p>
          <a:p>
            <a:pPr indent="-304800" lvl="1" marL="9144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Passive ventilation</a:t>
            </a:r>
            <a:endParaRPr sz="1200">
              <a:solidFill>
                <a:schemeClr val="dk1"/>
              </a:solidFill>
              <a:latin typeface="Lexend"/>
              <a:ea typeface="Lexend"/>
              <a:cs typeface="Lexend"/>
              <a:sym typeface="Lexend"/>
            </a:endParaRPr>
          </a:p>
        </p:txBody>
      </p:sp>
      <p:sp>
        <p:nvSpPr>
          <p:cNvPr id="207" name="Google Shape;207;p23"/>
          <p:cNvSpPr/>
          <p:nvPr/>
        </p:nvSpPr>
        <p:spPr>
          <a:xfrm>
            <a:off x="6353850" y="2115600"/>
            <a:ext cx="2678100" cy="1413900"/>
          </a:xfrm>
          <a:prstGeom prst="rect">
            <a:avLst/>
          </a:prstGeom>
          <a:noFill/>
          <a:ln cap="flat" cmpd="sng" w="28575">
            <a:solidFill>
              <a:srgbClr val="ABBF95"/>
            </a:solidFill>
            <a:prstDash val="solid"/>
            <a:round/>
            <a:headEnd len="sm" w="sm" type="none"/>
            <a:tailEnd len="sm" w="sm" type="none"/>
          </a:ln>
        </p:spPr>
        <p:txBody>
          <a:bodyPr anchorCtr="0" anchor="ctr" bIns="91425" lIns="91425" spcFirstLastPara="1" rIns="91425" wrap="square" tIns="91425">
            <a:noAutofit/>
          </a:bodyPr>
          <a:lstStyle/>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Supplemental LED lights over plant beds</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Solar panel system on roof</a:t>
            </a:r>
            <a:endParaRPr sz="1200">
              <a:solidFill>
                <a:schemeClr val="dk1"/>
              </a:solidFill>
              <a:latin typeface="Lexend"/>
              <a:ea typeface="Lexend"/>
              <a:cs typeface="Lexend"/>
              <a:sym typeface="Lexend"/>
            </a:endParaRPr>
          </a:p>
        </p:txBody>
      </p:sp>
      <p:pic>
        <p:nvPicPr>
          <p:cNvPr id="208" name="Google Shape;208;p23"/>
          <p:cNvPicPr preferRelativeResize="0"/>
          <p:nvPr/>
        </p:nvPicPr>
        <p:blipFill>
          <a:blip r:embed="rId5">
            <a:alphaModFix/>
          </a:blip>
          <a:stretch>
            <a:fillRect/>
          </a:stretch>
        </p:blipFill>
        <p:spPr>
          <a:xfrm>
            <a:off x="227725" y="1520900"/>
            <a:ext cx="4508774" cy="2375451"/>
          </a:xfrm>
          <a:prstGeom prst="rect">
            <a:avLst/>
          </a:prstGeom>
          <a:noFill/>
          <a:ln cap="flat" cmpd="sng" w="28575">
            <a:solidFill>
              <a:srgbClr val="87A290"/>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4"/>
          <p:cNvSpPr/>
          <p:nvPr/>
        </p:nvSpPr>
        <p:spPr>
          <a:xfrm>
            <a:off x="7581600" y="4458300"/>
            <a:ext cx="1562400" cy="685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exend"/>
                <a:ea typeface="Lexend"/>
                <a:cs typeface="Lexend"/>
                <a:sym typeface="Lexend"/>
              </a:rPr>
              <a:t>Zudzin Huang</a:t>
            </a:r>
            <a:endParaRPr>
              <a:latin typeface="Lexend"/>
              <a:ea typeface="Lexend"/>
              <a:cs typeface="Lexend"/>
              <a:sym typeface="Lexend"/>
            </a:endParaRPr>
          </a:p>
        </p:txBody>
      </p:sp>
      <p:sp>
        <p:nvSpPr>
          <p:cNvPr id="214" name="Google Shape;214;p24"/>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Maximizing food production is our highest priority</a:t>
            </a:r>
            <a:endParaRPr>
              <a:solidFill>
                <a:srgbClr val="A44200"/>
              </a:solidFill>
              <a:latin typeface="Lexend"/>
              <a:ea typeface="Lexend"/>
              <a:cs typeface="Lexend"/>
              <a:sym typeface="Lexend"/>
            </a:endParaRPr>
          </a:p>
        </p:txBody>
      </p:sp>
      <p:sp>
        <p:nvSpPr>
          <p:cNvPr id="215" name="Google Shape;215;p24"/>
          <p:cNvSpPr/>
          <p:nvPr/>
        </p:nvSpPr>
        <p:spPr>
          <a:xfrm>
            <a:off x="2688850" y="1062888"/>
            <a:ext cx="4183500" cy="685200"/>
          </a:xfrm>
          <a:prstGeom prst="rect">
            <a:avLst/>
          </a:prstGeom>
          <a:noFill/>
          <a:ln cap="flat" cmpd="sng" w="28575">
            <a:solidFill>
              <a:srgbClr val="ABBF9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Lexend"/>
                <a:ea typeface="Lexend"/>
                <a:cs typeface="Lexend"/>
                <a:sym typeface="Lexend"/>
              </a:rPr>
              <a:t>Goal: Produce </a:t>
            </a:r>
            <a:r>
              <a:rPr lang="en" sz="1800">
                <a:solidFill>
                  <a:srgbClr val="A44200"/>
                </a:solidFill>
                <a:latin typeface="Lexend"/>
                <a:ea typeface="Lexend"/>
                <a:cs typeface="Lexend"/>
                <a:sym typeface="Lexend"/>
              </a:rPr>
              <a:t>55.5 kg/m</a:t>
            </a:r>
            <a:r>
              <a:rPr baseline="30000" lang="en" sz="1800">
                <a:solidFill>
                  <a:srgbClr val="A44200"/>
                </a:solidFill>
                <a:latin typeface="Lexend"/>
                <a:ea typeface="Lexend"/>
                <a:cs typeface="Lexend"/>
                <a:sym typeface="Lexend"/>
              </a:rPr>
              <a:t>2</a:t>
            </a:r>
            <a:r>
              <a:rPr lang="en" sz="1800">
                <a:solidFill>
                  <a:schemeClr val="dk1"/>
                </a:solidFill>
                <a:latin typeface="Lexend"/>
                <a:ea typeface="Lexend"/>
                <a:cs typeface="Lexend"/>
                <a:sym typeface="Lexend"/>
              </a:rPr>
              <a:t> of fresh food annually</a:t>
            </a:r>
            <a:endParaRPr sz="1800">
              <a:solidFill>
                <a:schemeClr val="dk1"/>
              </a:solidFill>
              <a:latin typeface="Lexend"/>
              <a:ea typeface="Lexend"/>
              <a:cs typeface="Lexend"/>
              <a:sym typeface="Lexend"/>
            </a:endParaRPr>
          </a:p>
        </p:txBody>
      </p:sp>
      <p:cxnSp>
        <p:nvCxnSpPr>
          <p:cNvPr id="216" name="Google Shape;216;p24"/>
          <p:cNvCxnSpPr>
            <a:stCxn id="215" idx="1"/>
            <a:endCxn id="217" idx="1"/>
          </p:cNvCxnSpPr>
          <p:nvPr/>
        </p:nvCxnSpPr>
        <p:spPr>
          <a:xfrm flipH="1">
            <a:off x="1037650" y="1405488"/>
            <a:ext cx="1651200" cy="1609200"/>
          </a:xfrm>
          <a:prstGeom prst="bentConnector3">
            <a:avLst>
              <a:gd fmla="val 114429" name="adj1"/>
            </a:avLst>
          </a:prstGeom>
          <a:noFill/>
          <a:ln cap="flat" cmpd="sng" w="28575">
            <a:solidFill>
              <a:srgbClr val="ABBF95"/>
            </a:solidFill>
            <a:prstDash val="solid"/>
            <a:round/>
            <a:headEnd len="med" w="med" type="none"/>
            <a:tailEnd len="med" w="med" type="stealth"/>
          </a:ln>
        </p:spPr>
      </p:cxnSp>
      <p:sp>
        <p:nvSpPr>
          <p:cNvPr id="218" name="Google Shape;218;p24"/>
          <p:cNvSpPr txBox="1"/>
          <p:nvPr/>
        </p:nvSpPr>
        <p:spPr>
          <a:xfrm>
            <a:off x="865900" y="2103263"/>
            <a:ext cx="320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Lexend"/>
                <a:ea typeface="Lexend"/>
                <a:cs typeface="Lexend"/>
                <a:sym typeface="Lexend"/>
              </a:rPr>
              <a:t>Logistic Differential Equation</a:t>
            </a:r>
            <a:endParaRPr>
              <a:solidFill>
                <a:schemeClr val="dk1"/>
              </a:solidFill>
              <a:latin typeface="Lexend"/>
              <a:ea typeface="Lexend"/>
              <a:cs typeface="Lexend"/>
              <a:sym typeface="Lexend"/>
            </a:endParaRPr>
          </a:p>
        </p:txBody>
      </p:sp>
      <p:sp>
        <p:nvSpPr>
          <p:cNvPr id="219" name="Google Shape;219;p24"/>
          <p:cNvSpPr txBox="1"/>
          <p:nvPr/>
        </p:nvSpPr>
        <p:spPr>
          <a:xfrm>
            <a:off x="6316763" y="2103263"/>
            <a:ext cx="1100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Lexend"/>
                <a:ea typeface="Lexend"/>
                <a:cs typeface="Lexend"/>
                <a:sym typeface="Lexend"/>
              </a:rPr>
              <a:t>Solution</a:t>
            </a:r>
            <a:endParaRPr>
              <a:solidFill>
                <a:schemeClr val="dk1"/>
              </a:solidFill>
              <a:latin typeface="Lexend"/>
              <a:ea typeface="Lexend"/>
              <a:cs typeface="Lexend"/>
              <a:sym typeface="Lexend"/>
            </a:endParaRPr>
          </a:p>
        </p:txBody>
      </p:sp>
      <p:cxnSp>
        <p:nvCxnSpPr>
          <p:cNvPr id="220" name="Google Shape;220;p24"/>
          <p:cNvCxnSpPr>
            <a:stCxn id="217" idx="3"/>
            <a:endCxn id="221" idx="1"/>
          </p:cNvCxnSpPr>
          <p:nvPr/>
        </p:nvCxnSpPr>
        <p:spPr>
          <a:xfrm>
            <a:off x="4022225" y="3014775"/>
            <a:ext cx="1133700" cy="0"/>
          </a:xfrm>
          <a:prstGeom prst="straightConnector1">
            <a:avLst/>
          </a:prstGeom>
          <a:noFill/>
          <a:ln cap="flat" cmpd="sng" w="28575">
            <a:solidFill>
              <a:srgbClr val="ABBF95"/>
            </a:solidFill>
            <a:prstDash val="solid"/>
            <a:round/>
            <a:headEnd len="med" w="med" type="none"/>
            <a:tailEnd len="med" w="med" type="triangle"/>
          </a:ln>
        </p:spPr>
      </p:cxnSp>
      <p:sp>
        <p:nvSpPr>
          <p:cNvPr id="222" name="Google Shape;222;p24"/>
          <p:cNvSpPr txBox="1"/>
          <p:nvPr/>
        </p:nvSpPr>
        <p:spPr>
          <a:xfrm>
            <a:off x="3663750" y="3855875"/>
            <a:ext cx="3097800" cy="738900"/>
          </a:xfrm>
          <a:prstGeom prst="rect">
            <a:avLst/>
          </a:prstGeom>
          <a:noFill/>
          <a:ln cap="flat" cmpd="sng" w="28575">
            <a:solidFill>
              <a:srgbClr val="ABBF9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Lexend"/>
                <a:ea typeface="Lexend"/>
                <a:cs typeface="Lexend"/>
                <a:sym typeface="Lexend"/>
              </a:rPr>
              <a:t>P = Design Yield (kg/m</a:t>
            </a:r>
            <a:r>
              <a:rPr baseline="30000" lang="en" sz="1800">
                <a:solidFill>
                  <a:schemeClr val="dk1"/>
                </a:solidFill>
                <a:latin typeface="Lexend"/>
                <a:ea typeface="Lexend"/>
                <a:cs typeface="Lexend"/>
                <a:sym typeface="Lexend"/>
              </a:rPr>
              <a:t>2</a:t>
            </a:r>
            <a:r>
              <a:rPr lang="en"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 sz="1800">
                <a:solidFill>
                  <a:schemeClr val="dk1"/>
                </a:solidFill>
                <a:latin typeface="Lexend"/>
                <a:ea typeface="Lexend"/>
                <a:cs typeface="Lexend"/>
                <a:sym typeface="Lexend"/>
              </a:rPr>
              <a:t>p(0) = Initial Yield (kg/m</a:t>
            </a:r>
            <a:r>
              <a:rPr baseline="30000" lang="en" sz="1800">
                <a:solidFill>
                  <a:schemeClr val="dk1"/>
                </a:solidFill>
                <a:latin typeface="Lexend"/>
                <a:ea typeface="Lexend"/>
                <a:cs typeface="Lexend"/>
                <a:sym typeface="Lexend"/>
              </a:rPr>
              <a:t>2</a:t>
            </a:r>
            <a:r>
              <a:rPr lang="en"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pic>
        <p:nvPicPr>
          <p:cNvPr id="223" name="Google Shape;223;p24" title="bold.png"/>
          <p:cNvPicPr preferRelativeResize="0"/>
          <p:nvPr/>
        </p:nvPicPr>
        <p:blipFill>
          <a:blip r:embed="rId3">
            <a:alphaModFix/>
          </a:blip>
          <a:stretch>
            <a:fillRect/>
          </a:stretch>
        </p:blipFill>
        <p:spPr>
          <a:xfrm>
            <a:off x="8528400" y="21325"/>
            <a:ext cx="615600" cy="615600"/>
          </a:xfrm>
          <a:prstGeom prst="rect">
            <a:avLst/>
          </a:prstGeom>
          <a:noFill/>
          <a:ln>
            <a:noFill/>
          </a:ln>
        </p:spPr>
      </p:pic>
      <p:grpSp>
        <p:nvGrpSpPr>
          <p:cNvPr id="224" name="Google Shape;224;p24"/>
          <p:cNvGrpSpPr/>
          <p:nvPr/>
        </p:nvGrpSpPr>
        <p:grpSpPr>
          <a:xfrm>
            <a:off x="1037525" y="2532375"/>
            <a:ext cx="2984700" cy="964800"/>
            <a:chOff x="2273300" y="3014700"/>
            <a:chExt cx="2984700" cy="964800"/>
          </a:xfrm>
        </p:grpSpPr>
        <p:sp>
          <p:nvSpPr>
            <p:cNvPr id="217" name="Google Shape;217;p24"/>
            <p:cNvSpPr/>
            <p:nvPr/>
          </p:nvSpPr>
          <p:spPr>
            <a:xfrm>
              <a:off x="2273300" y="3014700"/>
              <a:ext cx="2984700" cy="9648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5" name="Google Shape;225;p24" title="equation.png"/>
            <p:cNvPicPr preferRelativeResize="0"/>
            <p:nvPr/>
          </p:nvPicPr>
          <p:blipFill>
            <a:blip r:embed="rId4">
              <a:alphaModFix/>
            </a:blip>
            <a:stretch>
              <a:fillRect/>
            </a:stretch>
          </p:blipFill>
          <p:spPr>
            <a:xfrm>
              <a:off x="2372213" y="3108255"/>
              <a:ext cx="2786876" cy="777684"/>
            </a:xfrm>
            <a:prstGeom prst="rect">
              <a:avLst/>
            </a:prstGeom>
            <a:noFill/>
            <a:ln>
              <a:noFill/>
            </a:ln>
          </p:spPr>
        </p:pic>
      </p:grpSp>
      <p:grpSp>
        <p:nvGrpSpPr>
          <p:cNvPr id="226" name="Google Shape;226;p24"/>
          <p:cNvGrpSpPr/>
          <p:nvPr/>
        </p:nvGrpSpPr>
        <p:grpSpPr>
          <a:xfrm>
            <a:off x="5155856" y="2506899"/>
            <a:ext cx="3422248" cy="1015762"/>
            <a:chOff x="5195450" y="2550500"/>
            <a:chExt cx="3865200" cy="1094100"/>
          </a:xfrm>
        </p:grpSpPr>
        <p:sp>
          <p:nvSpPr>
            <p:cNvPr id="221" name="Google Shape;221;p24"/>
            <p:cNvSpPr/>
            <p:nvPr/>
          </p:nvSpPr>
          <p:spPr>
            <a:xfrm>
              <a:off x="5195450" y="2550500"/>
              <a:ext cx="3865200" cy="10941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7" name="Google Shape;227;p24" title="equation (1).png"/>
            <p:cNvPicPr preferRelativeResize="0"/>
            <p:nvPr/>
          </p:nvPicPr>
          <p:blipFill>
            <a:blip r:embed="rId5">
              <a:alphaModFix/>
            </a:blip>
            <a:stretch>
              <a:fillRect/>
            </a:stretch>
          </p:blipFill>
          <p:spPr>
            <a:xfrm>
              <a:off x="5275750" y="2650918"/>
              <a:ext cx="3682477" cy="904550"/>
            </a:xfrm>
            <a:prstGeom prst="rect">
              <a:avLst/>
            </a:prstGeom>
            <a:noFill/>
            <a:ln>
              <a:noFill/>
            </a:ln>
          </p:spPr>
        </p:pic>
      </p:grpSp>
      <p:sp>
        <p:nvSpPr>
          <p:cNvPr id="228" name="Google Shape;228;p24"/>
          <p:cNvSpPr txBox="1"/>
          <p:nvPr/>
        </p:nvSpPr>
        <p:spPr>
          <a:xfrm>
            <a:off x="300400" y="3855875"/>
            <a:ext cx="3234300" cy="738900"/>
          </a:xfrm>
          <a:prstGeom prst="rect">
            <a:avLst/>
          </a:prstGeom>
          <a:noFill/>
          <a:ln cap="flat" cmpd="sng" w="28575">
            <a:solidFill>
              <a:srgbClr val="ABBF9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Lexend"/>
                <a:ea typeface="Lexend"/>
                <a:cs typeface="Lexend"/>
                <a:sym typeface="Lexend"/>
              </a:rPr>
              <a:t>r = Growth Rate (year</a:t>
            </a:r>
            <a:r>
              <a:rPr baseline="30000" lang="en" sz="1800">
                <a:solidFill>
                  <a:schemeClr val="dk1"/>
                </a:solidFill>
                <a:latin typeface="Lexend"/>
                <a:ea typeface="Lexend"/>
                <a:cs typeface="Lexend"/>
                <a:sym typeface="Lexend"/>
              </a:rPr>
              <a:t>-1</a:t>
            </a:r>
            <a:r>
              <a:rPr lang="en"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 sz="1800">
                <a:solidFill>
                  <a:schemeClr val="dk1"/>
                </a:solidFill>
                <a:latin typeface="Lexend"/>
                <a:ea typeface="Lexend"/>
                <a:cs typeface="Lexend"/>
                <a:sym typeface="Lexend"/>
              </a:rPr>
              <a:t>K = Maximum Yield (kg/m</a:t>
            </a:r>
            <a:r>
              <a:rPr baseline="30000" lang="en" sz="1800">
                <a:solidFill>
                  <a:schemeClr val="dk1"/>
                </a:solidFill>
                <a:latin typeface="Lexend"/>
                <a:ea typeface="Lexend"/>
                <a:cs typeface="Lexend"/>
                <a:sym typeface="Lexend"/>
              </a:rPr>
              <a:t>2</a:t>
            </a:r>
            <a:r>
              <a:rPr lang="en"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pic>
        <p:nvPicPr>
          <p:cNvPr id="229" name="Google Shape;229;p24"/>
          <p:cNvPicPr preferRelativeResize="0"/>
          <p:nvPr/>
        </p:nvPicPr>
        <p:blipFill rotWithShape="1">
          <a:blip r:embed="rId6">
            <a:alphaModFix/>
          </a:blip>
          <a:srcRect b="40362" l="6682" r="78740" t="40362"/>
          <a:stretch/>
        </p:blipFill>
        <p:spPr>
          <a:xfrm>
            <a:off x="6890598" y="4458238"/>
            <a:ext cx="691000" cy="685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grpSp>
        <p:nvGrpSpPr>
          <p:cNvPr id="234" name="Google Shape;234;p25"/>
          <p:cNvGrpSpPr/>
          <p:nvPr/>
        </p:nvGrpSpPr>
        <p:grpSpPr>
          <a:xfrm>
            <a:off x="377975" y="1112438"/>
            <a:ext cx="5253625" cy="2921835"/>
            <a:chOff x="311700" y="1110838"/>
            <a:chExt cx="5253625" cy="2921835"/>
          </a:xfrm>
        </p:grpSpPr>
        <p:pic>
          <p:nvPicPr>
            <p:cNvPr id="235" name="Google Shape;235;p25"/>
            <p:cNvPicPr preferRelativeResize="0"/>
            <p:nvPr/>
          </p:nvPicPr>
          <p:blipFill>
            <a:blip r:embed="rId3">
              <a:alphaModFix/>
            </a:blip>
            <a:stretch>
              <a:fillRect/>
            </a:stretch>
          </p:blipFill>
          <p:spPr>
            <a:xfrm>
              <a:off x="2798800" y="1110839"/>
              <a:ext cx="2766526" cy="2921833"/>
            </a:xfrm>
            <a:prstGeom prst="rect">
              <a:avLst/>
            </a:prstGeom>
            <a:noFill/>
            <a:ln cap="flat" cmpd="sng" w="9525">
              <a:solidFill>
                <a:srgbClr val="ABBF95"/>
              </a:solidFill>
              <a:prstDash val="solid"/>
              <a:round/>
              <a:headEnd len="sm" w="sm" type="none"/>
              <a:tailEnd len="sm" w="sm" type="none"/>
            </a:ln>
          </p:spPr>
        </p:pic>
        <p:pic>
          <p:nvPicPr>
            <p:cNvPr id="236" name="Google Shape;236;p25"/>
            <p:cNvPicPr preferRelativeResize="0"/>
            <p:nvPr/>
          </p:nvPicPr>
          <p:blipFill>
            <a:blip r:embed="rId4">
              <a:alphaModFix/>
            </a:blip>
            <a:stretch>
              <a:fillRect/>
            </a:stretch>
          </p:blipFill>
          <p:spPr>
            <a:xfrm>
              <a:off x="311700" y="1110838"/>
              <a:ext cx="2487106" cy="2921825"/>
            </a:xfrm>
            <a:prstGeom prst="rect">
              <a:avLst/>
            </a:prstGeom>
            <a:noFill/>
            <a:ln cap="flat" cmpd="sng" w="9525">
              <a:solidFill>
                <a:srgbClr val="ABBF95"/>
              </a:solidFill>
              <a:prstDash val="solid"/>
              <a:round/>
              <a:headEnd len="sm" w="sm" type="none"/>
              <a:tailEnd len="sm" w="sm" type="none"/>
            </a:ln>
          </p:spPr>
        </p:pic>
      </p:grpSp>
      <p:sp>
        <p:nvSpPr>
          <p:cNvPr id="237" name="Google Shape;237;p25"/>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Sprout Stairs yield is </a:t>
            </a:r>
            <a:r>
              <a:rPr lang="en">
                <a:latin typeface="Lexend"/>
                <a:ea typeface="Lexend"/>
                <a:cs typeface="Lexend"/>
                <a:sym typeface="Lexend"/>
              </a:rPr>
              <a:t>101% </a:t>
            </a:r>
            <a:r>
              <a:rPr lang="en">
                <a:solidFill>
                  <a:srgbClr val="A44200"/>
                </a:solidFill>
                <a:latin typeface="Lexend"/>
                <a:ea typeface="Lexend"/>
                <a:cs typeface="Lexend"/>
                <a:sym typeface="Lexend"/>
              </a:rPr>
              <a:t>of our goal</a:t>
            </a:r>
            <a:endParaRPr>
              <a:latin typeface="Lexend"/>
              <a:ea typeface="Lexend"/>
              <a:cs typeface="Lexend"/>
              <a:sym typeface="Lexend"/>
            </a:endParaRPr>
          </a:p>
        </p:txBody>
      </p:sp>
      <p:sp>
        <p:nvSpPr>
          <p:cNvPr id="238" name="Google Shape;238;p25"/>
          <p:cNvSpPr/>
          <p:nvPr/>
        </p:nvSpPr>
        <p:spPr>
          <a:xfrm>
            <a:off x="6157800" y="1294300"/>
            <a:ext cx="2608200" cy="882300"/>
          </a:xfrm>
          <a:prstGeom prst="rect">
            <a:avLst/>
          </a:prstGeom>
          <a:noFill/>
          <a:ln cap="flat" cmpd="sng" w="28575">
            <a:solidFill>
              <a:srgbClr val="ABBF9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exend"/>
                <a:ea typeface="Lexend"/>
                <a:cs typeface="Lexend"/>
                <a:sym typeface="Lexend"/>
              </a:rPr>
              <a:t>Estimated Design Yield: </a:t>
            </a:r>
            <a:endParaRPr>
              <a:latin typeface="Lexend"/>
              <a:ea typeface="Lexend"/>
              <a:cs typeface="Lexend"/>
              <a:sym typeface="Lexend"/>
            </a:endParaRPr>
          </a:p>
          <a:p>
            <a:pPr indent="0" lvl="0" marL="0" rtl="0" algn="ctr">
              <a:spcBef>
                <a:spcPts val="0"/>
              </a:spcBef>
              <a:spcAft>
                <a:spcPts val="0"/>
              </a:spcAft>
              <a:buNone/>
            </a:pPr>
            <a:r>
              <a:rPr lang="en">
                <a:solidFill>
                  <a:srgbClr val="A44200"/>
                </a:solidFill>
                <a:latin typeface="Lexend"/>
                <a:ea typeface="Lexend"/>
                <a:cs typeface="Lexend"/>
                <a:sym typeface="Lexend"/>
              </a:rPr>
              <a:t>56.06 kg/m</a:t>
            </a:r>
            <a:r>
              <a:rPr baseline="30000" lang="en">
                <a:solidFill>
                  <a:srgbClr val="A44200"/>
                </a:solidFill>
                <a:latin typeface="Lexend"/>
                <a:ea typeface="Lexend"/>
                <a:cs typeface="Lexend"/>
                <a:sym typeface="Lexend"/>
              </a:rPr>
              <a:t>2</a:t>
            </a:r>
            <a:endParaRPr>
              <a:latin typeface="Lexend"/>
              <a:ea typeface="Lexend"/>
              <a:cs typeface="Lexend"/>
              <a:sym typeface="Lexend"/>
            </a:endParaRPr>
          </a:p>
        </p:txBody>
      </p:sp>
      <p:sp>
        <p:nvSpPr>
          <p:cNvPr id="239" name="Google Shape;239;p25"/>
          <p:cNvSpPr/>
          <p:nvPr/>
        </p:nvSpPr>
        <p:spPr>
          <a:xfrm>
            <a:off x="6157800" y="2505700"/>
            <a:ext cx="2608200" cy="572700"/>
          </a:xfrm>
          <a:prstGeom prst="rect">
            <a:avLst/>
          </a:prstGeom>
          <a:noFill/>
          <a:ln cap="flat" cmpd="sng" w="28575">
            <a:solidFill>
              <a:srgbClr val="ABBF9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A44200"/>
                </a:solidFill>
                <a:latin typeface="Lexend"/>
                <a:ea typeface="Lexend"/>
                <a:cs typeface="Lexend"/>
                <a:sym typeface="Lexend"/>
              </a:rPr>
              <a:t>12,700</a:t>
            </a:r>
            <a:r>
              <a:rPr lang="en">
                <a:latin typeface="Lexend"/>
                <a:ea typeface="Lexend"/>
                <a:cs typeface="Lexend"/>
                <a:sym typeface="Lexend"/>
              </a:rPr>
              <a:t> kg of produce annually</a:t>
            </a:r>
            <a:endParaRPr>
              <a:latin typeface="Lexend"/>
              <a:ea typeface="Lexend"/>
              <a:cs typeface="Lexend"/>
              <a:sym typeface="Lexend"/>
            </a:endParaRPr>
          </a:p>
        </p:txBody>
      </p:sp>
      <p:sp>
        <p:nvSpPr>
          <p:cNvPr id="240" name="Google Shape;240;p25"/>
          <p:cNvSpPr/>
          <p:nvPr/>
        </p:nvSpPr>
        <p:spPr>
          <a:xfrm>
            <a:off x="6157800" y="3407500"/>
            <a:ext cx="2608200" cy="444900"/>
          </a:xfrm>
          <a:prstGeom prst="rect">
            <a:avLst/>
          </a:prstGeom>
          <a:noFill/>
          <a:ln cap="flat" cmpd="sng" w="28575">
            <a:solidFill>
              <a:srgbClr val="ABBF9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A44200"/>
                </a:solidFill>
                <a:latin typeface="Lexend"/>
                <a:ea typeface="Lexend"/>
                <a:cs typeface="Lexend"/>
                <a:sym typeface="Lexend"/>
              </a:rPr>
              <a:t>139 </a:t>
            </a:r>
            <a:r>
              <a:rPr lang="en">
                <a:solidFill>
                  <a:schemeClr val="dk1"/>
                </a:solidFill>
                <a:latin typeface="Lexend"/>
                <a:ea typeface="Lexend"/>
                <a:cs typeface="Lexend"/>
                <a:sym typeface="Lexend"/>
              </a:rPr>
              <a:t>servings daily</a:t>
            </a:r>
            <a:endParaRPr>
              <a:solidFill>
                <a:schemeClr val="dk1"/>
              </a:solidFill>
              <a:latin typeface="Lexend"/>
              <a:ea typeface="Lexend"/>
              <a:cs typeface="Lexend"/>
              <a:sym typeface="Lexend"/>
            </a:endParaRPr>
          </a:p>
        </p:txBody>
      </p:sp>
      <p:sp>
        <p:nvSpPr>
          <p:cNvPr id="241" name="Google Shape;241;p25"/>
          <p:cNvSpPr/>
          <p:nvPr/>
        </p:nvSpPr>
        <p:spPr>
          <a:xfrm>
            <a:off x="7581600" y="4458300"/>
            <a:ext cx="1562400" cy="685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exend"/>
                <a:ea typeface="Lexend"/>
                <a:cs typeface="Lexend"/>
                <a:sym typeface="Lexend"/>
              </a:rPr>
              <a:t>Zudzin Huang</a:t>
            </a:r>
            <a:endParaRPr>
              <a:latin typeface="Lexend"/>
              <a:ea typeface="Lexend"/>
              <a:cs typeface="Lexend"/>
              <a:sym typeface="Lexend"/>
            </a:endParaRPr>
          </a:p>
        </p:txBody>
      </p:sp>
      <p:pic>
        <p:nvPicPr>
          <p:cNvPr id="242" name="Google Shape;242;p25" title="bold.png"/>
          <p:cNvPicPr preferRelativeResize="0"/>
          <p:nvPr/>
        </p:nvPicPr>
        <p:blipFill>
          <a:blip r:embed="rId5">
            <a:alphaModFix/>
          </a:blip>
          <a:stretch>
            <a:fillRect/>
          </a:stretch>
        </p:blipFill>
        <p:spPr>
          <a:xfrm>
            <a:off x="8528400" y="21325"/>
            <a:ext cx="615600" cy="615600"/>
          </a:xfrm>
          <a:prstGeom prst="rect">
            <a:avLst/>
          </a:prstGeom>
          <a:noFill/>
          <a:ln>
            <a:noFill/>
          </a:ln>
        </p:spPr>
      </p:pic>
      <p:sp>
        <p:nvSpPr>
          <p:cNvPr id="243" name="Google Shape;243;p25"/>
          <p:cNvSpPr/>
          <p:nvPr/>
        </p:nvSpPr>
        <p:spPr>
          <a:xfrm>
            <a:off x="2876975" y="4034275"/>
            <a:ext cx="2772300" cy="292800"/>
          </a:xfrm>
          <a:prstGeom prst="rect">
            <a:avLst/>
          </a:prstGeom>
          <a:noFill/>
          <a:ln cap="flat" cmpd="sng" w="19050">
            <a:solidFill>
              <a:srgbClr val="ABBF9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rgbClr val="A44200"/>
                </a:solidFill>
                <a:latin typeface="Lexend"/>
                <a:ea typeface="Lexend"/>
                <a:cs typeface="Lexend"/>
                <a:sym typeface="Lexend"/>
              </a:rPr>
              <a:t>X-Axis: </a:t>
            </a:r>
            <a:r>
              <a:rPr lang="en">
                <a:solidFill>
                  <a:srgbClr val="A44200"/>
                </a:solidFill>
                <a:latin typeface="Lexend"/>
                <a:ea typeface="Lexend"/>
                <a:cs typeface="Lexend"/>
                <a:sym typeface="Lexend"/>
              </a:rPr>
              <a:t>Time (years)</a:t>
            </a:r>
            <a:endParaRPr/>
          </a:p>
        </p:txBody>
      </p:sp>
      <p:sp>
        <p:nvSpPr>
          <p:cNvPr id="244" name="Google Shape;244;p25"/>
          <p:cNvSpPr/>
          <p:nvPr/>
        </p:nvSpPr>
        <p:spPr>
          <a:xfrm>
            <a:off x="2876975" y="4327075"/>
            <a:ext cx="2772300" cy="292800"/>
          </a:xfrm>
          <a:prstGeom prst="rect">
            <a:avLst/>
          </a:prstGeom>
          <a:noFill/>
          <a:ln cap="flat" cmpd="sng" w="19050">
            <a:solidFill>
              <a:srgbClr val="ABBF9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A44200"/>
                </a:solidFill>
                <a:latin typeface="Lexend"/>
                <a:ea typeface="Lexend"/>
                <a:cs typeface="Lexend"/>
                <a:sym typeface="Lexend"/>
              </a:rPr>
              <a:t>Y-A</a:t>
            </a:r>
            <a:r>
              <a:rPr lang="en">
                <a:solidFill>
                  <a:srgbClr val="A44200"/>
                </a:solidFill>
                <a:latin typeface="Lexend"/>
                <a:ea typeface="Lexend"/>
                <a:cs typeface="Lexend"/>
                <a:sym typeface="Lexend"/>
              </a:rPr>
              <a:t>xis: Yield (</a:t>
            </a:r>
            <a:r>
              <a:rPr lang="en">
                <a:solidFill>
                  <a:srgbClr val="A44200"/>
                </a:solidFill>
                <a:latin typeface="Lexend"/>
                <a:ea typeface="Lexend"/>
                <a:cs typeface="Lexend"/>
                <a:sym typeface="Lexend"/>
              </a:rPr>
              <a:t>kg/m</a:t>
            </a:r>
            <a:r>
              <a:rPr baseline="30000" lang="en">
                <a:solidFill>
                  <a:srgbClr val="A44200"/>
                </a:solidFill>
                <a:latin typeface="Lexend"/>
                <a:ea typeface="Lexend"/>
                <a:cs typeface="Lexend"/>
                <a:sym typeface="Lexend"/>
              </a:rPr>
              <a:t>2</a:t>
            </a:r>
            <a:r>
              <a:rPr lang="en">
                <a:solidFill>
                  <a:srgbClr val="A44200"/>
                </a:solidFill>
                <a:latin typeface="Lexend"/>
                <a:ea typeface="Lexend"/>
                <a:cs typeface="Lexend"/>
                <a:sym typeface="Lexend"/>
              </a:rPr>
              <a:t>)</a:t>
            </a:r>
            <a:endParaRPr/>
          </a:p>
        </p:txBody>
      </p:sp>
      <p:pic>
        <p:nvPicPr>
          <p:cNvPr id="245" name="Google Shape;245;p25"/>
          <p:cNvPicPr preferRelativeResize="0"/>
          <p:nvPr/>
        </p:nvPicPr>
        <p:blipFill rotWithShape="1">
          <a:blip r:embed="rId6">
            <a:alphaModFix/>
          </a:blip>
          <a:srcRect b="40362" l="6682" r="78740" t="40362"/>
          <a:stretch/>
        </p:blipFill>
        <p:spPr>
          <a:xfrm>
            <a:off x="6890598" y="4458238"/>
            <a:ext cx="691000" cy="6853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6"/>
          <p:cNvSpPr/>
          <p:nvPr/>
        </p:nvSpPr>
        <p:spPr>
          <a:xfrm>
            <a:off x="7581600" y="4458300"/>
            <a:ext cx="1562400" cy="685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exend"/>
                <a:ea typeface="Lexend"/>
                <a:cs typeface="Lexend"/>
                <a:sym typeface="Lexend"/>
              </a:rPr>
              <a:t>Sara Kabir</a:t>
            </a:r>
            <a:endParaRPr>
              <a:latin typeface="Lexend"/>
              <a:ea typeface="Lexend"/>
              <a:cs typeface="Lexend"/>
              <a:sym typeface="Lexend"/>
            </a:endParaRPr>
          </a:p>
        </p:txBody>
      </p:sp>
      <p:sp>
        <p:nvSpPr>
          <p:cNvPr id="251" name="Google Shape;251;p26"/>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Our vision is an impactful approach to tackling food insecurity in The Annex</a:t>
            </a:r>
            <a:endParaRPr>
              <a:solidFill>
                <a:srgbClr val="A44200"/>
              </a:solidFill>
              <a:latin typeface="Lexend"/>
              <a:ea typeface="Lexend"/>
              <a:cs typeface="Lexend"/>
              <a:sym typeface="Lexend"/>
            </a:endParaRPr>
          </a:p>
        </p:txBody>
      </p:sp>
      <p:sp>
        <p:nvSpPr>
          <p:cNvPr id="252" name="Google Shape;252;p26"/>
          <p:cNvSpPr/>
          <p:nvPr/>
        </p:nvSpPr>
        <p:spPr>
          <a:xfrm>
            <a:off x="2019625" y="1487325"/>
            <a:ext cx="2429700" cy="1180800"/>
          </a:xfrm>
          <a:prstGeom prst="rect">
            <a:avLst/>
          </a:prstGeom>
          <a:noFill/>
          <a:ln cap="flat" cmpd="sng" w="28575">
            <a:solidFill>
              <a:srgbClr val="ABBF9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A44200"/>
                </a:solidFill>
                <a:latin typeface="Lexend"/>
                <a:ea typeface="Lexend"/>
                <a:cs typeface="Lexend"/>
                <a:sym typeface="Lexend"/>
              </a:rPr>
              <a:t>24.9%</a:t>
            </a:r>
            <a:r>
              <a:rPr lang="en">
                <a:solidFill>
                  <a:schemeClr val="dk1"/>
                </a:solidFill>
                <a:latin typeface="Lexend"/>
                <a:ea typeface="Lexend"/>
                <a:cs typeface="Lexend"/>
                <a:sym typeface="Lexend"/>
              </a:rPr>
              <a:t> of Toronto households faced food insecurity in 2023</a:t>
            </a:r>
            <a:endParaRPr>
              <a:solidFill>
                <a:schemeClr val="dk1"/>
              </a:solidFill>
              <a:latin typeface="Lexend"/>
              <a:ea typeface="Lexend"/>
              <a:cs typeface="Lexend"/>
              <a:sym typeface="Lexend"/>
            </a:endParaRPr>
          </a:p>
        </p:txBody>
      </p:sp>
      <p:sp>
        <p:nvSpPr>
          <p:cNvPr id="253" name="Google Shape;253;p26"/>
          <p:cNvSpPr/>
          <p:nvPr/>
        </p:nvSpPr>
        <p:spPr>
          <a:xfrm>
            <a:off x="4694675" y="1487325"/>
            <a:ext cx="2429700" cy="1180800"/>
          </a:xfrm>
          <a:prstGeom prst="rect">
            <a:avLst/>
          </a:prstGeom>
          <a:noFill/>
          <a:ln cap="flat" cmpd="sng" w="28575">
            <a:solidFill>
              <a:srgbClr val="ABBF9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Lexend"/>
                <a:ea typeface="Lexend"/>
                <a:cs typeface="Lexend"/>
                <a:sym typeface="Lexend"/>
              </a:rPr>
              <a:t>Food prices have risen </a:t>
            </a:r>
            <a:r>
              <a:rPr lang="en">
                <a:solidFill>
                  <a:srgbClr val="A44200"/>
                </a:solidFill>
                <a:latin typeface="Lexend"/>
                <a:ea typeface="Lexend"/>
                <a:cs typeface="Lexend"/>
                <a:sym typeface="Lexend"/>
              </a:rPr>
              <a:t>8.9%</a:t>
            </a:r>
            <a:r>
              <a:rPr lang="en">
                <a:solidFill>
                  <a:schemeClr val="dk1"/>
                </a:solidFill>
                <a:latin typeface="Lexend"/>
                <a:ea typeface="Lexend"/>
                <a:cs typeface="Lexend"/>
                <a:sym typeface="Lexend"/>
              </a:rPr>
              <a:t> since 2015</a:t>
            </a:r>
            <a:endParaRPr>
              <a:solidFill>
                <a:schemeClr val="dk1"/>
              </a:solidFill>
              <a:latin typeface="Lexend"/>
              <a:ea typeface="Lexend"/>
              <a:cs typeface="Lexend"/>
              <a:sym typeface="Lexend"/>
            </a:endParaRPr>
          </a:p>
        </p:txBody>
      </p:sp>
      <p:cxnSp>
        <p:nvCxnSpPr>
          <p:cNvPr id="254" name="Google Shape;254;p26"/>
          <p:cNvCxnSpPr/>
          <p:nvPr/>
        </p:nvCxnSpPr>
        <p:spPr>
          <a:xfrm>
            <a:off x="252000" y="3093975"/>
            <a:ext cx="8640000" cy="0"/>
          </a:xfrm>
          <a:prstGeom prst="straightConnector1">
            <a:avLst/>
          </a:prstGeom>
          <a:noFill/>
          <a:ln cap="flat" cmpd="sng" w="19050">
            <a:solidFill>
              <a:srgbClr val="D58936"/>
            </a:solidFill>
            <a:prstDash val="solid"/>
            <a:round/>
            <a:headEnd len="med" w="med" type="none"/>
            <a:tailEnd len="med" w="med" type="none"/>
          </a:ln>
        </p:spPr>
      </p:cxnSp>
      <p:sp>
        <p:nvSpPr>
          <p:cNvPr id="255" name="Google Shape;255;p26"/>
          <p:cNvSpPr txBox="1"/>
          <p:nvPr>
            <p:ph type="title"/>
          </p:nvPr>
        </p:nvSpPr>
        <p:spPr>
          <a:xfrm>
            <a:off x="311700" y="353667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Lexend"/>
                <a:ea typeface="Lexend"/>
                <a:cs typeface="Lexend"/>
                <a:sym typeface="Lexend"/>
              </a:rPr>
              <a:t>There is a need for a sustainable, accessible, and community-oriented source of fresh food</a:t>
            </a:r>
            <a:endParaRPr>
              <a:latin typeface="Lexend"/>
              <a:ea typeface="Lexend"/>
              <a:cs typeface="Lexend"/>
              <a:sym typeface="Lexend"/>
            </a:endParaRPr>
          </a:p>
        </p:txBody>
      </p:sp>
      <p:sp>
        <p:nvSpPr>
          <p:cNvPr id="256" name="Google Shape;256;p26"/>
          <p:cNvSpPr/>
          <p:nvPr/>
        </p:nvSpPr>
        <p:spPr>
          <a:xfrm flipH="1" rot="10800000">
            <a:off x="4261200" y="2930438"/>
            <a:ext cx="621575" cy="343925"/>
          </a:xfrm>
          <a:prstGeom prst="flowChartExtract">
            <a:avLst/>
          </a:prstGeom>
          <a:solidFill>
            <a:srgbClr val="D58936"/>
          </a:solidFill>
          <a:ln cap="flat" cmpd="sng" w="1143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57" name="Google Shape;257;p26" title="bold.png"/>
          <p:cNvPicPr preferRelativeResize="0"/>
          <p:nvPr/>
        </p:nvPicPr>
        <p:blipFill>
          <a:blip r:embed="rId3">
            <a:alphaModFix/>
          </a:blip>
          <a:stretch>
            <a:fillRect/>
          </a:stretch>
        </p:blipFill>
        <p:spPr>
          <a:xfrm>
            <a:off x="8528400" y="21325"/>
            <a:ext cx="615600" cy="615600"/>
          </a:xfrm>
          <a:prstGeom prst="rect">
            <a:avLst/>
          </a:prstGeom>
          <a:noFill/>
          <a:ln>
            <a:noFill/>
          </a:ln>
        </p:spPr>
      </p:pic>
      <p:sp>
        <p:nvSpPr>
          <p:cNvPr id="258" name="Google Shape;258;p26"/>
          <p:cNvSpPr/>
          <p:nvPr/>
        </p:nvSpPr>
        <p:spPr>
          <a:xfrm>
            <a:off x="7581600" y="4380025"/>
            <a:ext cx="1562400" cy="770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exend"/>
                <a:ea typeface="Lexend"/>
                <a:cs typeface="Lexend"/>
                <a:sym typeface="Lexend"/>
              </a:rPr>
              <a:t>Sara Kabir</a:t>
            </a:r>
            <a:endParaRPr>
              <a:latin typeface="Lexend"/>
              <a:ea typeface="Lexend"/>
              <a:cs typeface="Lexend"/>
              <a:sym typeface="Lexend"/>
            </a:endParaRPr>
          </a:p>
        </p:txBody>
      </p:sp>
      <p:pic>
        <p:nvPicPr>
          <p:cNvPr id="259" name="Google Shape;259;p26"/>
          <p:cNvPicPr preferRelativeResize="0"/>
          <p:nvPr/>
        </p:nvPicPr>
        <p:blipFill rotWithShape="1">
          <a:blip r:embed="rId4">
            <a:alphaModFix/>
          </a:blip>
          <a:srcRect b="36786" l="64443" r="20585" t="43068"/>
          <a:stretch/>
        </p:blipFill>
        <p:spPr>
          <a:xfrm>
            <a:off x="6818489" y="4388900"/>
            <a:ext cx="763110" cy="770100"/>
          </a:xfrm>
          <a:prstGeom prst="rect">
            <a:avLst/>
          </a:prstGeom>
          <a:noFill/>
          <a:ln>
            <a:noFill/>
          </a:ln>
        </p:spPr>
      </p:pic>
    </p:spTree>
  </p:cSld>
  <p:clrMapOvr>
    <a:masterClrMapping/>
  </p:clrMapOvr>
  <mc:AlternateContent>
    <mc:Choice Requires="p14">
      <p:transition p14:dur="1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7"/>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Next steps before implementation to maximize feeding the community </a:t>
            </a:r>
            <a:endParaRPr>
              <a:solidFill>
                <a:srgbClr val="A44200"/>
              </a:solidFill>
              <a:latin typeface="Lexend"/>
              <a:ea typeface="Lexend"/>
              <a:cs typeface="Lexend"/>
              <a:sym typeface="Lexend"/>
            </a:endParaRPr>
          </a:p>
        </p:txBody>
      </p:sp>
      <p:sp>
        <p:nvSpPr>
          <p:cNvPr id="265" name="Google Shape;265;p27"/>
          <p:cNvSpPr/>
          <p:nvPr/>
        </p:nvSpPr>
        <p:spPr>
          <a:xfrm>
            <a:off x="976851" y="1242563"/>
            <a:ext cx="3275700" cy="340500"/>
          </a:xfrm>
          <a:prstGeom prst="rect">
            <a:avLst/>
          </a:prstGeom>
          <a:solidFill>
            <a:srgbClr val="87A290"/>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exend"/>
                <a:ea typeface="Lexend"/>
                <a:cs typeface="Lexend"/>
                <a:sym typeface="Lexend"/>
              </a:rPr>
              <a:t>Resource Needs Assessment</a:t>
            </a:r>
            <a:endParaRPr>
              <a:solidFill>
                <a:schemeClr val="lt1"/>
              </a:solidFill>
              <a:latin typeface="Lexend"/>
              <a:ea typeface="Lexend"/>
              <a:cs typeface="Lexend"/>
              <a:sym typeface="Lexend"/>
            </a:endParaRPr>
          </a:p>
        </p:txBody>
      </p:sp>
      <p:sp>
        <p:nvSpPr>
          <p:cNvPr id="266" name="Google Shape;266;p27"/>
          <p:cNvSpPr/>
          <p:nvPr/>
        </p:nvSpPr>
        <p:spPr>
          <a:xfrm>
            <a:off x="2934152" y="3452050"/>
            <a:ext cx="3275700" cy="340500"/>
          </a:xfrm>
          <a:prstGeom prst="rect">
            <a:avLst/>
          </a:prstGeom>
          <a:solidFill>
            <a:srgbClr val="87A290"/>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exend"/>
                <a:ea typeface="Lexend"/>
                <a:cs typeface="Lexend"/>
                <a:sym typeface="Lexend"/>
              </a:rPr>
              <a:t>Growth Projection</a:t>
            </a:r>
            <a:endParaRPr>
              <a:solidFill>
                <a:schemeClr val="lt1"/>
              </a:solidFill>
              <a:latin typeface="Lexend"/>
              <a:ea typeface="Lexend"/>
              <a:cs typeface="Lexend"/>
              <a:sym typeface="Lexend"/>
            </a:endParaRPr>
          </a:p>
        </p:txBody>
      </p:sp>
      <p:sp>
        <p:nvSpPr>
          <p:cNvPr id="267" name="Google Shape;267;p27"/>
          <p:cNvSpPr/>
          <p:nvPr/>
        </p:nvSpPr>
        <p:spPr>
          <a:xfrm>
            <a:off x="985676" y="1673213"/>
            <a:ext cx="3275700" cy="1612200"/>
          </a:xfrm>
          <a:prstGeom prst="rect">
            <a:avLst/>
          </a:prstGeom>
          <a:noFill/>
          <a:ln cap="flat" cmpd="sng" w="28575">
            <a:solidFill>
              <a:srgbClr val="ABBF95"/>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Lexend"/>
                <a:ea typeface="Lexend"/>
                <a:cs typeface="Lexend"/>
                <a:sym typeface="Lexend"/>
              </a:rPr>
              <a:t>Physical:</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Materials</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Water</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Energy</a:t>
            </a:r>
            <a:endParaRPr sz="1200">
              <a:solidFill>
                <a:schemeClr val="dk1"/>
              </a:solidFill>
              <a:latin typeface="Lexend"/>
              <a:ea typeface="Lexend"/>
              <a:cs typeface="Lexend"/>
              <a:sym typeface="Lexend"/>
            </a:endParaRPr>
          </a:p>
          <a:p>
            <a:pPr indent="0" lvl="0" marL="0" rtl="0" algn="l">
              <a:spcBef>
                <a:spcPts val="0"/>
              </a:spcBef>
              <a:spcAft>
                <a:spcPts val="0"/>
              </a:spcAft>
              <a:buNone/>
            </a:pPr>
            <a:r>
              <a:rPr lang="en" sz="1200">
                <a:solidFill>
                  <a:schemeClr val="dk1"/>
                </a:solidFill>
                <a:latin typeface="Lexend"/>
                <a:ea typeface="Lexend"/>
                <a:cs typeface="Lexend"/>
                <a:sym typeface="Lexend"/>
              </a:rPr>
              <a:t>Maintenance:</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Surveillance</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Labour</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Costs</a:t>
            </a:r>
            <a:endParaRPr sz="1200">
              <a:solidFill>
                <a:schemeClr val="dk1"/>
              </a:solidFill>
              <a:latin typeface="Lexend"/>
              <a:ea typeface="Lexend"/>
              <a:cs typeface="Lexend"/>
              <a:sym typeface="Lexend"/>
            </a:endParaRPr>
          </a:p>
        </p:txBody>
      </p:sp>
      <p:sp>
        <p:nvSpPr>
          <p:cNvPr id="268" name="Google Shape;268;p27"/>
          <p:cNvSpPr/>
          <p:nvPr/>
        </p:nvSpPr>
        <p:spPr>
          <a:xfrm>
            <a:off x="2934151" y="3882700"/>
            <a:ext cx="3275700" cy="1072200"/>
          </a:xfrm>
          <a:prstGeom prst="rect">
            <a:avLst/>
          </a:prstGeom>
          <a:noFill/>
          <a:ln cap="flat" cmpd="sng" w="28575">
            <a:solidFill>
              <a:srgbClr val="ABBF95"/>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Lexend"/>
                <a:ea typeface="Lexend"/>
                <a:cs typeface="Lexend"/>
                <a:sym typeface="Lexend"/>
              </a:rPr>
              <a:t>Same equation with the following factors:</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Rainwater</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Temperature</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Ventilation</a:t>
            </a:r>
            <a:endParaRPr sz="1200">
              <a:solidFill>
                <a:schemeClr val="dk1"/>
              </a:solidFill>
              <a:latin typeface="Lexend"/>
              <a:ea typeface="Lexend"/>
              <a:cs typeface="Lexend"/>
              <a:sym typeface="Lexend"/>
            </a:endParaRPr>
          </a:p>
        </p:txBody>
      </p:sp>
      <p:sp>
        <p:nvSpPr>
          <p:cNvPr id="269" name="Google Shape;269;p27"/>
          <p:cNvSpPr/>
          <p:nvPr/>
        </p:nvSpPr>
        <p:spPr>
          <a:xfrm>
            <a:off x="4891450" y="1228063"/>
            <a:ext cx="3275700" cy="340500"/>
          </a:xfrm>
          <a:prstGeom prst="rect">
            <a:avLst/>
          </a:prstGeom>
          <a:solidFill>
            <a:srgbClr val="87A290"/>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exend"/>
                <a:ea typeface="Lexend"/>
                <a:cs typeface="Lexend"/>
                <a:sym typeface="Lexend"/>
              </a:rPr>
              <a:t>Seek Partnerships</a:t>
            </a:r>
            <a:endParaRPr>
              <a:solidFill>
                <a:schemeClr val="lt1"/>
              </a:solidFill>
              <a:latin typeface="Lexend"/>
              <a:ea typeface="Lexend"/>
              <a:cs typeface="Lexend"/>
              <a:sym typeface="Lexend"/>
            </a:endParaRPr>
          </a:p>
        </p:txBody>
      </p:sp>
      <p:sp>
        <p:nvSpPr>
          <p:cNvPr id="270" name="Google Shape;270;p27"/>
          <p:cNvSpPr/>
          <p:nvPr/>
        </p:nvSpPr>
        <p:spPr>
          <a:xfrm>
            <a:off x="4891450" y="1673213"/>
            <a:ext cx="3275700" cy="1612200"/>
          </a:xfrm>
          <a:prstGeom prst="rect">
            <a:avLst/>
          </a:prstGeom>
          <a:noFill/>
          <a:ln cap="flat" cmpd="sng" w="28575">
            <a:solidFill>
              <a:srgbClr val="ABBF95"/>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Lexend"/>
                <a:ea typeface="Lexend"/>
                <a:cs typeface="Lexend"/>
                <a:sym typeface="Lexend"/>
              </a:rPr>
              <a:t>Community initiatives:</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Miles Nadal JCC</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Native Canadian Centre of Toronto</a:t>
            </a:r>
            <a:endParaRPr sz="1200">
              <a:solidFill>
                <a:schemeClr val="dk1"/>
              </a:solidFill>
              <a:latin typeface="Lexend"/>
              <a:ea typeface="Lexend"/>
              <a:cs typeface="Lexend"/>
              <a:sym typeface="Lexend"/>
            </a:endParaRPr>
          </a:p>
          <a:p>
            <a:pPr indent="0" lvl="0" marL="0" rtl="0" algn="l">
              <a:spcBef>
                <a:spcPts val="0"/>
              </a:spcBef>
              <a:spcAft>
                <a:spcPts val="0"/>
              </a:spcAft>
              <a:buNone/>
            </a:pPr>
            <a:r>
              <a:rPr lang="en" sz="1200">
                <a:solidFill>
                  <a:schemeClr val="dk1"/>
                </a:solidFill>
                <a:latin typeface="Lexend"/>
                <a:ea typeface="Lexend"/>
                <a:cs typeface="Lexend"/>
                <a:sym typeface="Lexend"/>
              </a:rPr>
              <a:t>Food insecurity initiatives:</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Lighthouse Food Banks Canada</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UTSU Food Bank</a:t>
            </a:r>
            <a:endParaRPr sz="1200">
              <a:solidFill>
                <a:schemeClr val="dk1"/>
              </a:solidFill>
              <a:latin typeface="Lexend"/>
              <a:ea typeface="Lexend"/>
              <a:cs typeface="Lexend"/>
              <a:sym typeface="Lexend"/>
            </a:endParaRPr>
          </a:p>
        </p:txBody>
      </p:sp>
      <p:pic>
        <p:nvPicPr>
          <p:cNvPr id="271" name="Google Shape;271;p27" title="bold.png"/>
          <p:cNvPicPr preferRelativeResize="0"/>
          <p:nvPr/>
        </p:nvPicPr>
        <p:blipFill>
          <a:blip r:embed="rId3">
            <a:alphaModFix/>
          </a:blip>
          <a:stretch>
            <a:fillRect/>
          </a:stretch>
        </p:blipFill>
        <p:spPr>
          <a:xfrm>
            <a:off x="8528400" y="21325"/>
            <a:ext cx="615600" cy="615600"/>
          </a:xfrm>
          <a:prstGeom prst="rect">
            <a:avLst/>
          </a:prstGeom>
          <a:noFill/>
          <a:ln>
            <a:noFill/>
          </a:ln>
        </p:spPr>
      </p:pic>
      <p:sp>
        <p:nvSpPr>
          <p:cNvPr id="272" name="Google Shape;272;p27"/>
          <p:cNvSpPr/>
          <p:nvPr/>
        </p:nvSpPr>
        <p:spPr>
          <a:xfrm>
            <a:off x="7581600" y="4458300"/>
            <a:ext cx="1562400" cy="685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exend"/>
                <a:ea typeface="Lexend"/>
                <a:cs typeface="Lexend"/>
                <a:sym typeface="Lexend"/>
              </a:rPr>
              <a:t>Francesca Mangano</a:t>
            </a:r>
            <a:endParaRPr>
              <a:latin typeface="Lexend"/>
              <a:ea typeface="Lexend"/>
              <a:cs typeface="Lexend"/>
              <a:sym typeface="Lexend"/>
            </a:endParaRPr>
          </a:p>
        </p:txBody>
      </p:sp>
      <p:pic>
        <p:nvPicPr>
          <p:cNvPr id="273" name="Google Shape;273;p27"/>
          <p:cNvPicPr preferRelativeResize="0"/>
          <p:nvPr/>
        </p:nvPicPr>
        <p:blipFill rotWithShape="1">
          <a:blip r:embed="rId4">
            <a:alphaModFix/>
          </a:blip>
          <a:srcRect b="28087" l="32564" r="51310" t="50593"/>
          <a:stretch/>
        </p:blipFill>
        <p:spPr>
          <a:xfrm>
            <a:off x="6890600" y="4458300"/>
            <a:ext cx="691000" cy="685202"/>
          </a:xfrm>
          <a:prstGeom prst="rect">
            <a:avLst/>
          </a:prstGeom>
          <a:noFill/>
          <a:ln>
            <a:noFill/>
          </a:ln>
        </p:spPr>
      </p:pic>
    </p:spTree>
  </p:cSld>
  <p:clrMapOvr>
    <a:masterClrMapping/>
  </p:clrMapOvr>
  <mc:AlternateContent>
    <mc:Choice Requires="p14">
      <p:transition p14:dur="1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8"/>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Appendix A: Measures of Success Calculations</a:t>
            </a:r>
            <a:endParaRPr>
              <a:solidFill>
                <a:srgbClr val="A44200"/>
              </a:solidFill>
              <a:latin typeface="Lexend"/>
              <a:ea typeface="Lexend"/>
              <a:cs typeface="Lexend"/>
              <a:sym typeface="Lexend"/>
            </a:endParaRPr>
          </a:p>
        </p:txBody>
      </p:sp>
      <p:grpSp>
        <p:nvGrpSpPr>
          <p:cNvPr id="279" name="Google Shape;279;p28"/>
          <p:cNvGrpSpPr/>
          <p:nvPr/>
        </p:nvGrpSpPr>
        <p:grpSpPr>
          <a:xfrm>
            <a:off x="3404386" y="843711"/>
            <a:ext cx="2335229" cy="752255"/>
            <a:chOff x="2273300" y="3014700"/>
            <a:chExt cx="2984700" cy="964800"/>
          </a:xfrm>
        </p:grpSpPr>
        <p:sp>
          <p:nvSpPr>
            <p:cNvPr id="280" name="Google Shape;280;p28"/>
            <p:cNvSpPr/>
            <p:nvPr/>
          </p:nvSpPr>
          <p:spPr>
            <a:xfrm>
              <a:off x="2273300" y="3014700"/>
              <a:ext cx="2984700" cy="9648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1" name="Google Shape;281;p28" title="equation.png"/>
            <p:cNvPicPr preferRelativeResize="0"/>
            <p:nvPr/>
          </p:nvPicPr>
          <p:blipFill>
            <a:blip r:embed="rId3">
              <a:alphaModFix/>
            </a:blip>
            <a:stretch>
              <a:fillRect/>
            </a:stretch>
          </p:blipFill>
          <p:spPr>
            <a:xfrm>
              <a:off x="2372213" y="3108255"/>
              <a:ext cx="2786876" cy="777684"/>
            </a:xfrm>
            <a:prstGeom prst="rect">
              <a:avLst/>
            </a:prstGeom>
            <a:noFill/>
            <a:ln>
              <a:noFill/>
            </a:ln>
          </p:spPr>
        </p:pic>
      </p:grpSp>
      <p:sp>
        <p:nvSpPr>
          <p:cNvPr id="282" name="Google Shape;282;p28"/>
          <p:cNvSpPr txBox="1"/>
          <p:nvPr/>
        </p:nvSpPr>
        <p:spPr>
          <a:xfrm>
            <a:off x="613650" y="1657925"/>
            <a:ext cx="79167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Lexend"/>
                <a:ea typeface="Lexend"/>
                <a:cs typeface="Lexend"/>
                <a:sym typeface="Lexend"/>
              </a:rPr>
              <a:t>Calculating r:</a:t>
            </a:r>
            <a:endParaRPr b="1"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Using top 3 crops: tomatoes, potatoes, and lettuce</a:t>
            </a:r>
            <a:endParaRPr sz="1600">
              <a:solidFill>
                <a:schemeClr val="dk1"/>
              </a:solidFill>
              <a:latin typeface="Lexend"/>
              <a:ea typeface="Lexend"/>
              <a:cs typeface="Lexend"/>
              <a:sym typeface="Lexend"/>
            </a:endParaRPr>
          </a:p>
          <a:p>
            <a:pPr indent="-330200" lvl="0" marL="457200" rtl="0" algn="l">
              <a:spcBef>
                <a:spcPts val="0"/>
              </a:spcBef>
              <a:spcAft>
                <a:spcPts val="0"/>
              </a:spcAft>
              <a:buClr>
                <a:schemeClr val="dk1"/>
              </a:buClr>
              <a:buSzPts val="1600"/>
              <a:buFont typeface="Lexend"/>
              <a:buChar char="●"/>
            </a:pPr>
            <a:r>
              <a:rPr lang="en" sz="1600">
                <a:solidFill>
                  <a:schemeClr val="dk1"/>
                </a:solidFill>
                <a:latin typeface="Lexend"/>
                <a:ea typeface="Lexend"/>
                <a:cs typeface="Lexend"/>
                <a:sym typeface="Lexend"/>
              </a:rPr>
              <a:t>Tomato growth rate: 4.2%</a:t>
            </a:r>
            <a:endParaRPr sz="1600">
              <a:solidFill>
                <a:schemeClr val="dk1"/>
              </a:solidFill>
              <a:latin typeface="Lexend"/>
              <a:ea typeface="Lexend"/>
              <a:cs typeface="Lexend"/>
              <a:sym typeface="Lexend"/>
            </a:endParaRPr>
          </a:p>
          <a:p>
            <a:pPr indent="-330200" lvl="0" marL="457200" rtl="0" algn="l">
              <a:spcBef>
                <a:spcPts val="0"/>
              </a:spcBef>
              <a:spcAft>
                <a:spcPts val="0"/>
              </a:spcAft>
              <a:buClr>
                <a:schemeClr val="dk1"/>
              </a:buClr>
              <a:buSzPts val="1600"/>
              <a:buFont typeface="Lexend"/>
              <a:buChar char="●"/>
            </a:pPr>
            <a:r>
              <a:rPr lang="en" sz="1600">
                <a:solidFill>
                  <a:schemeClr val="dk1"/>
                </a:solidFill>
                <a:latin typeface="Lexend"/>
                <a:ea typeface="Lexend"/>
                <a:cs typeface="Lexend"/>
                <a:sym typeface="Lexend"/>
              </a:rPr>
              <a:t>Potato growth rate: 4.1%</a:t>
            </a:r>
            <a:endParaRPr sz="1600">
              <a:solidFill>
                <a:schemeClr val="dk1"/>
              </a:solidFill>
              <a:latin typeface="Lexend"/>
              <a:ea typeface="Lexend"/>
              <a:cs typeface="Lexend"/>
              <a:sym typeface="Lexend"/>
            </a:endParaRPr>
          </a:p>
          <a:p>
            <a:pPr indent="-330200" lvl="0" marL="457200" rtl="0" algn="l">
              <a:spcBef>
                <a:spcPts val="0"/>
              </a:spcBef>
              <a:spcAft>
                <a:spcPts val="0"/>
              </a:spcAft>
              <a:buClr>
                <a:schemeClr val="dk1"/>
              </a:buClr>
              <a:buSzPts val="1600"/>
              <a:buFont typeface="Lexend"/>
              <a:buChar char="●"/>
            </a:pPr>
            <a:r>
              <a:rPr lang="en" sz="1600">
                <a:solidFill>
                  <a:schemeClr val="dk1"/>
                </a:solidFill>
                <a:latin typeface="Lexend"/>
                <a:ea typeface="Lexend"/>
                <a:cs typeface="Lexend"/>
                <a:sym typeface="Lexend"/>
              </a:rPr>
              <a:t>Lettuce growth rate: 2.1%</a:t>
            </a:r>
            <a:endParaRPr sz="1600">
              <a:solidFill>
                <a:schemeClr val="dk1"/>
              </a:solidFill>
              <a:latin typeface="Lexend"/>
              <a:ea typeface="Lexend"/>
              <a:cs typeface="Lexend"/>
              <a:sym typeface="Lexend"/>
            </a:endParaRPr>
          </a:p>
          <a:p>
            <a:pPr indent="0" lvl="0" marL="0" rtl="0" algn="l">
              <a:spcBef>
                <a:spcPts val="0"/>
              </a:spcBef>
              <a:spcAft>
                <a:spcPts val="0"/>
              </a:spcAft>
              <a:buNone/>
            </a:pPr>
            <a:r>
              <a:t/>
            </a:r>
            <a:endParaRPr sz="1600">
              <a:solidFill>
                <a:schemeClr val="dk1"/>
              </a:solidFill>
              <a:latin typeface="Lexend"/>
              <a:ea typeface="Lexend"/>
              <a:cs typeface="Lexend"/>
              <a:sym typeface="Lexend"/>
            </a:endParaRPr>
          </a:p>
          <a:p>
            <a:pPr indent="0" lvl="0" marL="0" rtl="0" algn="l">
              <a:spcBef>
                <a:spcPts val="0"/>
              </a:spcBef>
              <a:spcAft>
                <a:spcPts val="0"/>
              </a:spcAft>
              <a:buNone/>
            </a:pPr>
            <a:r>
              <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Average growth rate: (4.2 + 4.1 + 2.1) / 3 = 3.5%</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3.5% of goal: 55.5 * 0.035 = </a:t>
            </a:r>
            <a:r>
              <a:rPr lang="en" sz="1600">
                <a:solidFill>
                  <a:srgbClr val="87A290"/>
                </a:solidFill>
                <a:latin typeface="Lexend"/>
                <a:ea typeface="Lexend"/>
                <a:cs typeface="Lexend"/>
                <a:sym typeface="Lexend"/>
              </a:rPr>
              <a:t>1.94</a:t>
            </a:r>
            <a:endParaRPr sz="1600">
              <a:solidFill>
                <a:srgbClr val="87A290"/>
              </a:solidFill>
              <a:latin typeface="Lexend"/>
              <a:ea typeface="Lexend"/>
              <a:cs typeface="Lexend"/>
              <a:sym typeface="Lexend"/>
            </a:endParaRPr>
          </a:p>
          <a:p>
            <a:pPr indent="0" lvl="0" marL="0" rtl="0" algn="l">
              <a:spcBef>
                <a:spcPts val="0"/>
              </a:spcBef>
              <a:spcAft>
                <a:spcPts val="0"/>
              </a:spcAft>
              <a:buNone/>
            </a:pPr>
            <a:r>
              <a:t/>
            </a:r>
            <a:endParaRPr sz="1600">
              <a:solidFill>
                <a:srgbClr val="87A290"/>
              </a:solidFill>
              <a:latin typeface="Lexend"/>
              <a:ea typeface="Lexend"/>
              <a:cs typeface="Lexend"/>
              <a:sym typeface="Lexend"/>
            </a:endParaRPr>
          </a:p>
          <a:p>
            <a:pPr indent="0" lvl="0" marL="0" rtl="0" algn="l">
              <a:spcBef>
                <a:spcPts val="0"/>
              </a:spcBef>
              <a:spcAft>
                <a:spcPts val="0"/>
              </a:spcAft>
              <a:buNone/>
            </a:pPr>
            <a:r>
              <a:rPr lang="en" sz="1600">
                <a:solidFill>
                  <a:srgbClr val="87A290"/>
                </a:solidFill>
                <a:latin typeface="Lexend"/>
                <a:ea typeface="Lexend"/>
                <a:cs typeface="Lexend"/>
                <a:sym typeface="Lexend"/>
              </a:rPr>
              <a:t>r = 1.94</a:t>
            </a:r>
            <a:endParaRPr sz="1600">
              <a:solidFill>
                <a:srgbClr val="87A290"/>
              </a:solidFill>
              <a:latin typeface="Lexend"/>
              <a:ea typeface="Lexend"/>
              <a:cs typeface="Lexend"/>
              <a:sym typeface="Lexend"/>
            </a:endParaRPr>
          </a:p>
        </p:txBody>
      </p:sp>
      <p:pic>
        <p:nvPicPr>
          <p:cNvPr id="283" name="Google Shape;283;p28" title="bold.png"/>
          <p:cNvPicPr preferRelativeResize="0"/>
          <p:nvPr/>
        </p:nvPicPr>
        <p:blipFill>
          <a:blip r:embed="rId4">
            <a:alphaModFix/>
          </a:blip>
          <a:stretch>
            <a:fillRect/>
          </a:stretch>
        </p:blipFill>
        <p:spPr>
          <a:xfrm>
            <a:off x="8528400" y="21325"/>
            <a:ext cx="615600" cy="615600"/>
          </a:xfrm>
          <a:prstGeom prst="rect">
            <a:avLst/>
          </a:prstGeom>
          <a:noFill/>
          <a:ln>
            <a:noFill/>
          </a:ln>
        </p:spPr>
      </p:pic>
      <p:sp>
        <p:nvSpPr>
          <p:cNvPr id="284" name="Google Shape;284;p28"/>
          <p:cNvSpPr/>
          <p:nvPr/>
        </p:nvSpPr>
        <p:spPr>
          <a:xfrm>
            <a:off x="4270450" y="1062675"/>
            <a:ext cx="130500" cy="334800"/>
          </a:xfrm>
          <a:prstGeom prst="rect">
            <a:avLst/>
          </a:prstGeom>
          <a:solidFill>
            <a:srgbClr val="87A290">
              <a:alpha val="421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85" name="Google Shape;285;p28"/>
          <p:cNvCxnSpPr/>
          <p:nvPr/>
        </p:nvCxnSpPr>
        <p:spPr>
          <a:xfrm>
            <a:off x="613650" y="3181025"/>
            <a:ext cx="7916700" cy="0"/>
          </a:xfrm>
          <a:prstGeom prst="straightConnector1">
            <a:avLst/>
          </a:prstGeom>
          <a:noFill/>
          <a:ln cap="flat" cmpd="sng" w="28575">
            <a:solidFill>
              <a:srgbClr val="ABBF95"/>
            </a:solidFill>
            <a:prstDash val="solid"/>
            <a:round/>
            <a:headEnd len="med" w="med" type="none"/>
            <a:tailEnd len="med" w="med" type="none"/>
          </a:ln>
        </p:spPr>
      </p:cxnSp>
    </p:spTree>
  </p:cSld>
  <p:clrMapOvr>
    <a:masterClrMapping/>
  </p:clrMapOvr>
  <mc:AlternateContent>
    <mc:Choice Requires="p14">
      <p:transition spd="slow" p14:dur="11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9"/>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Appendix A: Measures of Success Calculations</a:t>
            </a:r>
            <a:endParaRPr>
              <a:solidFill>
                <a:srgbClr val="A44200"/>
              </a:solidFill>
              <a:latin typeface="Lexend"/>
              <a:ea typeface="Lexend"/>
              <a:cs typeface="Lexend"/>
              <a:sym typeface="Lexend"/>
            </a:endParaRPr>
          </a:p>
        </p:txBody>
      </p:sp>
      <p:sp>
        <p:nvSpPr>
          <p:cNvPr id="291" name="Google Shape;291;p29"/>
          <p:cNvSpPr txBox="1"/>
          <p:nvPr/>
        </p:nvSpPr>
        <p:spPr>
          <a:xfrm>
            <a:off x="613650" y="1657925"/>
            <a:ext cx="8218800" cy="338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Lexend"/>
                <a:ea typeface="Lexend"/>
                <a:cs typeface="Lexend"/>
                <a:sym typeface="Lexend"/>
              </a:rPr>
              <a:t>Calculating K:</a:t>
            </a:r>
            <a:endParaRPr b="1" sz="1600">
              <a:solidFill>
                <a:schemeClr val="dk1"/>
              </a:solidFill>
              <a:latin typeface="Lexend"/>
              <a:ea typeface="Lexend"/>
              <a:cs typeface="Lexend"/>
              <a:sym typeface="Lexend"/>
            </a:endParaRPr>
          </a:p>
          <a:p>
            <a:pPr indent="-330200" lvl="0" marL="457200" rtl="0" algn="l">
              <a:spcBef>
                <a:spcPts val="0"/>
              </a:spcBef>
              <a:spcAft>
                <a:spcPts val="0"/>
              </a:spcAft>
              <a:buClr>
                <a:schemeClr val="dk1"/>
              </a:buClr>
              <a:buSzPts val="1600"/>
              <a:buFont typeface="Lexend"/>
              <a:buAutoNum type="arabicPeriod"/>
            </a:pPr>
            <a:r>
              <a:rPr lang="en" sz="1600">
                <a:solidFill>
                  <a:schemeClr val="dk1"/>
                </a:solidFill>
                <a:latin typeface="Lexend"/>
                <a:ea typeface="Lexend"/>
                <a:cs typeface="Lexend"/>
                <a:sym typeface="Lexend"/>
              </a:rPr>
              <a:t>Determine amount of sunlight </a:t>
            </a:r>
            <a:r>
              <a:rPr lang="en" sz="1600">
                <a:solidFill>
                  <a:schemeClr val="dk1"/>
                </a:solidFill>
                <a:latin typeface="Lexend"/>
                <a:ea typeface="Lexend"/>
                <a:cs typeface="Lexend"/>
                <a:sym typeface="Lexend"/>
              </a:rPr>
              <a:t>received</a:t>
            </a:r>
            <a:r>
              <a:rPr lang="en" sz="1600">
                <a:solidFill>
                  <a:schemeClr val="dk1"/>
                </a:solidFill>
                <a:latin typeface="Lexend"/>
                <a:ea typeface="Lexend"/>
                <a:cs typeface="Lexend"/>
                <a:sym typeface="Lexend"/>
              </a:rPr>
              <a:t> using online simulation</a:t>
            </a:r>
            <a:endParaRPr sz="1600">
              <a:solidFill>
                <a:schemeClr val="dk1"/>
              </a:solidFill>
              <a:latin typeface="Lexend"/>
              <a:ea typeface="Lexend"/>
              <a:cs typeface="Lexend"/>
              <a:sym typeface="Lexend"/>
            </a:endParaRPr>
          </a:p>
          <a:p>
            <a:pPr indent="-330200" lvl="0" marL="457200" rtl="0" algn="l">
              <a:spcBef>
                <a:spcPts val="0"/>
              </a:spcBef>
              <a:spcAft>
                <a:spcPts val="0"/>
              </a:spcAft>
              <a:buClr>
                <a:schemeClr val="dk1"/>
              </a:buClr>
              <a:buSzPts val="1600"/>
              <a:buFont typeface="Lexend"/>
              <a:buAutoNum type="arabicPeriod"/>
            </a:pPr>
            <a:r>
              <a:rPr lang="en" sz="1600">
                <a:solidFill>
                  <a:schemeClr val="dk1"/>
                </a:solidFill>
                <a:latin typeface="Lexend"/>
                <a:ea typeface="Lexend"/>
                <a:cs typeface="Lexend"/>
                <a:sym typeface="Lexend"/>
              </a:rPr>
              <a:t>Filter that value with our design to </a:t>
            </a:r>
            <a:r>
              <a:rPr lang="en" sz="1600">
                <a:solidFill>
                  <a:schemeClr val="dk1"/>
                </a:solidFill>
                <a:latin typeface="Lexend"/>
                <a:ea typeface="Lexend"/>
                <a:cs typeface="Lexend"/>
                <a:sym typeface="Lexend"/>
              </a:rPr>
              <a:t>determine</a:t>
            </a:r>
            <a:r>
              <a:rPr lang="en" sz="1600">
                <a:solidFill>
                  <a:schemeClr val="dk1"/>
                </a:solidFill>
                <a:latin typeface="Lexend"/>
                <a:ea typeface="Lexend"/>
                <a:cs typeface="Lexend"/>
                <a:sym typeface="Lexend"/>
              </a:rPr>
              <a:t> true sunlight </a:t>
            </a:r>
            <a:r>
              <a:rPr lang="en" sz="1600">
                <a:solidFill>
                  <a:schemeClr val="dk1"/>
                </a:solidFill>
                <a:latin typeface="Lexend"/>
                <a:ea typeface="Lexend"/>
                <a:cs typeface="Lexend"/>
                <a:sym typeface="Lexend"/>
              </a:rPr>
              <a:t>yield</a:t>
            </a:r>
            <a:endParaRPr sz="1600">
              <a:solidFill>
                <a:schemeClr val="dk1"/>
              </a:solidFill>
              <a:latin typeface="Lexend"/>
              <a:ea typeface="Lexend"/>
              <a:cs typeface="Lexend"/>
              <a:sym typeface="Lexend"/>
            </a:endParaRPr>
          </a:p>
          <a:p>
            <a:pPr indent="-330200" lvl="0" marL="457200" rtl="0" algn="l">
              <a:spcBef>
                <a:spcPts val="0"/>
              </a:spcBef>
              <a:spcAft>
                <a:spcPts val="0"/>
              </a:spcAft>
              <a:buClr>
                <a:schemeClr val="dk1"/>
              </a:buClr>
              <a:buSzPts val="1600"/>
              <a:buFont typeface="Lexend"/>
              <a:buAutoNum type="arabicPeriod"/>
            </a:pPr>
            <a:r>
              <a:rPr lang="en" sz="1600">
                <a:solidFill>
                  <a:schemeClr val="dk1"/>
                </a:solidFill>
                <a:latin typeface="Lexend"/>
                <a:ea typeface="Lexend"/>
                <a:cs typeface="Lexend"/>
                <a:sym typeface="Lexend"/>
              </a:rPr>
              <a:t>Calculate plant growth with that yield</a:t>
            </a:r>
            <a:endParaRPr sz="1600">
              <a:solidFill>
                <a:schemeClr val="dk1"/>
              </a:solidFill>
              <a:latin typeface="Lexend"/>
              <a:ea typeface="Lexend"/>
              <a:cs typeface="Lexend"/>
              <a:sym typeface="Lexend"/>
            </a:endParaRPr>
          </a:p>
          <a:p>
            <a:pPr indent="0" lvl="0" marL="0" rtl="0" algn="l">
              <a:spcBef>
                <a:spcPts val="0"/>
              </a:spcBef>
              <a:spcAft>
                <a:spcPts val="0"/>
              </a:spcAft>
              <a:buNone/>
            </a:pPr>
            <a:r>
              <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Average the months (Nasa Power): (1.44 + 2.5 + 3.64 + 4.55 + 5.66 + 6.35 + 5.67 + 5.31 + 4.16 + 2.58 + 1.79 + 1.15) / 12 =  3.73 </a:t>
            </a:r>
            <a:r>
              <a:rPr lang="en" sz="1600">
                <a:solidFill>
                  <a:schemeClr val="dk1"/>
                </a:solidFill>
                <a:latin typeface="Lexend"/>
                <a:ea typeface="Lexend"/>
                <a:cs typeface="Lexend"/>
                <a:sym typeface="Lexend"/>
              </a:rPr>
              <a:t>kW*hr</a:t>
            </a:r>
            <a:r>
              <a:rPr lang="en" sz="1600">
                <a:solidFill>
                  <a:schemeClr val="dk1"/>
                </a:solidFill>
                <a:latin typeface="Lexend"/>
                <a:ea typeface="Lexend"/>
                <a:cs typeface="Lexend"/>
                <a:sym typeface="Lexend"/>
              </a:rPr>
              <a:t>/m</a:t>
            </a:r>
            <a:r>
              <a:rPr baseline="30000" lang="en" sz="16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 per day</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Convert</a:t>
            </a:r>
            <a:r>
              <a:rPr lang="en" sz="1600">
                <a:solidFill>
                  <a:schemeClr val="dk1"/>
                </a:solidFill>
                <a:latin typeface="Lexend"/>
                <a:ea typeface="Lexend"/>
                <a:cs typeface="Lexend"/>
                <a:sym typeface="Lexend"/>
              </a:rPr>
              <a:t> into years: 1361.45 </a:t>
            </a:r>
            <a:r>
              <a:rPr lang="en" sz="1600">
                <a:solidFill>
                  <a:schemeClr val="dk1"/>
                </a:solidFill>
                <a:latin typeface="Lexend"/>
                <a:ea typeface="Lexend"/>
                <a:cs typeface="Lexend"/>
                <a:sym typeface="Lexend"/>
              </a:rPr>
              <a:t>kW*hr</a:t>
            </a:r>
            <a:r>
              <a:rPr lang="en" sz="1600">
                <a:solidFill>
                  <a:schemeClr val="dk1"/>
                </a:solidFill>
                <a:latin typeface="Lexend"/>
                <a:ea typeface="Lexend"/>
                <a:cs typeface="Lexend"/>
                <a:sym typeface="Lexend"/>
              </a:rPr>
              <a:t>/m</a:t>
            </a:r>
            <a:r>
              <a:rPr baseline="30000" lang="en" sz="16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 per year</a:t>
            </a:r>
            <a:endParaRPr sz="1600">
              <a:solidFill>
                <a:schemeClr val="dk1"/>
              </a:solidFill>
              <a:latin typeface="Lexend"/>
              <a:ea typeface="Lexend"/>
              <a:cs typeface="Lexend"/>
              <a:sym typeface="Lexend"/>
            </a:endParaRPr>
          </a:p>
          <a:p>
            <a:pPr indent="0" lvl="0" marL="0" rtl="0" algn="l">
              <a:spcBef>
                <a:spcPts val="0"/>
              </a:spcBef>
              <a:spcAft>
                <a:spcPts val="0"/>
              </a:spcAft>
              <a:buNone/>
            </a:pPr>
            <a:r>
              <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Only wavelengths from 400-</a:t>
            </a:r>
            <a:r>
              <a:rPr lang="en" sz="1600">
                <a:solidFill>
                  <a:schemeClr val="dk1"/>
                </a:solidFill>
                <a:latin typeface="Lexend"/>
                <a:ea typeface="Lexend"/>
                <a:cs typeface="Lexend"/>
                <a:sym typeface="Lexend"/>
              </a:rPr>
              <a:t>700 nm</a:t>
            </a:r>
            <a:r>
              <a:rPr lang="en" sz="1600">
                <a:solidFill>
                  <a:schemeClr val="dk1"/>
                </a:solidFill>
                <a:latin typeface="Lexend"/>
                <a:ea typeface="Lexend"/>
                <a:cs typeface="Lexend"/>
                <a:sym typeface="Lexend"/>
              </a:rPr>
              <a:t> are used for photosynthesis so 51.3% of the sunlight is lost at this point</a:t>
            </a:r>
            <a:endParaRPr sz="1600">
              <a:solidFill>
                <a:schemeClr val="dk1"/>
              </a:solidFill>
              <a:latin typeface="Lexend"/>
              <a:ea typeface="Lexend"/>
              <a:cs typeface="Lexend"/>
              <a:sym typeface="Lexend"/>
            </a:endParaRPr>
          </a:p>
          <a:p>
            <a:pPr indent="0" lvl="0" marL="0" rtl="0" algn="l">
              <a:spcBef>
                <a:spcPts val="0"/>
              </a:spcBef>
              <a:spcAft>
                <a:spcPts val="0"/>
              </a:spcAft>
              <a:buNone/>
            </a:pPr>
            <a:r>
              <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Calculate viable </a:t>
            </a:r>
            <a:r>
              <a:rPr lang="en" sz="1600">
                <a:solidFill>
                  <a:schemeClr val="dk1"/>
                </a:solidFill>
                <a:latin typeface="Lexend"/>
                <a:ea typeface="Lexend"/>
                <a:cs typeface="Lexend"/>
                <a:sym typeface="Lexend"/>
              </a:rPr>
              <a:t>photosynthesis</a:t>
            </a:r>
            <a:r>
              <a:rPr lang="en" sz="1600">
                <a:solidFill>
                  <a:schemeClr val="dk1"/>
                </a:solidFill>
                <a:latin typeface="Lexend"/>
                <a:ea typeface="Lexend"/>
                <a:cs typeface="Lexend"/>
                <a:sym typeface="Lexend"/>
              </a:rPr>
              <a:t> wavelengths: 1361.45 * 0.487 = 663.03 kW*hr/m</a:t>
            </a:r>
            <a:r>
              <a:rPr baseline="30000" lang="en" sz="1600">
                <a:solidFill>
                  <a:schemeClr val="dk1"/>
                </a:solidFill>
                <a:latin typeface="Lexend"/>
                <a:ea typeface="Lexend"/>
                <a:cs typeface="Lexend"/>
                <a:sym typeface="Lexend"/>
              </a:rPr>
              <a:t>2</a:t>
            </a:r>
            <a:endParaRPr baseline="30000" sz="1600">
              <a:solidFill>
                <a:schemeClr val="dk1"/>
              </a:solidFill>
              <a:latin typeface="Lexend"/>
              <a:ea typeface="Lexend"/>
              <a:cs typeface="Lexend"/>
              <a:sym typeface="Lexend"/>
            </a:endParaRPr>
          </a:p>
        </p:txBody>
      </p:sp>
      <p:pic>
        <p:nvPicPr>
          <p:cNvPr id="292" name="Google Shape;292;p29" title="bold.png"/>
          <p:cNvPicPr preferRelativeResize="0"/>
          <p:nvPr/>
        </p:nvPicPr>
        <p:blipFill>
          <a:blip r:embed="rId3">
            <a:alphaModFix/>
          </a:blip>
          <a:stretch>
            <a:fillRect/>
          </a:stretch>
        </p:blipFill>
        <p:spPr>
          <a:xfrm>
            <a:off x="8528400" y="21325"/>
            <a:ext cx="615600" cy="615600"/>
          </a:xfrm>
          <a:prstGeom prst="rect">
            <a:avLst/>
          </a:prstGeom>
          <a:noFill/>
          <a:ln>
            <a:noFill/>
          </a:ln>
        </p:spPr>
      </p:pic>
      <p:grpSp>
        <p:nvGrpSpPr>
          <p:cNvPr id="293" name="Google Shape;293;p29"/>
          <p:cNvGrpSpPr/>
          <p:nvPr/>
        </p:nvGrpSpPr>
        <p:grpSpPr>
          <a:xfrm>
            <a:off x="763861" y="856636"/>
            <a:ext cx="2335229" cy="752255"/>
            <a:chOff x="2273300" y="3014700"/>
            <a:chExt cx="2984700" cy="964800"/>
          </a:xfrm>
        </p:grpSpPr>
        <p:sp>
          <p:nvSpPr>
            <p:cNvPr id="294" name="Google Shape;294;p29"/>
            <p:cNvSpPr/>
            <p:nvPr/>
          </p:nvSpPr>
          <p:spPr>
            <a:xfrm>
              <a:off x="2273300" y="3014700"/>
              <a:ext cx="2984700" cy="9648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95" name="Google Shape;295;p29" title="equation.png"/>
            <p:cNvPicPr preferRelativeResize="0"/>
            <p:nvPr/>
          </p:nvPicPr>
          <p:blipFill>
            <a:blip r:embed="rId4">
              <a:alphaModFix/>
            </a:blip>
            <a:stretch>
              <a:fillRect/>
            </a:stretch>
          </p:blipFill>
          <p:spPr>
            <a:xfrm>
              <a:off x="2372213" y="3108255"/>
              <a:ext cx="2786876" cy="777684"/>
            </a:xfrm>
            <a:prstGeom prst="rect">
              <a:avLst/>
            </a:prstGeom>
            <a:noFill/>
            <a:ln>
              <a:noFill/>
            </a:ln>
          </p:spPr>
        </p:pic>
      </p:grpSp>
      <p:sp>
        <p:nvSpPr>
          <p:cNvPr id="296" name="Google Shape;296;p29"/>
          <p:cNvSpPr/>
          <p:nvPr/>
        </p:nvSpPr>
        <p:spPr>
          <a:xfrm>
            <a:off x="2618150" y="1291175"/>
            <a:ext cx="312900" cy="304800"/>
          </a:xfrm>
          <a:prstGeom prst="rect">
            <a:avLst/>
          </a:prstGeom>
          <a:solidFill>
            <a:srgbClr val="87A290">
              <a:alpha val="421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97" name="Google Shape;297;p29"/>
          <p:cNvPicPr preferRelativeResize="0"/>
          <p:nvPr/>
        </p:nvPicPr>
        <p:blipFill>
          <a:blip r:embed="rId5">
            <a:alphaModFix/>
          </a:blip>
          <a:stretch>
            <a:fillRect/>
          </a:stretch>
        </p:blipFill>
        <p:spPr>
          <a:xfrm>
            <a:off x="3688325" y="728425"/>
            <a:ext cx="4591291" cy="1198725"/>
          </a:xfrm>
          <a:prstGeom prst="rect">
            <a:avLst/>
          </a:prstGeom>
          <a:noFill/>
          <a:ln>
            <a:noFill/>
          </a:ln>
        </p:spPr>
      </p:pic>
    </p:spTree>
  </p:cSld>
  <p:clrMapOvr>
    <a:masterClrMapping/>
  </p:clrMapOvr>
  <mc:AlternateContent>
    <mc:Choice Requires="p14">
      <p:transition p14:dur="1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0"/>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Appendix A: Measures of Success Calculations</a:t>
            </a:r>
            <a:endParaRPr>
              <a:solidFill>
                <a:srgbClr val="A44200"/>
              </a:solidFill>
              <a:latin typeface="Lexend"/>
              <a:ea typeface="Lexend"/>
              <a:cs typeface="Lexend"/>
              <a:sym typeface="Lexend"/>
            </a:endParaRPr>
          </a:p>
        </p:txBody>
      </p:sp>
      <p:sp>
        <p:nvSpPr>
          <p:cNvPr id="303" name="Google Shape;303;p30"/>
          <p:cNvSpPr txBox="1"/>
          <p:nvPr/>
        </p:nvSpPr>
        <p:spPr>
          <a:xfrm>
            <a:off x="613650" y="1657925"/>
            <a:ext cx="8218800" cy="338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Lexend"/>
                <a:ea typeface="Lexend"/>
                <a:cs typeface="Lexend"/>
                <a:sym typeface="Lexend"/>
              </a:rPr>
              <a:t>Calculating K:</a:t>
            </a:r>
            <a:endParaRPr b="1"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Tomato energy growth requirement: 13.4 kW*hr/kg</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Potato energy growth requirement: 0.89 </a:t>
            </a:r>
            <a:r>
              <a:rPr lang="en" sz="1600">
                <a:solidFill>
                  <a:schemeClr val="dk1"/>
                </a:solidFill>
                <a:latin typeface="Lexend"/>
                <a:ea typeface="Lexend"/>
                <a:cs typeface="Lexend"/>
                <a:sym typeface="Lexend"/>
              </a:rPr>
              <a:t>kW*hr/kg</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Lettuce energy growth requirement: 1.7 kW*hr/kg</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Average energy growth requirement: (13.4 + 0.89 + 1.7) / 3 = 5.33 kW*hr/kg</a:t>
            </a:r>
            <a:endParaRPr sz="1600">
              <a:solidFill>
                <a:schemeClr val="dk1"/>
              </a:solidFill>
              <a:latin typeface="Lexend"/>
              <a:ea typeface="Lexend"/>
              <a:cs typeface="Lexend"/>
              <a:sym typeface="Lexend"/>
            </a:endParaRPr>
          </a:p>
          <a:p>
            <a:pPr indent="0" lvl="0" marL="0" rtl="0" algn="l">
              <a:spcBef>
                <a:spcPts val="0"/>
              </a:spcBef>
              <a:spcAft>
                <a:spcPts val="0"/>
              </a:spcAft>
              <a:buNone/>
            </a:pPr>
            <a:r>
              <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Tuning for our design: glass polarization is negligible</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Growing area: 25.581 m</a:t>
            </a:r>
            <a:r>
              <a:rPr baseline="30000" lang="en" sz="16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 (indoor) + 14.567 m</a:t>
            </a:r>
            <a:r>
              <a:rPr baseline="30000" lang="en" sz="16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 (balcony) + 373/2 m</a:t>
            </a:r>
            <a:r>
              <a:rPr baseline="30000" lang="en" sz="16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 (outdoor, half year) = 226.648 m</a:t>
            </a:r>
            <a:r>
              <a:rPr baseline="30000" lang="en" sz="1600">
                <a:solidFill>
                  <a:schemeClr val="dk1"/>
                </a:solidFill>
                <a:latin typeface="Lexend"/>
                <a:ea typeface="Lexend"/>
                <a:cs typeface="Lexend"/>
                <a:sym typeface="Lexend"/>
              </a:rPr>
              <a:t>2</a:t>
            </a:r>
            <a:endParaRPr baseline="30000"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 loss: area of shadows / area of greenhouse = 14.365 m</a:t>
            </a:r>
            <a:r>
              <a:rPr baseline="30000" lang="en" sz="16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 / 226.648 m</a:t>
            </a:r>
            <a:r>
              <a:rPr baseline="30000" lang="en" sz="16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 = 6.34%</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Adjusting energy based on shadows: 663.03 kW*hr/m</a:t>
            </a:r>
            <a:r>
              <a:rPr baseline="30000" lang="en" sz="16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 * 0.9366 = 620.99 kW*hr/m</a:t>
            </a:r>
            <a:r>
              <a:rPr baseline="30000" lang="en" sz="1600">
                <a:solidFill>
                  <a:schemeClr val="dk1"/>
                </a:solidFill>
                <a:latin typeface="Lexend"/>
                <a:ea typeface="Lexend"/>
                <a:cs typeface="Lexend"/>
                <a:sym typeface="Lexend"/>
              </a:rPr>
              <a:t>2</a:t>
            </a:r>
            <a:endParaRPr sz="1600">
              <a:solidFill>
                <a:schemeClr val="dk1"/>
              </a:solidFill>
              <a:latin typeface="Lexend"/>
              <a:ea typeface="Lexend"/>
              <a:cs typeface="Lexend"/>
              <a:sym typeface="Lexend"/>
            </a:endParaRPr>
          </a:p>
          <a:p>
            <a:pPr indent="0" lvl="0" marL="0" rtl="0" algn="l">
              <a:spcBef>
                <a:spcPts val="0"/>
              </a:spcBef>
              <a:spcAft>
                <a:spcPts val="0"/>
              </a:spcAft>
              <a:buNone/>
            </a:pPr>
            <a:r>
              <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rgbClr val="87A290"/>
                </a:solidFill>
                <a:latin typeface="Lexend"/>
                <a:ea typeface="Lexend"/>
                <a:cs typeface="Lexend"/>
                <a:sym typeface="Lexend"/>
              </a:rPr>
              <a:t>K </a:t>
            </a:r>
            <a:r>
              <a:rPr lang="en" sz="1600">
                <a:solidFill>
                  <a:schemeClr val="dk1"/>
                </a:solidFill>
                <a:latin typeface="Lexend"/>
                <a:ea typeface="Lexend"/>
                <a:cs typeface="Lexend"/>
                <a:sym typeface="Lexend"/>
              </a:rPr>
              <a:t>= 620.99 kW*hr/m</a:t>
            </a:r>
            <a:r>
              <a:rPr baseline="30000" lang="en" sz="16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 / 5.33 620.99 kW*hr/kg = </a:t>
            </a:r>
            <a:r>
              <a:rPr lang="en" sz="1600">
                <a:solidFill>
                  <a:srgbClr val="87A290"/>
                </a:solidFill>
                <a:latin typeface="Lexend"/>
                <a:ea typeface="Lexend"/>
                <a:cs typeface="Lexend"/>
                <a:sym typeface="Lexend"/>
              </a:rPr>
              <a:t>116.5kg/m</a:t>
            </a:r>
            <a:r>
              <a:rPr baseline="30000" lang="en" sz="1600">
                <a:solidFill>
                  <a:srgbClr val="87A290"/>
                </a:solidFill>
                <a:latin typeface="Lexend"/>
                <a:ea typeface="Lexend"/>
                <a:cs typeface="Lexend"/>
                <a:sym typeface="Lexend"/>
              </a:rPr>
              <a:t>2</a:t>
            </a:r>
            <a:endParaRPr sz="1600">
              <a:solidFill>
                <a:srgbClr val="87A290"/>
              </a:solidFill>
              <a:latin typeface="Lexend"/>
              <a:ea typeface="Lexend"/>
              <a:cs typeface="Lexend"/>
              <a:sym typeface="Lexend"/>
            </a:endParaRPr>
          </a:p>
        </p:txBody>
      </p:sp>
      <p:pic>
        <p:nvPicPr>
          <p:cNvPr id="304" name="Google Shape;304;p30" title="bold.png"/>
          <p:cNvPicPr preferRelativeResize="0"/>
          <p:nvPr/>
        </p:nvPicPr>
        <p:blipFill>
          <a:blip r:embed="rId3">
            <a:alphaModFix/>
          </a:blip>
          <a:stretch>
            <a:fillRect/>
          </a:stretch>
        </p:blipFill>
        <p:spPr>
          <a:xfrm>
            <a:off x="8528400" y="21325"/>
            <a:ext cx="615600" cy="615600"/>
          </a:xfrm>
          <a:prstGeom prst="rect">
            <a:avLst/>
          </a:prstGeom>
          <a:noFill/>
          <a:ln>
            <a:noFill/>
          </a:ln>
        </p:spPr>
      </p:pic>
      <p:cxnSp>
        <p:nvCxnSpPr>
          <p:cNvPr id="305" name="Google Shape;305;p30"/>
          <p:cNvCxnSpPr/>
          <p:nvPr/>
        </p:nvCxnSpPr>
        <p:spPr>
          <a:xfrm>
            <a:off x="613650" y="3104825"/>
            <a:ext cx="7916700" cy="0"/>
          </a:xfrm>
          <a:prstGeom prst="straightConnector1">
            <a:avLst/>
          </a:prstGeom>
          <a:noFill/>
          <a:ln cap="flat" cmpd="sng" w="28575">
            <a:solidFill>
              <a:srgbClr val="ABBF95"/>
            </a:solidFill>
            <a:prstDash val="solid"/>
            <a:round/>
            <a:headEnd len="med" w="med" type="none"/>
            <a:tailEnd len="med" w="med" type="none"/>
          </a:ln>
        </p:spPr>
      </p:cxnSp>
      <p:grpSp>
        <p:nvGrpSpPr>
          <p:cNvPr id="306" name="Google Shape;306;p30"/>
          <p:cNvGrpSpPr/>
          <p:nvPr/>
        </p:nvGrpSpPr>
        <p:grpSpPr>
          <a:xfrm>
            <a:off x="3404386" y="843711"/>
            <a:ext cx="2335229" cy="752255"/>
            <a:chOff x="2273300" y="3014700"/>
            <a:chExt cx="2984700" cy="964800"/>
          </a:xfrm>
        </p:grpSpPr>
        <p:sp>
          <p:nvSpPr>
            <p:cNvPr id="307" name="Google Shape;307;p30"/>
            <p:cNvSpPr/>
            <p:nvPr/>
          </p:nvSpPr>
          <p:spPr>
            <a:xfrm>
              <a:off x="2273300" y="3014700"/>
              <a:ext cx="2984700" cy="9648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08" name="Google Shape;308;p30" title="equation.png"/>
            <p:cNvPicPr preferRelativeResize="0"/>
            <p:nvPr/>
          </p:nvPicPr>
          <p:blipFill>
            <a:blip r:embed="rId4">
              <a:alphaModFix/>
            </a:blip>
            <a:stretch>
              <a:fillRect/>
            </a:stretch>
          </p:blipFill>
          <p:spPr>
            <a:xfrm>
              <a:off x="2372213" y="3108255"/>
              <a:ext cx="2786876" cy="777684"/>
            </a:xfrm>
            <a:prstGeom prst="rect">
              <a:avLst/>
            </a:prstGeom>
            <a:noFill/>
            <a:ln>
              <a:noFill/>
            </a:ln>
          </p:spPr>
        </p:pic>
      </p:grpSp>
      <p:sp>
        <p:nvSpPr>
          <p:cNvPr id="309" name="Google Shape;309;p30"/>
          <p:cNvSpPr/>
          <p:nvPr/>
        </p:nvSpPr>
        <p:spPr>
          <a:xfrm>
            <a:off x="5261050" y="1291275"/>
            <a:ext cx="312900" cy="304800"/>
          </a:xfrm>
          <a:prstGeom prst="rect">
            <a:avLst/>
          </a:prstGeom>
          <a:solidFill>
            <a:srgbClr val="87A290">
              <a:alpha val="421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mc:AlternateContent>
    <mc:Choice Requires="p14">
      <p:transition p14:dur="1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1"/>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Appendix A: Measures of Success Calculations</a:t>
            </a:r>
            <a:endParaRPr>
              <a:solidFill>
                <a:srgbClr val="A44200"/>
              </a:solidFill>
              <a:latin typeface="Lexend"/>
              <a:ea typeface="Lexend"/>
              <a:cs typeface="Lexend"/>
              <a:sym typeface="Lexend"/>
            </a:endParaRPr>
          </a:p>
        </p:txBody>
      </p:sp>
      <p:sp>
        <p:nvSpPr>
          <p:cNvPr id="315" name="Google Shape;315;p31"/>
          <p:cNvSpPr txBox="1"/>
          <p:nvPr/>
        </p:nvSpPr>
        <p:spPr>
          <a:xfrm>
            <a:off x="613650" y="1657925"/>
            <a:ext cx="82188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Lexend"/>
                <a:ea typeface="Lexend"/>
                <a:cs typeface="Lexend"/>
                <a:sym typeface="Lexend"/>
              </a:rPr>
              <a:t>Determining p(0):</a:t>
            </a:r>
            <a:endParaRPr b="1"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Tomato: 10 plants/m</a:t>
            </a:r>
            <a:r>
              <a:rPr baseline="30000" lang="en" sz="16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 713 g/plant → 7.13 kg/m</a:t>
            </a:r>
            <a:r>
              <a:rPr baseline="30000" lang="en" sz="1600">
                <a:solidFill>
                  <a:schemeClr val="dk1"/>
                </a:solidFill>
                <a:latin typeface="Lexend"/>
                <a:ea typeface="Lexend"/>
                <a:cs typeface="Lexend"/>
                <a:sym typeface="Lexend"/>
              </a:rPr>
              <a:t>2</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Potato: 40 plants/m</a:t>
            </a:r>
            <a:r>
              <a:rPr baseline="30000" lang="en" sz="16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 615 g/plant → 24.6 kg/m</a:t>
            </a:r>
            <a:r>
              <a:rPr baseline="30000" lang="en" sz="1600">
                <a:solidFill>
                  <a:schemeClr val="dk1"/>
                </a:solidFill>
                <a:latin typeface="Lexend"/>
                <a:ea typeface="Lexend"/>
                <a:cs typeface="Lexend"/>
                <a:sym typeface="Lexend"/>
              </a:rPr>
              <a:t>2</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Lettuce: 60 plants/m</a:t>
            </a:r>
            <a:r>
              <a:rPr baseline="30000" lang="en" sz="16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 156 g/plant → 9.36 kg/m</a:t>
            </a:r>
            <a:r>
              <a:rPr baseline="30000" lang="en" sz="1600">
                <a:solidFill>
                  <a:schemeClr val="dk1"/>
                </a:solidFill>
                <a:latin typeface="Lexend"/>
                <a:ea typeface="Lexend"/>
                <a:cs typeface="Lexend"/>
                <a:sym typeface="Lexend"/>
              </a:rPr>
              <a:t>2</a:t>
            </a:r>
            <a:endParaRPr baseline="30000" sz="1600">
              <a:solidFill>
                <a:schemeClr val="dk1"/>
              </a:solidFill>
              <a:latin typeface="Lexend"/>
              <a:ea typeface="Lexend"/>
              <a:cs typeface="Lexend"/>
              <a:sym typeface="Lexend"/>
            </a:endParaRPr>
          </a:p>
          <a:p>
            <a:pPr indent="0" lvl="0" marL="0" rtl="0" algn="l">
              <a:spcBef>
                <a:spcPts val="0"/>
              </a:spcBef>
              <a:spcAft>
                <a:spcPts val="0"/>
              </a:spcAft>
              <a:buNone/>
            </a:pPr>
            <a:r>
              <a:t/>
            </a:r>
            <a:endParaRPr sz="1600">
              <a:solidFill>
                <a:schemeClr val="dk1"/>
              </a:solidFill>
              <a:latin typeface="Lexend"/>
              <a:ea typeface="Lexend"/>
              <a:cs typeface="Lexend"/>
              <a:sym typeface="Lexend"/>
            </a:endParaRPr>
          </a:p>
          <a:p>
            <a:pPr indent="0" lvl="0" marL="0" rtl="0" algn="l">
              <a:spcBef>
                <a:spcPts val="0"/>
              </a:spcBef>
              <a:spcAft>
                <a:spcPts val="0"/>
              </a:spcAft>
              <a:buNone/>
            </a:pPr>
            <a:r>
              <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Average = 13.7 kg/m</a:t>
            </a:r>
            <a:r>
              <a:rPr baseline="30000" lang="en" sz="1600">
                <a:solidFill>
                  <a:schemeClr val="dk1"/>
                </a:solidFill>
                <a:latin typeface="Lexend"/>
                <a:ea typeface="Lexend"/>
                <a:cs typeface="Lexend"/>
                <a:sym typeface="Lexend"/>
              </a:rPr>
              <a:t>2</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p(0) = 13.7 kg/m</a:t>
            </a:r>
            <a:r>
              <a:rPr baseline="30000" lang="en" sz="1600">
                <a:solidFill>
                  <a:schemeClr val="dk1"/>
                </a:solidFill>
                <a:latin typeface="Lexend"/>
                <a:ea typeface="Lexend"/>
                <a:cs typeface="Lexend"/>
                <a:sym typeface="Lexend"/>
              </a:rPr>
              <a:t>2</a:t>
            </a:r>
            <a:endParaRPr sz="1600">
              <a:solidFill>
                <a:schemeClr val="dk1"/>
              </a:solidFill>
              <a:latin typeface="Lexend"/>
              <a:ea typeface="Lexend"/>
              <a:cs typeface="Lexend"/>
              <a:sym typeface="Lexend"/>
            </a:endParaRPr>
          </a:p>
          <a:p>
            <a:pPr indent="0" lvl="0" marL="0" rtl="0" algn="l">
              <a:spcBef>
                <a:spcPts val="0"/>
              </a:spcBef>
              <a:spcAft>
                <a:spcPts val="0"/>
              </a:spcAft>
              <a:buNone/>
            </a:pPr>
            <a:r>
              <a:t/>
            </a:r>
            <a:endParaRPr sz="1600">
              <a:solidFill>
                <a:schemeClr val="dk1"/>
              </a:solidFill>
              <a:latin typeface="Lexend"/>
              <a:ea typeface="Lexend"/>
              <a:cs typeface="Lexend"/>
              <a:sym typeface="Lexend"/>
            </a:endParaRPr>
          </a:p>
          <a:p>
            <a:pPr indent="0" lvl="0" marL="0" rtl="0" algn="l">
              <a:spcBef>
                <a:spcPts val="0"/>
              </a:spcBef>
              <a:spcAft>
                <a:spcPts val="0"/>
              </a:spcAft>
              <a:buNone/>
            </a:pPr>
            <a:r>
              <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P(t) = 116.51 / ((1 + (116.5 - 13.7) / 13.7) * e</a:t>
            </a:r>
            <a:r>
              <a:rPr baseline="30000" lang="en" sz="1600">
                <a:solidFill>
                  <a:schemeClr val="dk1"/>
                </a:solidFill>
                <a:latin typeface="Lexend"/>
                <a:ea typeface="Lexend"/>
                <a:cs typeface="Lexend"/>
                <a:sym typeface="Lexend"/>
              </a:rPr>
              <a:t>-1.94t</a:t>
            </a:r>
            <a:r>
              <a:rPr lang="en" sz="1600">
                <a:solidFill>
                  <a:schemeClr val="dk1"/>
                </a:solidFill>
                <a:latin typeface="Lexend"/>
                <a:ea typeface="Lexend"/>
                <a:cs typeface="Lexend"/>
                <a:sym typeface="Lexend"/>
              </a:rPr>
              <a:t>)</a:t>
            </a:r>
            <a:endParaRPr b="1" sz="1600">
              <a:solidFill>
                <a:schemeClr val="dk1"/>
              </a:solidFill>
              <a:latin typeface="Lexend"/>
              <a:ea typeface="Lexend"/>
              <a:cs typeface="Lexend"/>
              <a:sym typeface="Lexend"/>
            </a:endParaRPr>
          </a:p>
        </p:txBody>
      </p:sp>
      <p:pic>
        <p:nvPicPr>
          <p:cNvPr id="316" name="Google Shape;316;p31" title="bold.png"/>
          <p:cNvPicPr preferRelativeResize="0"/>
          <p:nvPr/>
        </p:nvPicPr>
        <p:blipFill>
          <a:blip r:embed="rId3">
            <a:alphaModFix/>
          </a:blip>
          <a:stretch>
            <a:fillRect/>
          </a:stretch>
        </p:blipFill>
        <p:spPr>
          <a:xfrm>
            <a:off x="8528400" y="21325"/>
            <a:ext cx="615600" cy="615600"/>
          </a:xfrm>
          <a:prstGeom prst="rect">
            <a:avLst/>
          </a:prstGeom>
          <a:noFill/>
          <a:ln>
            <a:noFill/>
          </a:ln>
        </p:spPr>
      </p:pic>
      <p:grpSp>
        <p:nvGrpSpPr>
          <p:cNvPr id="317" name="Google Shape;317;p31"/>
          <p:cNvGrpSpPr/>
          <p:nvPr/>
        </p:nvGrpSpPr>
        <p:grpSpPr>
          <a:xfrm>
            <a:off x="1156236" y="781761"/>
            <a:ext cx="2335229" cy="752255"/>
            <a:chOff x="2273300" y="3014700"/>
            <a:chExt cx="2984700" cy="964800"/>
          </a:xfrm>
        </p:grpSpPr>
        <p:sp>
          <p:nvSpPr>
            <p:cNvPr id="318" name="Google Shape;318;p31"/>
            <p:cNvSpPr/>
            <p:nvPr/>
          </p:nvSpPr>
          <p:spPr>
            <a:xfrm>
              <a:off x="2273300" y="3014700"/>
              <a:ext cx="2984700" cy="9648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19" name="Google Shape;319;p31" title="equation.png"/>
            <p:cNvPicPr preferRelativeResize="0"/>
            <p:nvPr/>
          </p:nvPicPr>
          <p:blipFill>
            <a:blip r:embed="rId4">
              <a:alphaModFix/>
            </a:blip>
            <a:stretch>
              <a:fillRect/>
            </a:stretch>
          </p:blipFill>
          <p:spPr>
            <a:xfrm>
              <a:off x="2372213" y="3108255"/>
              <a:ext cx="2786876" cy="777684"/>
            </a:xfrm>
            <a:prstGeom prst="rect">
              <a:avLst/>
            </a:prstGeom>
            <a:noFill/>
            <a:ln>
              <a:noFill/>
            </a:ln>
          </p:spPr>
        </p:pic>
      </p:grpSp>
      <p:cxnSp>
        <p:nvCxnSpPr>
          <p:cNvPr id="320" name="Google Shape;320;p31"/>
          <p:cNvCxnSpPr/>
          <p:nvPr/>
        </p:nvCxnSpPr>
        <p:spPr>
          <a:xfrm>
            <a:off x="613650" y="2952425"/>
            <a:ext cx="7916700" cy="0"/>
          </a:xfrm>
          <a:prstGeom prst="straightConnector1">
            <a:avLst/>
          </a:prstGeom>
          <a:noFill/>
          <a:ln cap="flat" cmpd="sng" w="28575">
            <a:solidFill>
              <a:srgbClr val="ABBF95"/>
            </a:solidFill>
            <a:prstDash val="solid"/>
            <a:round/>
            <a:headEnd len="med" w="med" type="none"/>
            <a:tailEnd len="med" w="med" type="none"/>
          </a:ln>
        </p:spPr>
      </p:cxnSp>
      <p:grpSp>
        <p:nvGrpSpPr>
          <p:cNvPr id="321" name="Google Shape;321;p31"/>
          <p:cNvGrpSpPr/>
          <p:nvPr/>
        </p:nvGrpSpPr>
        <p:grpSpPr>
          <a:xfrm>
            <a:off x="5189931" y="650012"/>
            <a:ext cx="3422248" cy="1015762"/>
            <a:chOff x="5195450" y="2550500"/>
            <a:chExt cx="3865200" cy="1094100"/>
          </a:xfrm>
        </p:grpSpPr>
        <p:sp>
          <p:nvSpPr>
            <p:cNvPr id="322" name="Google Shape;322;p31"/>
            <p:cNvSpPr/>
            <p:nvPr/>
          </p:nvSpPr>
          <p:spPr>
            <a:xfrm>
              <a:off x="5195450" y="2550500"/>
              <a:ext cx="3865200" cy="10941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23" name="Google Shape;323;p31" title="equation (1).png"/>
            <p:cNvPicPr preferRelativeResize="0"/>
            <p:nvPr/>
          </p:nvPicPr>
          <p:blipFill>
            <a:blip r:embed="rId5">
              <a:alphaModFix/>
            </a:blip>
            <a:stretch>
              <a:fillRect/>
            </a:stretch>
          </p:blipFill>
          <p:spPr>
            <a:xfrm>
              <a:off x="5275750" y="2650918"/>
              <a:ext cx="3682477" cy="904550"/>
            </a:xfrm>
            <a:prstGeom prst="rect">
              <a:avLst/>
            </a:prstGeom>
            <a:noFill/>
            <a:ln>
              <a:noFill/>
            </a:ln>
          </p:spPr>
        </p:pic>
      </p:grpSp>
      <p:sp>
        <p:nvSpPr>
          <p:cNvPr id="324" name="Google Shape;324;p31"/>
          <p:cNvSpPr/>
          <p:nvPr/>
        </p:nvSpPr>
        <p:spPr>
          <a:xfrm>
            <a:off x="7333600" y="1116300"/>
            <a:ext cx="369000" cy="224100"/>
          </a:xfrm>
          <a:prstGeom prst="rect">
            <a:avLst/>
          </a:prstGeom>
          <a:solidFill>
            <a:srgbClr val="87A290">
              <a:alpha val="421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25" name="Google Shape;325;p31"/>
          <p:cNvCxnSpPr/>
          <p:nvPr/>
        </p:nvCxnSpPr>
        <p:spPr>
          <a:xfrm>
            <a:off x="613650" y="3943025"/>
            <a:ext cx="7916700" cy="0"/>
          </a:xfrm>
          <a:prstGeom prst="straightConnector1">
            <a:avLst/>
          </a:prstGeom>
          <a:noFill/>
          <a:ln cap="flat" cmpd="sng" w="28575">
            <a:solidFill>
              <a:srgbClr val="ABBF95"/>
            </a:solidFill>
            <a:prstDash val="solid"/>
            <a:round/>
            <a:headEnd len="med" w="med" type="none"/>
            <a:tailEnd len="med" w="med" type="none"/>
          </a:ln>
        </p:spPr>
      </p:cxnSp>
      <p:sp>
        <p:nvSpPr>
          <p:cNvPr id="326" name="Google Shape;326;p31"/>
          <p:cNvSpPr/>
          <p:nvPr/>
        </p:nvSpPr>
        <p:spPr>
          <a:xfrm>
            <a:off x="7152875" y="1369175"/>
            <a:ext cx="381900" cy="233100"/>
          </a:xfrm>
          <a:prstGeom prst="rect">
            <a:avLst/>
          </a:prstGeom>
          <a:solidFill>
            <a:srgbClr val="87A290">
              <a:alpha val="421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2"/>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Appendix A: Measures of Success Calculations</a:t>
            </a:r>
            <a:endParaRPr>
              <a:solidFill>
                <a:srgbClr val="A44200"/>
              </a:solidFill>
              <a:latin typeface="Lexend"/>
              <a:ea typeface="Lexend"/>
              <a:cs typeface="Lexend"/>
              <a:sym typeface="Lexend"/>
            </a:endParaRPr>
          </a:p>
        </p:txBody>
      </p:sp>
      <p:sp>
        <p:nvSpPr>
          <p:cNvPr id="332" name="Google Shape;332;p32"/>
          <p:cNvSpPr txBox="1"/>
          <p:nvPr/>
        </p:nvSpPr>
        <p:spPr>
          <a:xfrm>
            <a:off x="462600" y="902425"/>
            <a:ext cx="82188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Lexend"/>
                <a:ea typeface="Lexend"/>
                <a:cs typeface="Lexend"/>
                <a:sym typeface="Lexend"/>
              </a:rPr>
              <a:t>Calculating servings:</a:t>
            </a:r>
            <a:endParaRPr b="1"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226.648m</a:t>
            </a:r>
            <a:r>
              <a:rPr baseline="30000" lang="en" sz="16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 * 56.06 kg/m</a:t>
            </a:r>
            <a:r>
              <a:rPr baseline="30000" lang="en" sz="16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 = 12,705.89 kg of produce per year</a:t>
            </a:r>
            <a:endParaRPr sz="1600">
              <a:solidFill>
                <a:schemeClr val="dk1"/>
              </a:solidFill>
              <a:latin typeface="Lexend"/>
              <a:ea typeface="Lexend"/>
              <a:cs typeface="Lexend"/>
              <a:sym typeface="Lexend"/>
            </a:endParaRPr>
          </a:p>
          <a:p>
            <a:pPr indent="0" lvl="0" marL="0" rtl="0" algn="l">
              <a:spcBef>
                <a:spcPts val="0"/>
              </a:spcBef>
              <a:spcAft>
                <a:spcPts val="0"/>
              </a:spcAft>
              <a:buNone/>
            </a:pPr>
            <a:r>
              <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12,705.89 g per year / 250g per serving = 50,823.56 servings per year</a:t>
            </a:r>
            <a:endParaRPr sz="1600">
              <a:solidFill>
                <a:schemeClr val="dk1"/>
              </a:solidFill>
              <a:latin typeface="Lexend"/>
              <a:ea typeface="Lexend"/>
              <a:cs typeface="Lexend"/>
              <a:sym typeface="Lexend"/>
            </a:endParaRPr>
          </a:p>
          <a:p>
            <a:pPr indent="0" lvl="0" marL="0" rtl="0" algn="l">
              <a:spcBef>
                <a:spcPts val="0"/>
              </a:spcBef>
              <a:spcAft>
                <a:spcPts val="0"/>
              </a:spcAft>
              <a:buNone/>
            </a:pPr>
            <a:r>
              <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n" sz="1600">
                <a:solidFill>
                  <a:schemeClr val="dk1"/>
                </a:solidFill>
                <a:latin typeface="Lexend"/>
                <a:ea typeface="Lexend"/>
                <a:cs typeface="Lexend"/>
                <a:sym typeface="Lexend"/>
              </a:rPr>
              <a:t>Convert to days: </a:t>
            </a:r>
            <a:r>
              <a:rPr lang="en" sz="1600">
                <a:solidFill>
                  <a:schemeClr val="dk1"/>
                </a:solidFill>
                <a:latin typeface="Lexend"/>
                <a:ea typeface="Lexend"/>
                <a:cs typeface="Lexend"/>
                <a:sym typeface="Lexend"/>
              </a:rPr>
              <a:t>50,823.56 / 365 = </a:t>
            </a:r>
            <a:r>
              <a:rPr lang="en" sz="1600">
                <a:solidFill>
                  <a:srgbClr val="87A290"/>
                </a:solidFill>
                <a:latin typeface="Lexend"/>
                <a:ea typeface="Lexend"/>
                <a:cs typeface="Lexend"/>
                <a:sym typeface="Lexend"/>
              </a:rPr>
              <a:t>139.24 servings daily</a:t>
            </a:r>
            <a:endParaRPr sz="1600">
              <a:solidFill>
                <a:srgbClr val="87A290"/>
              </a:solidFill>
              <a:latin typeface="Lexend"/>
              <a:ea typeface="Lexend"/>
              <a:cs typeface="Lexend"/>
              <a:sym typeface="Lexend"/>
            </a:endParaRPr>
          </a:p>
        </p:txBody>
      </p:sp>
      <p:pic>
        <p:nvPicPr>
          <p:cNvPr id="333" name="Google Shape;333;p32" title="bold.png"/>
          <p:cNvPicPr preferRelativeResize="0"/>
          <p:nvPr/>
        </p:nvPicPr>
        <p:blipFill>
          <a:blip r:embed="rId3">
            <a:alphaModFix/>
          </a:blip>
          <a:stretch>
            <a:fillRect/>
          </a:stretch>
        </p:blipFill>
        <p:spPr>
          <a:xfrm>
            <a:off x="8528400" y="21325"/>
            <a:ext cx="615600" cy="615600"/>
          </a:xfrm>
          <a:prstGeom prst="rect">
            <a:avLst/>
          </a:prstGeom>
          <a:noFill/>
          <a:ln>
            <a:noFill/>
          </a:ln>
        </p:spPr>
      </p:pic>
      <p:cxnSp>
        <p:nvCxnSpPr>
          <p:cNvPr id="334" name="Google Shape;334;p32"/>
          <p:cNvCxnSpPr/>
          <p:nvPr/>
        </p:nvCxnSpPr>
        <p:spPr>
          <a:xfrm>
            <a:off x="613650" y="1580825"/>
            <a:ext cx="7916700" cy="0"/>
          </a:xfrm>
          <a:prstGeom prst="straightConnector1">
            <a:avLst/>
          </a:prstGeom>
          <a:noFill/>
          <a:ln cap="flat" cmpd="sng" w="28575">
            <a:solidFill>
              <a:srgbClr val="ABBF95"/>
            </a:solidFill>
            <a:prstDash val="solid"/>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3"/>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Appendix B: Measures of Success Sources</a:t>
            </a:r>
            <a:endParaRPr>
              <a:solidFill>
                <a:srgbClr val="A44200"/>
              </a:solidFill>
              <a:latin typeface="Lexend"/>
              <a:ea typeface="Lexend"/>
              <a:cs typeface="Lexend"/>
              <a:sym typeface="Lexend"/>
            </a:endParaRPr>
          </a:p>
        </p:txBody>
      </p:sp>
      <p:sp>
        <p:nvSpPr>
          <p:cNvPr id="340" name="Google Shape;340;p33"/>
          <p:cNvSpPr txBox="1"/>
          <p:nvPr/>
        </p:nvSpPr>
        <p:spPr>
          <a:xfrm>
            <a:off x="462600" y="902425"/>
            <a:ext cx="8218800" cy="497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Lexend"/>
                <a:ea typeface="Lexend"/>
                <a:cs typeface="Lexend"/>
                <a:sym typeface="Lexend"/>
              </a:rPr>
              <a:t>Objective Goal:</a:t>
            </a:r>
            <a:endParaRPr b="1" sz="1600">
              <a:solidFill>
                <a:schemeClr val="dk1"/>
              </a:solidFill>
              <a:latin typeface="Lexend"/>
              <a:ea typeface="Lexend"/>
              <a:cs typeface="Lexend"/>
              <a:sym typeface="Lexend"/>
            </a:endParaRPr>
          </a:p>
          <a:p>
            <a:pPr indent="0" lvl="0" marL="0" rtl="0" algn="l">
              <a:spcBef>
                <a:spcPts val="0"/>
              </a:spcBef>
              <a:spcAft>
                <a:spcPts val="0"/>
              </a:spcAft>
              <a:buNone/>
            </a:pPr>
            <a:r>
              <a:t/>
            </a:r>
            <a:endParaRPr b="1" sz="1600">
              <a:solidFill>
                <a:schemeClr val="dk1"/>
              </a:solidFill>
              <a:latin typeface="Lexend"/>
              <a:ea typeface="Lexend"/>
              <a:cs typeface="Lexend"/>
              <a:sym typeface="Lexend"/>
            </a:endParaRPr>
          </a:p>
          <a:p>
            <a:pPr indent="-457200" lvl="0" marL="457200" rtl="0" algn="l">
              <a:lnSpc>
                <a:spcPct val="115000"/>
              </a:lnSpc>
              <a:spcBef>
                <a:spcPts val="0"/>
              </a:spcBef>
              <a:spcAft>
                <a:spcPts val="0"/>
              </a:spcAft>
              <a:buNone/>
            </a:pPr>
            <a:r>
              <a:rPr lang="en" sz="1100">
                <a:solidFill>
                  <a:schemeClr val="dk1"/>
                </a:solidFill>
                <a:latin typeface="Times New Roman"/>
                <a:ea typeface="Times New Roman"/>
                <a:cs typeface="Times New Roman"/>
                <a:sym typeface="Times New Roman"/>
              </a:rPr>
              <a:t>G. M. Dias et al., "Life cycle perspectives on the sustainability of Ontario greenhouse tomato production: Benchmarking and improvement opportunities," J. Cleaner Prod., vol. 140, pp. 831–839, Jan. 2017. [Online]. Available: </a:t>
            </a:r>
            <a:r>
              <a:rPr lang="en" sz="1100" u="sng">
                <a:solidFill>
                  <a:srgbClr val="9AB87A"/>
                </a:solidFill>
                <a:latin typeface="Times New Roman"/>
                <a:ea typeface="Times New Roman"/>
                <a:cs typeface="Times New Roman"/>
                <a:sym typeface="Times New Roman"/>
                <a:hlinkClick r:id="rId3">
                  <a:extLst>
                    <a:ext uri="{A12FA001-AC4F-418D-AE19-62706E023703}">
                      <ahyp:hlinkClr val="tx"/>
                    </a:ext>
                  </a:extLst>
                </a:hlinkClick>
              </a:rPr>
              <a:t>https://www.sciencedirect.com/science/article/pii/S0959652616307168</a:t>
            </a:r>
            <a:r>
              <a:rPr lang="en" sz="1100">
                <a:solidFill>
                  <a:schemeClr val="dk1"/>
                </a:solidFill>
                <a:latin typeface="Times New Roman"/>
                <a:ea typeface="Times New Roman"/>
                <a:cs typeface="Times New Roman"/>
                <a:sym typeface="Times New Roman"/>
              </a:rPr>
              <a:t>. [Accessed: Mar. 02, 2025].</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rPr b="1" lang="en" sz="1600">
                <a:solidFill>
                  <a:schemeClr val="dk1"/>
                </a:solidFill>
                <a:latin typeface="Lexend"/>
                <a:ea typeface="Lexend"/>
                <a:cs typeface="Lexend"/>
                <a:sym typeface="Lexend"/>
              </a:rPr>
              <a:t>Measures of Success Method:</a:t>
            </a:r>
            <a:endParaRPr b="1" sz="1600">
              <a:solidFill>
                <a:schemeClr val="dk1"/>
              </a:solidFill>
              <a:latin typeface="Lexend"/>
              <a:ea typeface="Lexend"/>
              <a:cs typeface="Lexend"/>
              <a:sym typeface="Lexend"/>
            </a:endParaRPr>
          </a:p>
          <a:p>
            <a:pPr indent="-457200" lvl="0" marL="457200" rtl="0" algn="l">
              <a:lnSpc>
                <a:spcPct val="115000"/>
              </a:lnSpc>
              <a:spcBef>
                <a:spcPts val="1000"/>
              </a:spcBef>
              <a:spcAft>
                <a:spcPts val="0"/>
              </a:spcAft>
              <a:buNone/>
            </a:pPr>
            <a:r>
              <a:rPr lang="en" sz="1100">
                <a:solidFill>
                  <a:schemeClr val="dk1"/>
                </a:solidFill>
                <a:latin typeface="Times New Roman"/>
                <a:ea typeface="Times New Roman"/>
                <a:cs typeface="Times New Roman"/>
                <a:sym typeface="Times New Roman"/>
              </a:rPr>
              <a:t>V. Shehu, "Simple Logistic and Bi-Logistic Growth Used as Forecasting Models of Greenhouse Areas in Albanian Agriculture," </a:t>
            </a:r>
            <a:r>
              <a:rPr i="1" lang="en" sz="1100">
                <a:solidFill>
                  <a:schemeClr val="dk1"/>
                </a:solidFill>
                <a:latin typeface="Times New Roman"/>
                <a:ea typeface="Times New Roman"/>
                <a:cs typeface="Times New Roman"/>
                <a:sym typeface="Times New Roman"/>
              </a:rPr>
              <a:t>Journal of Multidisciplinary Engineering Science and Technology (JMEST)</a:t>
            </a:r>
            <a:r>
              <a:rPr lang="en" sz="1100">
                <a:solidFill>
                  <a:schemeClr val="dk1"/>
                </a:solidFill>
                <a:latin typeface="Times New Roman"/>
                <a:ea typeface="Times New Roman"/>
                <a:cs typeface="Times New Roman"/>
                <a:sym typeface="Times New Roman"/>
              </a:rPr>
              <a:t>, vol. 2, no. 9, pp. 2648–2652, Sep. 2015. [Online]. Available:</a:t>
            </a:r>
            <a:r>
              <a:rPr lang="en" sz="1100">
                <a:solidFill>
                  <a:schemeClr val="dk1"/>
                </a:solidFill>
                <a:uFill>
                  <a:noFill/>
                </a:uFill>
                <a:latin typeface="Times New Roman"/>
                <a:ea typeface="Times New Roman"/>
                <a:cs typeface="Times New Roman"/>
                <a:sym typeface="Times New Roman"/>
                <a:hlinkClick r:id="rId4">
                  <a:extLst>
                    <a:ext uri="{A12FA001-AC4F-418D-AE19-62706E023703}">
                      <ahyp:hlinkClr val="tx"/>
                    </a:ext>
                  </a:extLst>
                </a:hlinkClick>
              </a:rPr>
              <a:t> </a:t>
            </a:r>
            <a:r>
              <a:rPr lang="en" sz="1100" u="sng">
                <a:solidFill>
                  <a:srgbClr val="9AB87A"/>
                </a:solidFill>
                <a:latin typeface="Times New Roman"/>
                <a:ea typeface="Times New Roman"/>
                <a:cs typeface="Times New Roman"/>
                <a:sym typeface="Times New Roman"/>
                <a:hlinkClick r:id="rId5">
                  <a:extLst>
                    <a:ext uri="{A12FA001-AC4F-418D-AE19-62706E023703}">
                      <ahyp:hlinkClr val="tx"/>
                    </a:ext>
                  </a:extLst>
                </a:hlinkClick>
              </a:rPr>
              <a:t>https://www.jmest.org/wp-content/uploads/JMESTN42351100.pdf</a:t>
            </a:r>
            <a:r>
              <a:rPr lang="en" sz="1100">
                <a:solidFill>
                  <a:schemeClr val="dk1"/>
                </a:solidFill>
                <a:latin typeface="Times New Roman"/>
                <a:ea typeface="Times New Roman"/>
                <a:cs typeface="Times New Roman"/>
                <a:sym typeface="Times New Roman"/>
              </a:rPr>
              <a:t>. [Accessed: Mar. 22, 2025].</a:t>
            </a:r>
            <a:endParaRPr sz="1100">
              <a:solidFill>
                <a:schemeClr val="dk1"/>
              </a:solidFill>
              <a:latin typeface="Times New Roman"/>
              <a:ea typeface="Times New Roman"/>
              <a:cs typeface="Times New Roman"/>
              <a:sym typeface="Times New Roman"/>
            </a:endParaRPr>
          </a:p>
          <a:p>
            <a:pPr indent="-457200" lvl="0" marL="457200" rtl="0" algn="l">
              <a:lnSpc>
                <a:spcPct val="115000"/>
              </a:lnSpc>
              <a:spcBef>
                <a:spcPts val="1000"/>
              </a:spcBef>
              <a:spcAft>
                <a:spcPts val="0"/>
              </a:spcAft>
              <a:buNone/>
            </a:pPr>
            <a:r>
              <a:rPr b="1" lang="en" sz="1600">
                <a:solidFill>
                  <a:schemeClr val="dk1"/>
                </a:solidFill>
                <a:latin typeface="Lexend"/>
                <a:ea typeface="Lexend"/>
                <a:cs typeface="Lexend"/>
                <a:sym typeface="Lexend"/>
              </a:rPr>
              <a:t>Growth Rates:</a:t>
            </a:r>
            <a:endParaRPr b="1" sz="1600">
              <a:solidFill>
                <a:schemeClr val="dk1"/>
              </a:solidFill>
              <a:latin typeface="Lexend"/>
              <a:ea typeface="Lexend"/>
              <a:cs typeface="Lexend"/>
              <a:sym typeface="Lexend"/>
            </a:endParaRPr>
          </a:p>
          <a:p>
            <a:pPr indent="-457200" lvl="0" marL="457200" rtl="0" algn="l">
              <a:lnSpc>
                <a:spcPct val="115000"/>
              </a:lnSpc>
              <a:spcBef>
                <a:spcPts val="1000"/>
              </a:spcBef>
              <a:spcAft>
                <a:spcPts val="0"/>
              </a:spcAft>
              <a:buNone/>
            </a:pPr>
            <a:r>
              <a:rPr lang="en" sz="1100">
                <a:solidFill>
                  <a:schemeClr val="dk1"/>
                </a:solidFill>
                <a:latin typeface="Times New Roman"/>
                <a:ea typeface="Times New Roman"/>
                <a:cs typeface="Times New Roman"/>
                <a:sym typeface="Times New Roman"/>
              </a:rPr>
              <a:t>Statistics Canada, "Fruit and vegetable production, 2024," The Daily, Feb. 17, 2025. [Online]. Available: </a:t>
            </a:r>
            <a:r>
              <a:rPr lang="en" sz="1100" u="sng">
                <a:solidFill>
                  <a:srgbClr val="9AB87A"/>
                </a:solidFill>
                <a:latin typeface="Times New Roman"/>
                <a:ea typeface="Times New Roman"/>
                <a:cs typeface="Times New Roman"/>
                <a:sym typeface="Times New Roman"/>
                <a:hlinkClick r:id="rId6">
                  <a:extLst>
                    <a:ext uri="{A12FA001-AC4F-418D-AE19-62706E023703}">
                      <ahyp:hlinkClr val="tx"/>
                    </a:ext>
                  </a:extLst>
                </a:hlinkClick>
              </a:rPr>
              <a:t>https://www150.statcan.gc.ca/n1/en/daily-quotidien/250217/dq250217b-eng.pdf?st=FnmX_4fe</a:t>
            </a:r>
            <a:r>
              <a:rPr lang="en" sz="1100">
                <a:solidFill>
                  <a:schemeClr val="dk1"/>
                </a:solidFill>
                <a:latin typeface="Times New Roman"/>
                <a:ea typeface="Times New Roman"/>
                <a:cs typeface="Times New Roman"/>
                <a:sym typeface="Times New Roman"/>
              </a:rPr>
              <a:t>. [Accessed: Apr. 4, 2025].</a:t>
            </a:r>
            <a:endParaRPr sz="1100">
              <a:solidFill>
                <a:schemeClr val="dk1"/>
              </a:solidFill>
              <a:latin typeface="Times New Roman"/>
              <a:ea typeface="Times New Roman"/>
              <a:cs typeface="Times New Roman"/>
              <a:sym typeface="Times New Roman"/>
            </a:endParaRPr>
          </a:p>
          <a:p>
            <a:pPr indent="-457200" lvl="0" marL="457200" rtl="0" algn="l">
              <a:lnSpc>
                <a:spcPct val="115000"/>
              </a:lnSpc>
              <a:spcBef>
                <a:spcPts val="1000"/>
              </a:spcBef>
              <a:spcAft>
                <a:spcPts val="0"/>
              </a:spcAft>
              <a:buNone/>
            </a:pPr>
            <a:r>
              <a:rPr lang="en" sz="1100">
                <a:solidFill>
                  <a:schemeClr val="dk1"/>
                </a:solidFill>
                <a:latin typeface="Times New Roman"/>
                <a:ea typeface="Times New Roman"/>
                <a:cs typeface="Times New Roman"/>
                <a:sym typeface="Times New Roman"/>
              </a:rPr>
              <a:t>Statistics Canada, "Canadian potato production, 2024," The Daily, Dec. 5, 2024. [Online]. Available: </a:t>
            </a:r>
            <a:r>
              <a:rPr lang="en" sz="1100" u="sng">
                <a:solidFill>
                  <a:srgbClr val="9AB87A"/>
                </a:solidFill>
                <a:latin typeface="Times New Roman"/>
                <a:ea typeface="Times New Roman"/>
                <a:cs typeface="Times New Roman"/>
                <a:sym typeface="Times New Roman"/>
                <a:hlinkClick r:id="rId7">
                  <a:extLst>
                    <a:ext uri="{A12FA001-AC4F-418D-AE19-62706E023703}">
                      <ahyp:hlinkClr val="tx"/>
                    </a:ext>
                  </a:extLst>
                </a:hlinkClick>
              </a:rPr>
              <a:t>https://www150.statcan.gc.ca/n1/daily-quotidien/241205/dq241205f-eng.htm</a:t>
            </a:r>
            <a:r>
              <a:rPr lang="en" sz="1100">
                <a:solidFill>
                  <a:schemeClr val="dk1"/>
                </a:solidFill>
                <a:latin typeface="Times New Roman"/>
                <a:ea typeface="Times New Roman"/>
                <a:cs typeface="Times New Roman"/>
                <a:sym typeface="Times New Roman"/>
              </a:rPr>
              <a:t>. [Accessed: Apr. 4, 2025].</a:t>
            </a:r>
            <a:endParaRPr sz="1100">
              <a:solidFill>
                <a:schemeClr val="dk1"/>
              </a:solidFill>
              <a:latin typeface="Times New Roman"/>
              <a:ea typeface="Times New Roman"/>
              <a:cs typeface="Times New Roman"/>
              <a:sym typeface="Times New Roman"/>
            </a:endParaRPr>
          </a:p>
          <a:p>
            <a:pPr indent="-457200" lvl="0" marL="457200" rtl="0" algn="l">
              <a:lnSpc>
                <a:spcPct val="115000"/>
              </a:lnSpc>
              <a:spcBef>
                <a:spcPts val="1000"/>
              </a:spcBef>
              <a:spcAft>
                <a:spcPts val="0"/>
              </a:spcAft>
              <a:buNone/>
            </a:pPr>
            <a:r>
              <a:rPr lang="en" sz="1100">
                <a:solidFill>
                  <a:schemeClr val="dk1"/>
                </a:solidFill>
                <a:latin typeface="Times New Roman"/>
                <a:ea typeface="Times New Roman"/>
                <a:cs typeface="Times New Roman"/>
                <a:sym typeface="Times New Roman"/>
              </a:rPr>
              <a:t>Statistics Canada, "Lettuce have a look at some numbers," The Daily, Jul. 20, 2023. [Online]. Available: </a:t>
            </a:r>
            <a:r>
              <a:rPr lang="en" sz="1100" u="sng">
                <a:solidFill>
                  <a:srgbClr val="9AB87A"/>
                </a:solidFill>
                <a:latin typeface="Times New Roman"/>
                <a:ea typeface="Times New Roman"/>
                <a:cs typeface="Times New Roman"/>
                <a:sym typeface="Times New Roman"/>
                <a:hlinkClick r:id="rId8">
                  <a:extLst>
                    <a:ext uri="{A12FA001-AC4F-418D-AE19-62706E023703}">
                      <ahyp:hlinkClr val="tx"/>
                    </a:ext>
                  </a:extLst>
                </a:hlinkClick>
              </a:rPr>
              <a:t>https://www.statcan.gc.ca/o1/en/plus/4143-lettuce-have-look-some-numbers</a:t>
            </a:r>
            <a:r>
              <a:rPr lang="en" sz="1100">
                <a:solidFill>
                  <a:schemeClr val="dk1"/>
                </a:solidFill>
                <a:latin typeface="Times New Roman"/>
                <a:ea typeface="Times New Roman"/>
                <a:cs typeface="Times New Roman"/>
                <a:sym typeface="Times New Roman"/>
              </a:rPr>
              <a:t>. [Accessed: Apr. 4, 2025].</a:t>
            </a:r>
            <a:endParaRPr sz="1100">
              <a:solidFill>
                <a:schemeClr val="dk1"/>
              </a:solidFill>
              <a:latin typeface="Times New Roman"/>
              <a:ea typeface="Times New Roman"/>
              <a:cs typeface="Times New Roman"/>
              <a:sym typeface="Times New Roman"/>
            </a:endParaRPr>
          </a:p>
          <a:p>
            <a:pPr indent="-457200" lvl="0" marL="457200" rtl="0" algn="l">
              <a:lnSpc>
                <a:spcPct val="115000"/>
              </a:lnSpc>
              <a:spcBef>
                <a:spcPts val="10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000"/>
              </a:spcBef>
              <a:spcAft>
                <a:spcPts val="100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p:txBody>
      </p:sp>
      <p:pic>
        <p:nvPicPr>
          <p:cNvPr id="341" name="Google Shape;341;p33" title="bold.png"/>
          <p:cNvPicPr preferRelativeResize="0"/>
          <p:nvPr/>
        </p:nvPicPr>
        <p:blipFill>
          <a:blip r:embed="rId9">
            <a:alphaModFix/>
          </a:blip>
          <a:stretch>
            <a:fillRect/>
          </a:stretch>
        </p:blipFill>
        <p:spPr>
          <a:xfrm>
            <a:off x="8528400" y="21325"/>
            <a:ext cx="615600" cy="615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4"/>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Appendix B: Measures of Success Sources</a:t>
            </a:r>
            <a:endParaRPr>
              <a:solidFill>
                <a:srgbClr val="A44200"/>
              </a:solidFill>
              <a:latin typeface="Lexend"/>
              <a:ea typeface="Lexend"/>
              <a:cs typeface="Lexend"/>
              <a:sym typeface="Lexend"/>
            </a:endParaRPr>
          </a:p>
        </p:txBody>
      </p:sp>
      <p:sp>
        <p:nvSpPr>
          <p:cNvPr id="347" name="Google Shape;347;p34"/>
          <p:cNvSpPr txBox="1"/>
          <p:nvPr/>
        </p:nvSpPr>
        <p:spPr>
          <a:xfrm>
            <a:off x="462600" y="902425"/>
            <a:ext cx="8218800" cy="359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Lexend"/>
                <a:ea typeface="Lexend"/>
                <a:cs typeface="Lexend"/>
                <a:sym typeface="Lexend"/>
              </a:rPr>
              <a:t>Modelling:</a:t>
            </a:r>
            <a:endParaRPr b="1" sz="1600">
              <a:solidFill>
                <a:schemeClr val="dk1"/>
              </a:solidFill>
              <a:latin typeface="Lexend"/>
              <a:ea typeface="Lexend"/>
              <a:cs typeface="Lexend"/>
              <a:sym typeface="Lexend"/>
            </a:endParaRPr>
          </a:p>
          <a:p>
            <a:pPr indent="0" lvl="0" marL="0" rtl="0" algn="l">
              <a:spcBef>
                <a:spcPts val="0"/>
              </a:spcBef>
              <a:spcAft>
                <a:spcPts val="0"/>
              </a:spcAft>
              <a:buNone/>
            </a:pPr>
            <a:r>
              <a:t/>
            </a:r>
            <a:endParaRPr b="1" sz="1600">
              <a:solidFill>
                <a:schemeClr val="dk1"/>
              </a:solidFill>
              <a:latin typeface="Lexend"/>
              <a:ea typeface="Lexend"/>
              <a:cs typeface="Lexend"/>
              <a:sym typeface="Lexend"/>
            </a:endParaRPr>
          </a:p>
          <a:p>
            <a:pPr indent="-457200" lvl="0" marL="457200" rtl="0" algn="l">
              <a:lnSpc>
                <a:spcPct val="115000"/>
              </a:lnSpc>
              <a:spcBef>
                <a:spcPts val="0"/>
              </a:spcBef>
              <a:spcAft>
                <a:spcPts val="0"/>
              </a:spcAft>
              <a:buClr>
                <a:schemeClr val="dk1"/>
              </a:buClr>
              <a:buSzPts val="1100"/>
              <a:buFont typeface="Arial"/>
              <a:buNone/>
            </a:pPr>
            <a:r>
              <a:rPr lang="en" sz="1100">
                <a:solidFill>
                  <a:schemeClr val="dk1"/>
                </a:solidFill>
                <a:latin typeface="Times New Roman"/>
                <a:ea typeface="Times New Roman"/>
                <a:cs typeface="Times New Roman"/>
                <a:sym typeface="Times New Roman"/>
              </a:rPr>
              <a:t>NASA Langley Research Center, "NASA Prediction of Worldwide Energy Resources (POWER) Data Access Viewer." [Online]. Available: </a:t>
            </a:r>
            <a:r>
              <a:rPr lang="en" sz="1100" u="sng">
                <a:solidFill>
                  <a:srgbClr val="9AB87A"/>
                </a:solidFill>
                <a:latin typeface="Times New Roman"/>
                <a:ea typeface="Times New Roman"/>
                <a:cs typeface="Times New Roman"/>
                <a:sym typeface="Times New Roman"/>
                <a:hlinkClick r:id="rId3">
                  <a:extLst>
                    <a:ext uri="{A12FA001-AC4F-418D-AE19-62706E023703}">
                      <ahyp:hlinkClr val="tx"/>
                    </a:ext>
                  </a:extLst>
                </a:hlinkClick>
              </a:rPr>
              <a:t>https://power.larc.nasa.gov/data-access-viewer/</a:t>
            </a:r>
            <a:r>
              <a:rPr lang="en" sz="1100">
                <a:solidFill>
                  <a:schemeClr val="dk1"/>
                </a:solidFill>
                <a:latin typeface="Times New Roman"/>
                <a:ea typeface="Times New Roman"/>
                <a:cs typeface="Times New Roman"/>
                <a:sym typeface="Times New Roman"/>
              </a:rPr>
              <a:t>. [Accessed: Apr. 4, 2025].</a:t>
            </a:r>
            <a:endParaRPr sz="1100">
              <a:solidFill>
                <a:schemeClr val="dk1"/>
              </a:solidFill>
              <a:latin typeface="Times New Roman"/>
              <a:ea typeface="Times New Roman"/>
              <a:cs typeface="Times New Roman"/>
              <a:sym typeface="Times New Roman"/>
            </a:endParaRPr>
          </a:p>
          <a:p>
            <a:pPr indent="-457200" lvl="0" marL="457200" rtl="0" algn="l">
              <a:lnSpc>
                <a:spcPct val="115000"/>
              </a:lnSpc>
              <a:spcBef>
                <a:spcPts val="1000"/>
              </a:spcBef>
              <a:spcAft>
                <a:spcPts val="0"/>
              </a:spcAft>
              <a:buNone/>
            </a:pPr>
            <a:r>
              <a:rPr lang="en" sz="1100">
                <a:solidFill>
                  <a:schemeClr val="dk1"/>
                </a:solidFill>
                <a:latin typeface="Times New Roman"/>
                <a:ea typeface="Times New Roman"/>
                <a:cs typeface="Times New Roman"/>
                <a:sym typeface="Times New Roman"/>
              </a:rPr>
              <a:t>X.-G. Zhu, S. P. Long, and D. R. Ort, "Improving Photosynthetic Efficiency for Greater Yield," *Annual Review of Plant Biology*, vol. 61, pp. 235–261, Jun. 2010. [Online]. Available: </a:t>
            </a:r>
            <a:r>
              <a:rPr lang="en" sz="1100" u="sng">
                <a:solidFill>
                  <a:srgbClr val="9AB87A"/>
                </a:solidFill>
                <a:latin typeface="Times New Roman"/>
                <a:ea typeface="Times New Roman"/>
                <a:cs typeface="Times New Roman"/>
                <a:sym typeface="Times New Roman"/>
                <a:hlinkClick r:id="rId4">
                  <a:extLst>
                    <a:ext uri="{A12FA001-AC4F-418D-AE19-62706E023703}">
                      <ahyp:hlinkClr val="tx"/>
                    </a:ext>
                  </a:extLst>
                </a:hlinkClick>
              </a:rPr>
              <a:t>https://www.annualreviews.org/doi/pdf/10.1146/annurev-arplant-042809-112206</a:t>
            </a:r>
            <a:r>
              <a:rPr lang="en" sz="1100">
                <a:solidFill>
                  <a:schemeClr val="dk1"/>
                </a:solidFill>
                <a:latin typeface="Times New Roman"/>
                <a:ea typeface="Times New Roman"/>
                <a:cs typeface="Times New Roman"/>
                <a:sym typeface="Times New Roman"/>
              </a:rPr>
              <a:t>. [Accessed: Apr. 4, 2025].</a:t>
            </a:r>
            <a:endParaRPr sz="1100">
              <a:solidFill>
                <a:schemeClr val="dk1"/>
              </a:solidFill>
              <a:latin typeface="Times New Roman"/>
              <a:ea typeface="Times New Roman"/>
              <a:cs typeface="Times New Roman"/>
              <a:sym typeface="Times New Roman"/>
            </a:endParaRPr>
          </a:p>
          <a:p>
            <a:pPr indent="-457200" lvl="0" marL="457200" rtl="0" algn="l">
              <a:lnSpc>
                <a:spcPct val="115000"/>
              </a:lnSpc>
              <a:spcBef>
                <a:spcPts val="1000"/>
              </a:spcBef>
              <a:spcAft>
                <a:spcPts val="0"/>
              </a:spcAft>
              <a:buNone/>
            </a:pPr>
            <a:r>
              <a:rPr b="1" lang="en" sz="1600">
                <a:solidFill>
                  <a:schemeClr val="dk1"/>
                </a:solidFill>
                <a:latin typeface="Lexend"/>
                <a:ea typeface="Lexend"/>
                <a:cs typeface="Lexend"/>
                <a:sym typeface="Lexend"/>
              </a:rPr>
              <a:t>Plant Growth Requirements:</a:t>
            </a:r>
            <a:endParaRPr b="1" sz="1600">
              <a:solidFill>
                <a:schemeClr val="dk1"/>
              </a:solidFill>
              <a:latin typeface="Lexend"/>
              <a:ea typeface="Lexend"/>
              <a:cs typeface="Lexend"/>
              <a:sym typeface="Lexend"/>
            </a:endParaRPr>
          </a:p>
          <a:p>
            <a:pPr indent="-457200" lvl="0" marL="457200" rtl="0" algn="l">
              <a:lnSpc>
                <a:spcPct val="115000"/>
              </a:lnSpc>
              <a:spcBef>
                <a:spcPts val="1000"/>
              </a:spcBef>
              <a:spcAft>
                <a:spcPts val="0"/>
              </a:spcAft>
              <a:buNone/>
            </a:pPr>
            <a:r>
              <a:rPr lang="en" sz="1100">
                <a:solidFill>
                  <a:schemeClr val="dk1"/>
                </a:solidFill>
                <a:latin typeface="Times New Roman"/>
                <a:ea typeface="Times New Roman"/>
                <a:cs typeface="Times New Roman"/>
                <a:sym typeface="Times New Roman"/>
              </a:rPr>
              <a:t>E. Nederhoff, "Energy benchmarking in the covered crops industry," Tomatoes NZ, Vegetables NZ, and EECA, Mar. 31, 2022. [Online]. Available: </a:t>
            </a:r>
            <a:r>
              <a:rPr lang="en" sz="1100" u="sng">
                <a:solidFill>
                  <a:srgbClr val="9AB87A"/>
                </a:solidFill>
                <a:latin typeface="Times New Roman"/>
                <a:ea typeface="Times New Roman"/>
                <a:cs typeface="Times New Roman"/>
                <a:sym typeface="Times New Roman"/>
                <a:hlinkClick r:id="rId5">
                  <a:extLst>
                    <a:ext uri="{A12FA001-AC4F-418D-AE19-62706E023703}">
                      <ahyp:hlinkClr val="tx"/>
                    </a:ext>
                  </a:extLst>
                </a:hlinkClick>
              </a:rPr>
              <a:t>https://www.eeca.govt.nz/assets/EECA-Resources/Energy-Benchmarking-in-Covered-Cropping.pdf</a:t>
            </a:r>
            <a:r>
              <a:rPr lang="en" sz="1100">
                <a:solidFill>
                  <a:schemeClr val="dk1"/>
                </a:solidFill>
                <a:latin typeface="Times New Roman"/>
                <a:ea typeface="Times New Roman"/>
                <a:cs typeface="Times New Roman"/>
                <a:sym typeface="Times New Roman"/>
              </a:rPr>
              <a:t>. [Accessed: Apr. 4, 2025].</a:t>
            </a:r>
            <a:endParaRPr sz="1100">
              <a:solidFill>
                <a:schemeClr val="dk1"/>
              </a:solidFill>
              <a:latin typeface="Times New Roman"/>
              <a:ea typeface="Times New Roman"/>
              <a:cs typeface="Times New Roman"/>
              <a:sym typeface="Times New Roman"/>
            </a:endParaRPr>
          </a:p>
          <a:p>
            <a:pPr indent="-457200" lvl="0" marL="457200" rtl="0" algn="l">
              <a:lnSpc>
                <a:spcPct val="115000"/>
              </a:lnSpc>
              <a:spcBef>
                <a:spcPts val="1000"/>
              </a:spcBef>
              <a:spcAft>
                <a:spcPts val="1000"/>
              </a:spcAft>
              <a:buClr>
                <a:schemeClr val="dk1"/>
              </a:buClr>
              <a:buSzPts val="1100"/>
              <a:buFont typeface="Arial"/>
              <a:buNone/>
            </a:pPr>
            <a:r>
              <a:rPr lang="en" sz="1100">
                <a:solidFill>
                  <a:schemeClr val="dk1"/>
                </a:solidFill>
                <a:latin typeface="Times New Roman"/>
                <a:ea typeface="Times New Roman"/>
                <a:cs typeface="Times New Roman"/>
                <a:sym typeface="Times New Roman"/>
              </a:rPr>
              <a:t>S. Rafiee, H. Mousavi Avval, and A. Mohammadi, "Energy inputs and crop yield relationship in potato production in Hamadan province of Iran," *Energy*, vol. 36, no. 5, pp. 2367–2371, May 2011. [Online]. Available: </a:t>
            </a:r>
            <a:r>
              <a:rPr lang="en" sz="1100" u="sng">
                <a:solidFill>
                  <a:srgbClr val="9AB87A"/>
                </a:solidFill>
                <a:latin typeface="Times New Roman"/>
                <a:ea typeface="Times New Roman"/>
                <a:cs typeface="Times New Roman"/>
                <a:sym typeface="Times New Roman"/>
                <a:hlinkClick r:id="rId6">
                  <a:extLst>
                    <a:ext uri="{A12FA001-AC4F-418D-AE19-62706E023703}">
                      <ahyp:hlinkClr val="tx"/>
                    </a:ext>
                  </a:extLst>
                </a:hlinkClick>
              </a:rPr>
              <a:t>https://www.sciencedirect.com/science/article/pii/S0360544211000144</a:t>
            </a:r>
            <a:r>
              <a:rPr lang="en" sz="1100">
                <a:solidFill>
                  <a:schemeClr val="dk1"/>
                </a:solidFill>
                <a:latin typeface="Times New Roman"/>
                <a:ea typeface="Times New Roman"/>
                <a:cs typeface="Times New Roman"/>
                <a:sym typeface="Times New Roman"/>
              </a:rPr>
              <a:t>. [Accessed: Apr. 4, 2025].</a:t>
            </a:r>
            <a:endParaRPr b="1" sz="1600">
              <a:solidFill>
                <a:schemeClr val="dk1"/>
              </a:solidFill>
              <a:latin typeface="Lexend"/>
              <a:ea typeface="Lexend"/>
              <a:cs typeface="Lexend"/>
              <a:sym typeface="Lexend"/>
            </a:endParaRPr>
          </a:p>
        </p:txBody>
      </p:sp>
      <p:pic>
        <p:nvPicPr>
          <p:cNvPr id="348" name="Google Shape;348;p34" title="bold.png"/>
          <p:cNvPicPr preferRelativeResize="0"/>
          <p:nvPr/>
        </p:nvPicPr>
        <p:blipFill>
          <a:blip r:embed="rId7">
            <a:alphaModFix/>
          </a:blip>
          <a:stretch>
            <a:fillRect/>
          </a:stretch>
        </p:blipFill>
        <p:spPr>
          <a:xfrm>
            <a:off x="8528400" y="21325"/>
            <a:ext cx="615600" cy="615600"/>
          </a:xfrm>
          <a:prstGeom prst="rect">
            <a:avLst/>
          </a:prstGeom>
          <a:noFill/>
          <a:ln>
            <a:noFill/>
          </a:ln>
        </p:spPr>
      </p:pic>
    </p:spTree>
  </p:cSld>
  <p:clrMapOvr>
    <a:masterClrMapping/>
  </p:clrMapOvr>
  <mc:AlternateContent>
    <mc:Choice Requires="p14">
      <p:transition p14:dur="10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5"/>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Appendix B: Measures of Success Sources</a:t>
            </a:r>
            <a:endParaRPr>
              <a:solidFill>
                <a:srgbClr val="A44200"/>
              </a:solidFill>
              <a:latin typeface="Lexend"/>
              <a:ea typeface="Lexend"/>
              <a:cs typeface="Lexend"/>
              <a:sym typeface="Lexend"/>
            </a:endParaRPr>
          </a:p>
        </p:txBody>
      </p:sp>
      <p:sp>
        <p:nvSpPr>
          <p:cNvPr id="354" name="Google Shape;354;p35"/>
          <p:cNvSpPr txBox="1"/>
          <p:nvPr/>
        </p:nvSpPr>
        <p:spPr>
          <a:xfrm>
            <a:off x="462600" y="902425"/>
            <a:ext cx="8218800" cy="3997500"/>
          </a:xfrm>
          <a:prstGeom prst="rect">
            <a:avLst/>
          </a:prstGeom>
          <a:noFill/>
          <a:ln>
            <a:noFill/>
          </a:ln>
        </p:spPr>
        <p:txBody>
          <a:bodyPr anchorCtr="0" anchor="t" bIns="91425" lIns="91425" spcFirstLastPara="1" rIns="91425" wrap="square" tIns="91425">
            <a:spAutoFit/>
          </a:bodyPr>
          <a:lstStyle/>
          <a:p>
            <a:pPr indent="-457200" lvl="0" marL="457200" rtl="0" algn="l">
              <a:lnSpc>
                <a:spcPct val="115000"/>
              </a:lnSpc>
              <a:spcBef>
                <a:spcPts val="0"/>
              </a:spcBef>
              <a:spcAft>
                <a:spcPts val="0"/>
              </a:spcAft>
              <a:buClr>
                <a:schemeClr val="dk1"/>
              </a:buClr>
              <a:buSzPts val="1100"/>
              <a:buFont typeface="Arial"/>
              <a:buNone/>
            </a:pPr>
            <a:r>
              <a:rPr b="1" lang="en" sz="1600">
                <a:solidFill>
                  <a:schemeClr val="dk1"/>
                </a:solidFill>
                <a:latin typeface="Lexend"/>
                <a:ea typeface="Lexend"/>
                <a:cs typeface="Lexend"/>
                <a:sym typeface="Lexend"/>
              </a:rPr>
              <a:t>Shadow Light Reduction:</a:t>
            </a:r>
            <a:endParaRPr b="1" sz="1600">
              <a:solidFill>
                <a:schemeClr val="dk1"/>
              </a:solidFill>
              <a:latin typeface="Lexend"/>
              <a:ea typeface="Lexend"/>
              <a:cs typeface="Lexend"/>
              <a:sym typeface="Lexend"/>
            </a:endParaRPr>
          </a:p>
          <a:p>
            <a:pPr indent="-457200" lvl="0" marL="457200" rtl="0" algn="l">
              <a:lnSpc>
                <a:spcPct val="115000"/>
              </a:lnSpc>
              <a:spcBef>
                <a:spcPts val="1000"/>
              </a:spcBef>
              <a:spcAft>
                <a:spcPts val="0"/>
              </a:spcAft>
              <a:buClr>
                <a:schemeClr val="dk1"/>
              </a:buClr>
              <a:buSzPts val="1100"/>
              <a:buFont typeface="Arial"/>
              <a:buNone/>
            </a:pPr>
            <a:r>
              <a:rPr lang="en" sz="1100">
                <a:solidFill>
                  <a:schemeClr val="dk1"/>
                </a:solidFill>
                <a:latin typeface="Times New Roman"/>
                <a:ea typeface="Times New Roman"/>
                <a:cs typeface="Times New Roman"/>
                <a:sym typeface="Times New Roman"/>
              </a:rPr>
              <a:t>M. J. J. Janssen and G. P. A. Bot, "A simple model for the estimation of greenhouse transmission: Influence of structures and internal equipment," *Acta Horticulturae*, vol. 281, pp. 35–42, Jul. 1990. [Online]. Available: </a:t>
            </a:r>
            <a:r>
              <a:rPr lang="en" sz="1100" u="sng">
                <a:solidFill>
                  <a:srgbClr val="9AB87A"/>
                </a:solidFill>
                <a:latin typeface="Times New Roman"/>
                <a:ea typeface="Times New Roman"/>
                <a:cs typeface="Times New Roman"/>
                <a:sym typeface="Times New Roman"/>
                <a:hlinkClick r:id="rId3">
                  <a:extLst>
                    <a:ext uri="{A12FA001-AC4F-418D-AE19-62706E023703}">
                      <ahyp:hlinkClr val="tx"/>
                    </a:ext>
                  </a:extLst>
                </a:hlinkClick>
              </a:rPr>
              <a:t>https://www.researchgate.net/publication/233412837_A_simple_model_for_the_estimation_of_greenhouse_transmission_Influence_of_structures_and_internal_equipment</a:t>
            </a:r>
            <a:r>
              <a:rPr lang="en" sz="1100">
                <a:solidFill>
                  <a:schemeClr val="dk1"/>
                </a:solidFill>
                <a:latin typeface="Times New Roman"/>
                <a:ea typeface="Times New Roman"/>
                <a:cs typeface="Times New Roman"/>
                <a:sym typeface="Times New Roman"/>
              </a:rPr>
              <a:t>. [Accessed: Apr. 4, 2025].</a:t>
            </a:r>
            <a:endParaRPr sz="1100">
              <a:solidFill>
                <a:schemeClr val="dk1"/>
              </a:solidFill>
              <a:latin typeface="Times New Roman"/>
              <a:ea typeface="Times New Roman"/>
              <a:cs typeface="Times New Roman"/>
              <a:sym typeface="Times New Roman"/>
            </a:endParaRPr>
          </a:p>
          <a:p>
            <a:pPr indent="-457200" lvl="0" marL="457200" rtl="0" algn="l">
              <a:lnSpc>
                <a:spcPct val="115000"/>
              </a:lnSpc>
              <a:spcBef>
                <a:spcPts val="1000"/>
              </a:spcBef>
              <a:spcAft>
                <a:spcPts val="0"/>
              </a:spcAft>
              <a:buClr>
                <a:schemeClr val="dk1"/>
              </a:buClr>
              <a:buSzPts val="1100"/>
              <a:buFont typeface="Arial"/>
              <a:buNone/>
            </a:pPr>
            <a:r>
              <a:rPr b="1" lang="en" sz="1600">
                <a:solidFill>
                  <a:schemeClr val="dk1"/>
                </a:solidFill>
                <a:latin typeface="Lexend"/>
                <a:ea typeface="Lexend"/>
                <a:cs typeface="Lexend"/>
                <a:sym typeface="Lexend"/>
              </a:rPr>
              <a:t>Plant Spacing:</a:t>
            </a:r>
            <a:endParaRPr b="1" sz="1600">
              <a:solidFill>
                <a:schemeClr val="dk1"/>
              </a:solidFill>
              <a:latin typeface="Lexend"/>
              <a:ea typeface="Lexend"/>
              <a:cs typeface="Lexend"/>
              <a:sym typeface="Lexend"/>
            </a:endParaRPr>
          </a:p>
          <a:p>
            <a:pPr indent="-457200" lvl="0" marL="457200" rtl="0" algn="l">
              <a:lnSpc>
                <a:spcPct val="115000"/>
              </a:lnSpc>
              <a:spcBef>
                <a:spcPts val="1000"/>
              </a:spcBef>
              <a:spcAft>
                <a:spcPts val="0"/>
              </a:spcAft>
              <a:buClr>
                <a:schemeClr val="dk1"/>
              </a:buClr>
              <a:buSzPts val="1100"/>
              <a:buFont typeface="Arial"/>
              <a:buNone/>
            </a:pPr>
            <a:r>
              <a:rPr lang="en" sz="1100">
                <a:solidFill>
                  <a:schemeClr val="dk1"/>
                </a:solidFill>
                <a:latin typeface="Times New Roman"/>
                <a:ea typeface="Times New Roman"/>
                <a:cs typeface="Times New Roman"/>
                <a:sym typeface="Times New Roman"/>
              </a:rPr>
              <a:t>Garden Alchemy Seeds, "Square Foot Gardening Chart." [Online]. </a:t>
            </a:r>
            <a:r>
              <a:rPr lang="en" sz="1100" u="sng">
                <a:solidFill>
                  <a:schemeClr val="dk1"/>
                </a:solidFill>
                <a:latin typeface="Times New Roman"/>
                <a:ea typeface="Times New Roman"/>
                <a:cs typeface="Times New Roman"/>
                <a:sym typeface="Times New Roman"/>
                <a:hlinkClick r:id="rId4">
                  <a:extLst>
                    <a:ext uri="{A12FA001-AC4F-418D-AE19-62706E023703}">
                      <ahyp:hlinkClr val="tx"/>
                    </a:ext>
                  </a:extLst>
                </a:hlinkClick>
              </a:rPr>
              <a:t>Available: </a:t>
            </a:r>
            <a:r>
              <a:rPr lang="en" sz="1100" u="sng">
                <a:solidFill>
                  <a:srgbClr val="9AB87A"/>
                </a:solidFill>
                <a:latin typeface="Times New Roman"/>
                <a:ea typeface="Times New Roman"/>
                <a:cs typeface="Times New Roman"/>
                <a:sym typeface="Times New Roman"/>
                <a:hlinkClick r:id="rId5">
                  <a:extLst>
                    <a:ext uri="{A12FA001-AC4F-418D-AE19-62706E023703}">
                      <ahyp:hlinkClr val="tx"/>
                    </a:ext>
                  </a:extLst>
                </a:hlinkClick>
              </a:rPr>
              <a:t>https://gardenalchemyseeds.ca/pages/square-foot-gardening-chart</a:t>
            </a:r>
            <a:r>
              <a:rPr lang="en" sz="1100">
                <a:solidFill>
                  <a:schemeClr val="dk1"/>
                </a:solidFill>
                <a:latin typeface="Times New Roman"/>
                <a:ea typeface="Times New Roman"/>
                <a:cs typeface="Times New Roman"/>
                <a:sym typeface="Times New Roman"/>
              </a:rPr>
              <a:t>. [Accessed: Apr. 4, 2025].</a:t>
            </a:r>
            <a:endParaRPr sz="1100">
              <a:solidFill>
                <a:schemeClr val="dk1"/>
              </a:solidFill>
              <a:latin typeface="Times New Roman"/>
              <a:ea typeface="Times New Roman"/>
              <a:cs typeface="Times New Roman"/>
              <a:sym typeface="Times New Roman"/>
            </a:endParaRPr>
          </a:p>
          <a:p>
            <a:pPr indent="-457200" lvl="0" marL="457200" rtl="0" algn="l">
              <a:lnSpc>
                <a:spcPct val="115000"/>
              </a:lnSpc>
              <a:spcBef>
                <a:spcPts val="1000"/>
              </a:spcBef>
              <a:spcAft>
                <a:spcPts val="0"/>
              </a:spcAft>
              <a:buClr>
                <a:schemeClr val="dk1"/>
              </a:buClr>
              <a:buSzPts val="1100"/>
              <a:buFont typeface="Arial"/>
              <a:buNone/>
            </a:pPr>
            <a:r>
              <a:rPr b="1" lang="en" sz="1600">
                <a:solidFill>
                  <a:schemeClr val="dk1"/>
                </a:solidFill>
                <a:latin typeface="Lexend"/>
                <a:ea typeface="Lexend"/>
                <a:cs typeface="Lexend"/>
                <a:sym typeface="Lexend"/>
              </a:rPr>
              <a:t>Plant Masses:</a:t>
            </a:r>
            <a:endParaRPr b="1" sz="1600">
              <a:solidFill>
                <a:schemeClr val="dk1"/>
              </a:solidFill>
              <a:latin typeface="Lexend"/>
              <a:ea typeface="Lexend"/>
              <a:cs typeface="Lexend"/>
              <a:sym typeface="Lexend"/>
            </a:endParaRPr>
          </a:p>
          <a:p>
            <a:pPr indent="-457200" lvl="0" marL="457200" rtl="0" algn="l">
              <a:lnSpc>
                <a:spcPct val="115000"/>
              </a:lnSpc>
              <a:spcBef>
                <a:spcPts val="1000"/>
              </a:spcBef>
              <a:spcAft>
                <a:spcPts val="0"/>
              </a:spcAft>
              <a:buClr>
                <a:schemeClr val="dk1"/>
              </a:buClr>
              <a:buSzPts val="1100"/>
              <a:buFont typeface="Arial"/>
              <a:buNone/>
            </a:pPr>
            <a:r>
              <a:rPr lang="en" sz="1100">
                <a:solidFill>
                  <a:schemeClr val="dk1"/>
                </a:solidFill>
                <a:latin typeface="Times New Roman"/>
                <a:ea typeface="Times New Roman"/>
                <a:cs typeface="Times New Roman"/>
                <a:sym typeface="Times New Roman"/>
              </a:rPr>
              <a:t>K. Johansen et al., "Predicting Biomass and Yield at Harvest of Salt-Stressed Tomato Plants Using UAV Imagery," in *ISPRS Annals of the Photogrammetry, Remote Sensing and Spatial Information Sciences*, vol. XLII-2/W13, Jul. 2019, pp. 407–414. [Online]. Available: </a:t>
            </a:r>
            <a:r>
              <a:rPr lang="en" sz="1100" u="sng">
                <a:solidFill>
                  <a:srgbClr val="9AB87A"/>
                </a:solidFill>
                <a:latin typeface="Times New Roman"/>
                <a:ea typeface="Times New Roman"/>
                <a:cs typeface="Times New Roman"/>
                <a:sym typeface="Times New Roman"/>
                <a:hlinkClick r:id="rId6">
                  <a:extLst>
                    <a:ext uri="{A12FA001-AC4F-418D-AE19-62706E023703}">
                      <ahyp:hlinkClr val="tx"/>
                    </a:ext>
                  </a:extLst>
                </a:hlinkClick>
              </a:rPr>
              <a:t>https://isprs-archives.copernicus.org/articles/XLII-2-W13/407/2019/isprs-archives-XLII-2-W13-407-2019.pdf</a:t>
            </a:r>
            <a:r>
              <a:rPr lang="en" sz="1100">
                <a:solidFill>
                  <a:schemeClr val="dk1"/>
                </a:solidFill>
                <a:latin typeface="Times New Roman"/>
                <a:ea typeface="Times New Roman"/>
                <a:cs typeface="Times New Roman"/>
                <a:sym typeface="Times New Roman"/>
              </a:rPr>
              <a:t>. [Accessed: Apr. 4, 2025].</a:t>
            </a:r>
            <a:endParaRPr sz="1100">
              <a:solidFill>
                <a:schemeClr val="dk1"/>
              </a:solidFill>
              <a:latin typeface="Times New Roman"/>
              <a:ea typeface="Times New Roman"/>
              <a:cs typeface="Times New Roman"/>
              <a:sym typeface="Times New Roman"/>
            </a:endParaRPr>
          </a:p>
          <a:p>
            <a:pPr indent="-457200" lvl="0" marL="457200" rtl="0" algn="l">
              <a:lnSpc>
                <a:spcPct val="115000"/>
              </a:lnSpc>
              <a:spcBef>
                <a:spcPts val="1000"/>
              </a:spcBef>
              <a:spcAft>
                <a:spcPts val="1000"/>
              </a:spcAft>
              <a:buClr>
                <a:schemeClr val="dk1"/>
              </a:buClr>
              <a:buSzPts val="1100"/>
              <a:buFont typeface="Arial"/>
              <a:buNone/>
            </a:pPr>
            <a:r>
              <a:t/>
            </a:r>
            <a:endParaRPr b="1" sz="1600">
              <a:solidFill>
                <a:schemeClr val="dk1"/>
              </a:solidFill>
              <a:latin typeface="Lexend"/>
              <a:ea typeface="Lexend"/>
              <a:cs typeface="Lexend"/>
              <a:sym typeface="Lexend"/>
            </a:endParaRPr>
          </a:p>
        </p:txBody>
      </p:sp>
      <p:pic>
        <p:nvPicPr>
          <p:cNvPr id="355" name="Google Shape;355;p35" title="bold.png"/>
          <p:cNvPicPr preferRelativeResize="0"/>
          <p:nvPr/>
        </p:nvPicPr>
        <p:blipFill>
          <a:blip r:embed="rId7">
            <a:alphaModFix/>
          </a:blip>
          <a:stretch>
            <a:fillRect/>
          </a:stretch>
        </p:blipFill>
        <p:spPr>
          <a:xfrm>
            <a:off x="8528400" y="21325"/>
            <a:ext cx="615600" cy="615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6"/>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Appendix B: Measures of Success Sources</a:t>
            </a:r>
            <a:endParaRPr>
              <a:solidFill>
                <a:srgbClr val="A44200"/>
              </a:solidFill>
              <a:latin typeface="Lexend"/>
              <a:ea typeface="Lexend"/>
              <a:cs typeface="Lexend"/>
              <a:sym typeface="Lexend"/>
            </a:endParaRPr>
          </a:p>
        </p:txBody>
      </p:sp>
      <p:sp>
        <p:nvSpPr>
          <p:cNvPr id="361" name="Google Shape;361;p36"/>
          <p:cNvSpPr txBox="1"/>
          <p:nvPr/>
        </p:nvSpPr>
        <p:spPr>
          <a:xfrm>
            <a:off x="462600" y="902425"/>
            <a:ext cx="8218800" cy="3909000"/>
          </a:xfrm>
          <a:prstGeom prst="rect">
            <a:avLst/>
          </a:prstGeom>
          <a:noFill/>
          <a:ln>
            <a:noFill/>
          </a:ln>
        </p:spPr>
        <p:txBody>
          <a:bodyPr anchorCtr="0" anchor="t" bIns="91425" lIns="91425" spcFirstLastPara="1" rIns="91425" wrap="square" tIns="91425">
            <a:spAutoFit/>
          </a:bodyPr>
          <a:lstStyle/>
          <a:p>
            <a:pPr indent="-457200" lvl="0" marL="457200" rtl="0" algn="l">
              <a:lnSpc>
                <a:spcPct val="115000"/>
              </a:lnSpc>
              <a:spcBef>
                <a:spcPts val="0"/>
              </a:spcBef>
              <a:spcAft>
                <a:spcPts val="0"/>
              </a:spcAft>
              <a:buClr>
                <a:schemeClr val="dk1"/>
              </a:buClr>
              <a:buSzPts val="1100"/>
              <a:buFont typeface="Arial"/>
              <a:buNone/>
            </a:pPr>
            <a:r>
              <a:rPr lang="en" sz="1100">
                <a:solidFill>
                  <a:schemeClr val="dk1"/>
                </a:solidFill>
                <a:latin typeface="Times New Roman"/>
                <a:ea typeface="Times New Roman"/>
                <a:cs typeface="Times New Roman"/>
                <a:sym typeface="Times New Roman"/>
              </a:rPr>
              <a:t>L. E. A. Tulung, M. Amin, and C. N. Manoppo, "Response of growth and production of potato plants to application of NPK fertilizer," unpublished. [Online]. Available: </a:t>
            </a:r>
            <a:r>
              <a:rPr lang="en" sz="1100" u="sng">
                <a:solidFill>
                  <a:srgbClr val="9AB87A"/>
                </a:solidFill>
                <a:latin typeface="Times New Roman"/>
                <a:ea typeface="Times New Roman"/>
                <a:cs typeface="Times New Roman"/>
                <a:sym typeface="Times New Roman"/>
                <a:hlinkClick r:id="rId3">
                  <a:extLst>
                    <a:ext uri="{A12FA001-AC4F-418D-AE19-62706E023703}">
                      <ahyp:hlinkClr val="tx"/>
                    </a:ext>
                  </a:extLst>
                </a:hlinkClick>
              </a:rPr>
              <a:t>https://www.researchgate.net/figure/The-average-of-weight-of-fresh-plant-weight-of-dry-plant-numbers-and-productivity-of_tbl1_354815537</a:t>
            </a:r>
            <a:r>
              <a:rPr lang="en" sz="1100">
                <a:solidFill>
                  <a:schemeClr val="dk1"/>
                </a:solidFill>
                <a:latin typeface="Times New Roman"/>
                <a:ea typeface="Times New Roman"/>
                <a:cs typeface="Times New Roman"/>
                <a:sym typeface="Times New Roman"/>
              </a:rPr>
              <a:t>. [Accessed: Apr. 4, 2025].</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000"/>
              </a:spcBef>
              <a:spcAft>
                <a:spcPts val="0"/>
              </a:spcAft>
              <a:buClr>
                <a:schemeClr val="dk1"/>
              </a:buClr>
              <a:buSzPts val="1100"/>
              <a:buFont typeface="Arial"/>
              <a:buNone/>
            </a:pPr>
            <a:r>
              <a:rPr lang="en" sz="1100">
                <a:solidFill>
                  <a:schemeClr val="dk1"/>
                </a:solidFill>
                <a:latin typeface="Times New Roman"/>
                <a:ea typeface="Times New Roman"/>
                <a:cs typeface="Times New Roman"/>
                <a:sym typeface="Times New Roman"/>
              </a:rPr>
              <a:t>J. Pickens, D. Wells, and C. Blanchard, "Greenhouse Lettuce Production," Alabama Cooperative Extension System, Aug. 5, 2022. [Online]. </a:t>
            </a:r>
            <a:r>
              <a:rPr lang="en" sz="1100" u="sng">
                <a:solidFill>
                  <a:schemeClr val="dk1"/>
                </a:solidFill>
                <a:latin typeface="Times New Roman"/>
                <a:ea typeface="Times New Roman"/>
                <a:cs typeface="Times New Roman"/>
                <a:sym typeface="Times New Roman"/>
                <a:hlinkClick r:id="rId4">
                  <a:extLst>
                    <a:ext uri="{A12FA001-AC4F-418D-AE19-62706E023703}">
                      <ahyp:hlinkClr val="tx"/>
                    </a:ext>
                  </a:extLst>
                </a:hlinkClick>
              </a:rPr>
              <a:t>Available: </a:t>
            </a:r>
            <a:r>
              <a:rPr lang="en" sz="1100" u="sng">
                <a:solidFill>
                  <a:srgbClr val="9AB87A"/>
                </a:solidFill>
                <a:latin typeface="Times New Roman"/>
                <a:ea typeface="Times New Roman"/>
                <a:cs typeface="Times New Roman"/>
                <a:sym typeface="Times New Roman"/>
                <a:hlinkClick r:id="rId5">
                  <a:extLst>
                    <a:ext uri="{A12FA001-AC4F-418D-AE19-62706E023703}">
                      <ahyp:hlinkClr val="tx"/>
                    </a:ext>
                  </a:extLst>
                </a:hlinkClick>
              </a:rPr>
              <a:t>http://www.aces.edu/blog/topics/crop-production/greenhouse-lettuce-production/</a:t>
            </a:r>
            <a:r>
              <a:rPr lang="en" sz="1100">
                <a:solidFill>
                  <a:schemeClr val="dk1"/>
                </a:solidFill>
                <a:latin typeface="Times New Roman"/>
                <a:ea typeface="Times New Roman"/>
                <a:cs typeface="Times New Roman"/>
                <a:sym typeface="Times New Roman"/>
              </a:rPr>
              <a:t>. [Accessed: Apr. 4, 2025].</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000"/>
              </a:spcBef>
              <a:spcAft>
                <a:spcPts val="0"/>
              </a:spcAft>
              <a:buClr>
                <a:schemeClr val="dk1"/>
              </a:buClr>
              <a:buSzPts val="1100"/>
              <a:buFont typeface="Arial"/>
              <a:buNone/>
            </a:pPr>
            <a:r>
              <a:rPr b="1" lang="en" sz="1600">
                <a:solidFill>
                  <a:schemeClr val="dk1"/>
                </a:solidFill>
                <a:latin typeface="Lexend"/>
                <a:ea typeface="Lexend"/>
                <a:cs typeface="Lexend"/>
                <a:sym typeface="Lexend"/>
              </a:rPr>
              <a:t>Desmos:</a:t>
            </a:r>
            <a:endParaRPr b="1" sz="1600">
              <a:solidFill>
                <a:schemeClr val="dk1"/>
              </a:solidFill>
              <a:latin typeface="Lexend"/>
              <a:ea typeface="Lexend"/>
              <a:cs typeface="Lexend"/>
              <a:sym typeface="Lexend"/>
            </a:endParaRPr>
          </a:p>
          <a:p>
            <a:pPr indent="0" lvl="0" marL="0" rtl="0" algn="l">
              <a:lnSpc>
                <a:spcPct val="115000"/>
              </a:lnSpc>
              <a:spcBef>
                <a:spcPts val="1000"/>
              </a:spcBef>
              <a:spcAft>
                <a:spcPts val="0"/>
              </a:spcAft>
              <a:buClr>
                <a:schemeClr val="dk1"/>
              </a:buClr>
              <a:buSzPts val="1100"/>
              <a:buFont typeface="Arial"/>
              <a:buNone/>
            </a:pPr>
            <a:r>
              <a:rPr lang="en" sz="1100">
                <a:solidFill>
                  <a:schemeClr val="dk1"/>
                </a:solidFill>
                <a:latin typeface="Times New Roman"/>
                <a:ea typeface="Times New Roman"/>
                <a:cs typeface="Times New Roman"/>
                <a:sym typeface="Times New Roman"/>
              </a:rPr>
              <a:t>Desmos Studio PBC, "Desmos Graphing Calculator." [Online]. </a:t>
            </a:r>
            <a:r>
              <a:rPr lang="en" sz="1100" u="sng">
                <a:solidFill>
                  <a:schemeClr val="dk1"/>
                </a:solidFill>
                <a:latin typeface="Times New Roman"/>
                <a:ea typeface="Times New Roman"/>
                <a:cs typeface="Times New Roman"/>
                <a:sym typeface="Times New Roman"/>
                <a:hlinkClick r:id="rId6">
                  <a:extLst>
                    <a:ext uri="{A12FA001-AC4F-418D-AE19-62706E023703}">
                      <ahyp:hlinkClr val="tx"/>
                    </a:ext>
                  </a:extLst>
                </a:hlinkClick>
              </a:rPr>
              <a:t>Available: </a:t>
            </a:r>
            <a:r>
              <a:rPr lang="en" sz="1100" u="sng">
                <a:solidFill>
                  <a:srgbClr val="9AB87A"/>
                </a:solidFill>
                <a:latin typeface="Times New Roman"/>
                <a:ea typeface="Times New Roman"/>
                <a:cs typeface="Times New Roman"/>
                <a:sym typeface="Times New Roman"/>
                <a:hlinkClick r:id="rId7">
                  <a:extLst>
                    <a:ext uri="{A12FA001-AC4F-418D-AE19-62706E023703}">
                      <ahyp:hlinkClr val="tx"/>
                    </a:ext>
                  </a:extLst>
                </a:hlinkClick>
              </a:rPr>
              <a:t>https://www.desmos.com/calculator/trmnh8foag</a:t>
            </a:r>
            <a:r>
              <a:rPr lang="en" sz="1100">
                <a:solidFill>
                  <a:schemeClr val="dk1"/>
                </a:solidFill>
                <a:latin typeface="Times New Roman"/>
                <a:ea typeface="Times New Roman"/>
                <a:cs typeface="Times New Roman"/>
                <a:sym typeface="Times New Roman"/>
              </a:rPr>
              <a:t>. [Accessed: Apr. 4, 2025].</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000"/>
              </a:spcBef>
              <a:spcAft>
                <a:spcPts val="0"/>
              </a:spcAft>
              <a:buClr>
                <a:schemeClr val="dk1"/>
              </a:buClr>
              <a:buSzPts val="1100"/>
              <a:buFont typeface="Arial"/>
              <a:buNone/>
            </a:pPr>
            <a:r>
              <a:rPr b="1" lang="en" sz="1600">
                <a:solidFill>
                  <a:schemeClr val="dk1"/>
                </a:solidFill>
                <a:latin typeface="Lexend"/>
                <a:ea typeface="Lexend"/>
                <a:cs typeface="Lexend"/>
                <a:sym typeface="Lexend"/>
              </a:rPr>
              <a:t>Serving Size:</a:t>
            </a:r>
            <a:endParaRPr b="1" sz="1600">
              <a:solidFill>
                <a:schemeClr val="dk1"/>
              </a:solidFill>
              <a:latin typeface="Lexend"/>
              <a:ea typeface="Lexend"/>
              <a:cs typeface="Lexend"/>
              <a:sym typeface="Lexend"/>
            </a:endParaRPr>
          </a:p>
          <a:p>
            <a:pPr indent="0" lvl="0" marL="0" rtl="0" algn="l">
              <a:lnSpc>
                <a:spcPct val="115000"/>
              </a:lnSpc>
              <a:spcBef>
                <a:spcPts val="1000"/>
              </a:spcBef>
              <a:spcAft>
                <a:spcPts val="0"/>
              </a:spcAft>
              <a:buClr>
                <a:schemeClr val="dk1"/>
              </a:buClr>
              <a:buSzPts val="1100"/>
              <a:buFont typeface="Arial"/>
              <a:buNone/>
            </a:pPr>
            <a:r>
              <a:rPr lang="en" sz="1100">
                <a:solidFill>
                  <a:schemeClr val="dk1"/>
                </a:solidFill>
                <a:latin typeface="Times New Roman"/>
                <a:ea typeface="Times New Roman"/>
                <a:cs typeface="Times New Roman"/>
                <a:sym typeface="Times New Roman"/>
              </a:rPr>
              <a:t>Health Canada, "My Food Guide Servings Tracker: Male Aged 19–50," 2011. [Online]. Available: </a:t>
            </a:r>
            <a:r>
              <a:rPr lang="en" sz="1100" u="sng">
                <a:solidFill>
                  <a:srgbClr val="9AB87A"/>
                </a:solidFill>
                <a:latin typeface="Times New Roman"/>
                <a:ea typeface="Times New Roman"/>
                <a:cs typeface="Times New Roman"/>
                <a:sym typeface="Times New Roman"/>
                <a:hlinkClick r:id="rId8">
                  <a:extLst>
                    <a:ext uri="{A12FA001-AC4F-418D-AE19-62706E023703}">
                      <ahyp:hlinkClr val="tx"/>
                    </a:ext>
                  </a:extLst>
                </a:hlinkClick>
              </a:rPr>
              <a:t>https://www.canada.ca/content/dam/hc-sc/migration/hc-sc/fn-an/alt_formats/pdf/food-guide-aliment/track-suivi/table_male-homme_age19-50-eng.pdf</a:t>
            </a:r>
            <a:r>
              <a:rPr lang="en" sz="1100">
                <a:solidFill>
                  <a:schemeClr val="dk1"/>
                </a:solidFill>
                <a:latin typeface="Times New Roman"/>
                <a:ea typeface="Times New Roman"/>
                <a:cs typeface="Times New Roman"/>
                <a:sym typeface="Times New Roman"/>
              </a:rPr>
              <a:t>. [Accessed: Apr. 5, 2025].</a:t>
            </a:r>
            <a:endParaRPr sz="1100">
              <a:solidFill>
                <a:schemeClr val="dk1"/>
              </a:solidFill>
              <a:latin typeface="Times New Roman"/>
              <a:ea typeface="Times New Roman"/>
              <a:cs typeface="Times New Roman"/>
              <a:sym typeface="Times New Roman"/>
            </a:endParaRPr>
          </a:p>
          <a:p>
            <a:pPr indent="-457200" lvl="0" marL="457200" rtl="0" algn="l">
              <a:lnSpc>
                <a:spcPct val="115000"/>
              </a:lnSpc>
              <a:spcBef>
                <a:spcPts val="1000"/>
              </a:spcBef>
              <a:spcAft>
                <a:spcPts val="1000"/>
              </a:spcAft>
              <a:buClr>
                <a:schemeClr val="dk1"/>
              </a:buClr>
              <a:buSzPts val="1100"/>
              <a:buFont typeface="Arial"/>
              <a:buNone/>
            </a:pPr>
            <a:r>
              <a:t/>
            </a:r>
            <a:endParaRPr b="1" sz="1600">
              <a:solidFill>
                <a:schemeClr val="dk1"/>
              </a:solidFill>
              <a:latin typeface="Lexend"/>
              <a:ea typeface="Lexend"/>
              <a:cs typeface="Lexend"/>
              <a:sym typeface="Lexend"/>
            </a:endParaRPr>
          </a:p>
        </p:txBody>
      </p:sp>
      <p:pic>
        <p:nvPicPr>
          <p:cNvPr id="362" name="Google Shape;362;p36" title="bold.png"/>
          <p:cNvPicPr preferRelativeResize="0"/>
          <p:nvPr/>
        </p:nvPicPr>
        <p:blipFill>
          <a:blip r:embed="rId9">
            <a:alphaModFix/>
          </a:blip>
          <a:stretch>
            <a:fillRect/>
          </a:stretch>
        </p:blipFill>
        <p:spPr>
          <a:xfrm>
            <a:off x="8528400" y="21325"/>
            <a:ext cx="615600" cy="6156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7"/>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Appendix C: Material Palette</a:t>
            </a:r>
            <a:endParaRPr>
              <a:solidFill>
                <a:srgbClr val="A44200"/>
              </a:solidFill>
              <a:latin typeface="Lexend"/>
              <a:ea typeface="Lexend"/>
              <a:cs typeface="Lexend"/>
              <a:sym typeface="Lexend"/>
            </a:endParaRPr>
          </a:p>
        </p:txBody>
      </p:sp>
      <p:pic>
        <p:nvPicPr>
          <p:cNvPr id="368" name="Google Shape;368;p37" title="bold.png"/>
          <p:cNvPicPr preferRelativeResize="0"/>
          <p:nvPr/>
        </p:nvPicPr>
        <p:blipFill>
          <a:blip r:embed="rId3">
            <a:alphaModFix/>
          </a:blip>
          <a:stretch>
            <a:fillRect/>
          </a:stretch>
        </p:blipFill>
        <p:spPr>
          <a:xfrm>
            <a:off x="8528400" y="21325"/>
            <a:ext cx="615600" cy="615600"/>
          </a:xfrm>
          <a:prstGeom prst="rect">
            <a:avLst/>
          </a:prstGeom>
          <a:noFill/>
          <a:ln>
            <a:noFill/>
          </a:ln>
        </p:spPr>
      </p:pic>
      <p:pic>
        <p:nvPicPr>
          <p:cNvPr id="369" name="Google Shape;369;p37"/>
          <p:cNvPicPr preferRelativeResize="0"/>
          <p:nvPr/>
        </p:nvPicPr>
        <p:blipFill>
          <a:blip r:embed="rId4">
            <a:alphaModFix/>
          </a:blip>
          <a:stretch>
            <a:fillRect/>
          </a:stretch>
        </p:blipFill>
        <p:spPr>
          <a:xfrm>
            <a:off x="1400270" y="636925"/>
            <a:ext cx="7128129" cy="2434439"/>
          </a:xfrm>
          <a:prstGeom prst="rect">
            <a:avLst/>
          </a:prstGeom>
          <a:noFill/>
          <a:ln>
            <a:noFill/>
          </a:ln>
        </p:spPr>
      </p:pic>
      <p:pic>
        <p:nvPicPr>
          <p:cNvPr id="370" name="Google Shape;370;p37"/>
          <p:cNvPicPr preferRelativeResize="0"/>
          <p:nvPr/>
        </p:nvPicPr>
        <p:blipFill>
          <a:blip r:embed="rId5">
            <a:alphaModFix/>
          </a:blip>
          <a:stretch>
            <a:fillRect/>
          </a:stretch>
        </p:blipFill>
        <p:spPr>
          <a:xfrm>
            <a:off x="2172875" y="2800325"/>
            <a:ext cx="1977775" cy="2118725"/>
          </a:xfrm>
          <a:prstGeom prst="rect">
            <a:avLst/>
          </a:prstGeom>
          <a:noFill/>
          <a:ln>
            <a:noFill/>
          </a:ln>
        </p:spPr>
      </p:pic>
      <p:pic>
        <p:nvPicPr>
          <p:cNvPr id="371" name="Google Shape;371;p37"/>
          <p:cNvPicPr preferRelativeResize="0"/>
          <p:nvPr/>
        </p:nvPicPr>
        <p:blipFill>
          <a:blip r:embed="rId6">
            <a:alphaModFix/>
          </a:blip>
          <a:stretch>
            <a:fillRect/>
          </a:stretch>
        </p:blipFill>
        <p:spPr>
          <a:xfrm>
            <a:off x="4150650" y="2800325"/>
            <a:ext cx="2853050" cy="19591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8"/>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Appendix D: </a:t>
            </a:r>
            <a:r>
              <a:rPr lang="en">
                <a:solidFill>
                  <a:srgbClr val="A44200"/>
                </a:solidFill>
                <a:latin typeface="Lexend"/>
                <a:ea typeface="Lexend"/>
                <a:cs typeface="Lexend"/>
                <a:sym typeface="Lexend"/>
              </a:rPr>
              <a:t>Hybrid</a:t>
            </a:r>
            <a:r>
              <a:rPr lang="en">
                <a:solidFill>
                  <a:srgbClr val="A44200"/>
                </a:solidFill>
                <a:latin typeface="Lexend"/>
                <a:ea typeface="Lexend"/>
                <a:cs typeface="Lexend"/>
                <a:sym typeface="Lexend"/>
              </a:rPr>
              <a:t> Renderings </a:t>
            </a:r>
            <a:endParaRPr>
              <a:solidFill>
                <a:srgbClr val="A44200"/>
              </a:solidFill>
              <a:latin typeface="Lexend"/>
              <a:ea typeface="Lexend"/>
              <a:cs typeface="Lexend"/>
              <a:sym typeface="Lexend"/>
            </a:endParaRPr>
          </a:p>
        </p:txBody>
      </p:sp>
      <p:pic>
        <p:nvPicPr>
          <p:cNvPr id="377" name="Google Shape;377;p38" title="bold.png"/>
          <p:cNvPicPr preferRelativeResize="0"/>
          <p:nvPr/>
        </p:nvPicPr>
        <p:blipFill>
          <a:blip r:embed="rId3">
            <a:alphaModFix/>
          </a:blip>
          <a:stretch>
            <a:fillRect/>
          </a:stretch>
        </p:blipFill>
        <p:spPr>
          <a:xfrm>
            <a:off x="8528400" y="21325"/>
            <a:ext cx="615600" cy="615600"/>
          </a:xfrm>
          <a:prstGeom prst="rect">
            <a:avLst/>
          </a:prstGeom>
          <a:noFill/>
          <a:ln>
            <a:noFill/>
          </a:ln>
        </p:spPr>
      </p:pic>
      <p:pic>
        <p:nvPicPr>
          <p:cNvPr id="378" name="Google Shape;378;p38"/>
          <p:cNvPicPr preferRelativeResize="0"/>
          <p:nvPr/>
        </p:nvPicPr>
        <p:blipFill>
          <a:blip r:embed="rId4">
            <a:alphaModFix/>
          </a:blip>
          <a:stretch>
            <a:fillRect/>
          </a:stretch>
        </p:blipFill>
        <p:spPr>
          <a:xfrm>
            <a:off x="2006975" y="881725"/>
            <a:ext cx="4268030" cy="40569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9"/>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Appendix E: Rainwater</a:t>
            </a:r>
            <a:endParaRPr>
              <a:solidFill>
                <a:srgbClr val="A44200"/>
              </a:solidFill>
              <a:latin typeface="Lexend"/>
              <a:ea typeface="Lexend"/>
              <a:cs typeface="Lexend"/>
              <a:sym typeface="Lexend"/>
            </a:endParaRPr>
          </a:p>
        </p:txBody>
      </p:sp>
      <p:pic>
        <p:nvPicPr>
          <p:cNvPr id="384" name="Google Shape;384;p39" title="bold.png"/>
          <p:cNvPicPr preferRelativeResize="0"/>
          <p:nvPr/>
        </p:nvPicPr>
        <p:blipFill>
          <a:blip r:embed="rId3">
            <a:alphaModFix/>
          </a:blip>
          <a:stretch>
            <a:fillRect/>
          </a:stretch>
        </p:blipFill>
        <p:spPr>
          <a:xfrm>
            <a:off x="8528400" y="21325"/>
            <a:ext cx="615600" cy="615600"/>
          </a:xfrm>
          <a:prstGeom prst="rect">
            <a:avLst/>
          </a:prstGeom>
          <a:noFill/>
          <a:ln>
            <a:noFill/>
          </a:ln>
        </p:spPr>
      </p:pic>
      <p:pic>
        <p:nvPicPr>
          <p:cNvPr id="385" name="Google Shape;385;p39" title="IMG_0409.jpg"/>
          <p:cNvPicPr preferRelativeResize="0"/>
          <p:nvPr/>
        </p:nvPicPr>
        <p:blipFill>
          <a:blip r:embed="rId4">
            <a:alphaModFix/>
          </a:blip>
          <a:stretch>
            <a:fillRect/>
          </a:stretch>
        </p:blipFill>
        <p:spPr>
          <a:xfrm>
            <a:off x="259988" y="881775"/>
            <a:ext cx="8624025" cy="3718825"/>
          </a:xfrm>
          <a:prstGeom prst="rect">
            <a:avLst/>
          </a:prstGeom>
          <a:noFill/>
          <a:ln cap="flat" cmpd="sng" w="28575">
            <a:solidFill>
              <a:srgbClr val="ABBF95"/>
            </a:solidFill>
            <a:prstDash val="solid"/>
            <a:round/>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0"/>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Appendix F: HVAC/Energy</a:t>
            </a:r>
            <a:endParaRPr>
              <a:solidFill>
                <a:srgbClr val="A44200"/>
              </a:solidFill>
              <a:latin typeface="Lexend"/>
              <a:ea typeface="Lexend"/>
              <a:cs typeface="Lexend"/>
              <a:sym typeface="Lexend"/>
            </a:endParaRPr>
          </a:p>
        </p:txBody>
      </p:sp>
      <p:pic>
        <p:nvPicPr>
          <p:cNvPr id="391" name="Google Shape;391;p40" title="bold.png"/>
          <p:cNvPicPr preferRelativeResize="0"/>
          <p:nvPr/>
        </p:nvPicPr>
        <p:blipFill>
          <a:blip r:embed="rId3">
            <a:alphaModFix/>
          </a:blip>
          <a:stretch>
            <a:fillRect/>
          </a:stretch>
        </p:blipFill>
        <p:spPr>
          <a:xfrm>
            <a:off x="8528400" y="21325"/>
            <a:ext cx="615600" cy="615600"/>
          </a:xfrm>
          <a:prstGeom prst="rect">
            <a:avLst/>
          </a:prstGeom>
          <a:noFill/>
          <a:ln>
            <a:noFill/>
          </a:ln>
        </p:spPr>
      </p:pic>
      <p:pic>
        <p:nvPicPr>
          <p:cNvPr id="392" name="Google Shape;392;p40" title="IMG_0410.jpg"/>
          <p:cNvPicPr preferRelativeResize="0"/>
          <p:nvPr/>
        </p:nvPicPr>
        <p:blipFill>
          <a:blip r:embed="rId4">
            <a:alphaModFix/>
          </a:blip>
          <a:stretch>
            <a:fillRect/>
          </a:stretch>
        </p:blipFill>
        <p:spPr>
          <a:xfrm>
            <a:off x="251788" y="853700"/>
            <a:ext cx="8640424" cy="372405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1"/>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Appendix G: Location of Sprout Stairs on Site</a:t>
            </a:r>
            <a:endParaRPr>
              <a:solidFill>
                <a:srgbClr val="A44200"/>
              </a:solidFill>
              <a:latin typeface="Lexend"/>
              <a:ea typeface="Lexend"/>
              <a:cs typeface="Lexend"/>
              <a:sym typeface="Lexend"/>
            </a:endParaRPr>
          </a:p>
        </p:txBody>
      </p:sp>
      <p:pic>
        <p:nvPicPr>
          <p:cNvPr id="398" name="Google Shape;398;p41" title="bold.png"/>
          <p:cNvPicPr preferRelativeResize="0"/>
          <p:nvPr/>
        </p:nvPicPr>
        <p:blipFill>
          <a:blip r:embed="rId3">
            <a:alphaModFix/>
          </a:blip>
          <a:stretch>
            <a:fillRect/>
          </a:stretch>
        </p:blipFill>
        <p:spPr>
          <a:xfrm>
            <a:off x="8528400" y="21325"/>
            <a:ext cx="615600" cy="615600"/>
          </a:xfrm>
          <a:prstGeom prst="rect">
            <a:avLst/>
          </a:prstGeom>
          <a:noFill/>
          <a:ln>
            <a:noFill/>
          </a:ln>
        </p:spPr>
      </p:pic>
      <p:sp>
        <p:nvSpPr>
          <p:cNvPr id="399" name="Google Shape;399;p41"/>
          <p:cNvSpPr txBox="1"/>
          <p:nvPr/>
        </p:nvSpPr>
        <p:spPr>
          <a:xfrm>
            <a:off x="342450" y="3877500"/>
            <a:ext cx="84591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Lexend"/>
                <a:ea typeface="Lexend"/>
                <a:cs typeface="Lexend"/>
                <a:sym typeface="Lexend"/>
              </a:rPr>
              <a:t>Location</a:t>
            </a:r>
            <a:r>
              <a:rPr lang="en" sz="1800">
                <a:solidFill>
                  <a:schemeClr val="dk1"/>
                </a:solidFill>
                <a:latin typeface="Lexend"/>
                <a:ea typeface="Lexend"/>
                <a:cs typeface="Lexend"/>
                <a:sym typeface="Lexend"/>
              </a:rPr>
              <a:t>: north section of the site to optimize </a:t>
            </a:r>
            <a:r>
              <a:rPr lang="en" sz="1800">
                <a:solidFill>
                  <a:schemeClr val="dk1"/>
                </a:solidFill>
                <a:latin typeface="Lexend"/>
                <a:ea typeface="Lexend"/>
                <a:cs typeface="Lexend"/>
                <a:sym typeface="Lexend"/>
              </a:rPr>
              <a:t>shadows</a:t>
            </a:r>
            <a:r>
              <a:rPr lang="en" sz="1800">
                <a:solidFill>
                  <a:schemeClr val="dk1"/>
                </a:solidFill>
                <a:latin typeface="Lexend"/>
                <a:ea typeface="Lexend"/>
                <a:cs typeface="Lexend"/>
                <a:sym typeface="Lexend"/>
              </a:rPr>
              <a:t> created by surrounding buildings</a:t>
            </a:r>
            <a:endParaRPr sz="1800">
              <a:solidFill>
                <a:schemeClr val="dk1"/>
              </a:solidFill>
              <a:latin typeface="Lexend"/>
              <a:ea typeface="Lexend"/>
              <a:cs typeface="Lexend"/>
              <a:sym typeface="Lexend"/>
            </a:endParaRPr>
          </a:p>
          <a:p>
            <a:pPr indent="0" lvl="0" marL="0" rtl="0" algn="l">
              <a:spcBef>
                <a:spcPts val="0"/>
              </a:spcBef>
              <a:spcAft>
                <a:spcPts val="0"/>
              </a:spcAft>
              <a:buNone/>
            </a:pPr>
            <a:r>
              <a:rPr b="1" lang="en" sz="1800">
                <a:solidFill>
                  <a:schemeClr val="dk1"/>
                </a:solidFill>
                <a:latin typeface="Lexend"/>
                <a:ea typeface="Lexend"/>
                <a:cs typeface="Lexend"/>
                <a:sym typeface="Lexend"/>
              </a:rPr>
              <a:t>Orientation</a:t>
            </a:r>
            <a:r>
              <a:rPr lang="en" sz="1800">
                <a:solidFill>
                  <a:schemeClr val="dk1"/>
                </a:solidFill>
                <a:latin typeface="Lexend"/>
                <a:ea typeface="Lexend"/>
                <a:cs typeface="Lexend"/>
                <a:sym typeface="Lexend"/>
              </a:rPr>
              <a:t>: plant growing area faces south to optimize sunlight</a:t>
            </a:r>
            <a:endParaRPr sz="1800">
              <a:solidFill>
                <a:schemeClr val="dk1"/>
              </a:solidFill>
              <a:latin typeface="Lexend"/>
              <a:ea typeface="Lexend"/>
              <a:cs typeface="Lexend"/>
              <a:sym typeface="Lexend"/>
            </a:endParaRPr>
          </a:p>
        </p:txBody>
      </p:sp>
      <p:pic>
        <p:nvPicPr>
          <p:cNvPr id="400" name="Google Shape;400;p41"/>
          <p:cNvPicPr preferRelativeResize="0"/>
          <p:nvPr/>
        </p:nvPicPr>
        <p:blipFill rotWithShape="1">
          <a:blip r:embed="rId4">
            <a:alphaModFix/>
          </a:blip>
          <a:srcRect b="0" l="0" r="0" t="5006"/>
          <a:stretch/>
        </p:blipFill>
        <p:spPr>
          <a:xfrm>
            <a:off x="106475" y="781750"/>
            <a:ext cx="6853277" cy="3052401"/>
          </a:xfrm>
          <a:prstGeom prst="rect">
            <a:avLst/>
          </a:prstGeom>
          <a:noFill/>
          <a:ln>
            <a:noFill/>
          </a:ln>
        </p:spPr>
      </p:pic>
      <p:pic>
        <p:nvPicPr>
          <p:cNvPr id="401" name="Google Shape;401;p41"/>
          <p:cNvPicPr preferRelativeResize="0"/>
          <p:nvPr/>
        </p:nvPicPr>
        <p:blipFill>
          <a:blip r:embed="rId5">
            <a:alphaModFix/>
          </a:blip>
          <a:stretch>
            <a:fillRect/>
          </a:stretch>
        </p:blipFill>
        <p:spPr>
          <a:xfrm>
            <a:off x="6959750" y="1871675"/>
            <a:ext cx="2100255" cy="1015799"/>
          </a:xfrm>
          <a:prstGeom prst="rect">
            <a:avLst/>
          </a:prstGeom>
          <a:noFill/>
          <a:ln>
            <a:noFill/>
          </a:ln>
        </p:spPr>
      </p:pic>
      <p:pic>
        <p:nvPicPr>
          <p:cNvPr id="402" name="Google Shape;402;p41"/>
          <p:cNvPicPr preferRelativeResize="0"/>
          <p:nvPr/>
        </p:nvPicPr>
        <p:blipFill rotWithShape="1">
          <a:blip r:embed="rId6">
            <a:alphaModFix/>
          </a:blip>
          <a:srcRect b="17224" l="15904" r="15097" t="20346"/>
          <a:stretch/>
        </p:blipFill>
        <p:spPr>
          <a:xfrm>
            <a:off x="7376750" y="781750"/>
            <a:ext cx="1266243" cy="1148175"/>
          </a:xfrm>
          <a:prstGeom prst="rect">
            <a:avLst/>
          </a:prstGeom>
          <a:noFill/>
          <a:ln>
            <a:noFill/>
          </a:ln>
        </p:spPr>
      </p:pic>
      <p:pic>
        <p:nvPicPr>
          <p:cNvPr id="403" name="Google Shape;403;p41"/>
          <p:cNvPicPr preferRelativeResize="0"/>
          <p:nvPr/>
        </p:nvPicPr>
        <p:blipFill>
          <a:blip r:embed="rId7">
            <a:alphaModFix/>
          </a:blip>
          <a:stretch>
            <a:fillRect/>
          </a:stretch>
        </p:blipFill>
        <p:spPr>
          <a:xfrm>
            <a:off x="6995525" y="2887475"/>
            <a:ext cx="2028698" cy="771850"/>
          </a:xfrm>
          <a:prstGeom prst="rect">
            <a:avLst/>
          </a:prstGeom>
          <a:noFill/>
          <a:ln>
            <a:noFill/>
          </a:ln>
        </p:spPr>
      </p:pic>
    </p:spTree>
  </p:cSld>
  <p:clrMapOvr>
    <a:masterClrMapping/>
  </p:clrMapOvr>
  <mc:AlternateContent>
    <mc:Choice Requires="p14">
      <p:transition p14:dur="10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2"/>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Appendix H: Sun Studies</a:t>
            </a:r>
            <a:endParaRPr>
              <a:solidFill>
                <a:srgbClr val="A44200"/>
              </a:solidFill>
              <a:latin typeface="Lexend"/>
              <a:ea typeface="Lexend"/>
              <a:cs typeface="Lexend"/>
              <a:sym typeface="Lexend"/>
            </a:endParaRPr>
          </a:p>
        </p:txBody>
      </p:sp>
      <p:pic>
        <p:nvPicPr>
          <p:cNvPr id="409" name="Google Shape;409;p42" title="average closeup.jpg"/>
          <p:cNvPicPr preferRelativeResize="0"/>
          <p:nvPr/>
        </p:nvPicPr>
        <p:blipFill>
          <a:blip r:embed="rId3">
            <a:alphaModFix/>
          </a:blip>
          <a:stretch>
            <a:fillRect/>
          </a:stretch>
        </p:blipFill>
        <p:spPr>
          <a:xfrm>
            <a:off x="152400" y="934150"/>
            <a:ext cx="2763462" cy="3826325"/>
          </a:xfrm>
          <a:prstGeom prst="rect">
            <a:avLst/>
          </a:prstGeom>
          <a:noFill/>
          <a:ln>
            <a:noFill/>
          </a:ln>
        </p:spPr>
      </p:pic>
      <p:pic>
        <p:nvPicPr>
          <p:cNvPr id="410" name="Google Shape;410;p42" title="Screenshot 2025-04-05 033350.png"/>
          <p:cNvPicPr preferRelativeResize="0"/>
          <p:nvPr/>
        </p:nvPicPr>
        <p:blipFill>
          <a:blip r:embed="rId4">
            <a:alphaModFix/>
          </a:blip>
          <a:stretch>
            <a:fillRect/>
          </a:stretch>
        </p:blipFill>
        <p:spPr>
          <a:xfrm>
            <a:off x="3234819" y="934150"/>
            <a:ext cx="5756780" cy="3826337"/>
          </a:xfrm>
          <a:prstGeom prst="rect">
            <a:avLst/>
          </a:prstGeom>
          <a:noFill/>
          <a:ln>
            <a:noFill/>
          </a:ln>
        </p:spPr>
      </p:pic>
      <p:pic>
        <p:nvPicPr>
          <p:cNvPr id="411" name="Google Shape;411;p42" title="bold.png"/>
          <p:cNvPicPr preferRelativeResize="0"/>
          <p:nvPr/>
        </p:nvPicPr>
        <p:blipFill>
          <a:blip r:embed="rId5">
            <a:alphaModFix/>
          </a:blip>
          <a:stretch>
            <a:fillRect/>
          </a:stretch>
        </p:blipFill>
        <p:spPr>
          <a:xfrm>
            <a:off x="8528400" y="21325"/>
            <a:ext cx="615600" cy="6156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3"/>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Appendix I: User Group</a:t>
            </a:r>
            <a:endParaRPr>
              <a:solidFill>
                <a:srgbClr val="A44200"/>
              </a:solidFill>
              <a:latin typeface="Lexend"/>
              <a:ea typeface="Lexend"/>
              <a:cs typeface="Lexend"/>
              <a:sym typeface="Lexend"/>
            </a:endParaRPr>
          </a:p>
        </p:txBody>
      </p:sp>
      <p:pic>
        <p:nvPicPr>
          <p:cNvPr id="417" name="Google Shape;417;p43" title="bold.png"/>
          <p:cNvPicPr preferRelativeResize="0"/>
          <p:nvPr/>
        </p:nvPicPr>
        <p:blipFill>
          <a:blip r:embed="rId3">
            <a:alphaModFix/>
          </a:blip>
          <a:stretch>
            <a:fillRect/>
          </a:stretch>
        </p:blipFill>
        <p:spPr>
          <a:xfrm>
            <a:off x="8528400" y="21325"/>
            <a:ext cx="615600" cy="615600"/>
          </a:xfrm>
          <a:prstGeom prst="rect">
            <a:avLst/>
          </a:prstGeom>
          <a:noFill/>
          <a:ln>
            <a:noFill/>
          </a:ln>
        </p:spPr>
      </p:pic>
      <p:sp>
        <p:nvSpPr>
          <p:cNvPr id="418" name="Google Shape;418;p43"/>
          <p:cNvSpPr/>
          <p:nvPr/>
        </p:nvSpPr>
        <p:spPr>
          <a:xfrm>
            <a:off x="648900" y="2049600"/>
            <a:ext cx="3782400" cy="340500"/>
          </a:xfrm>
          <a:prstGeom prst="rect">
            <a:avLst/>
          </a:prstGeom>
          <a:solidFill>
            <a:srgbClr val="87A290"/>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Lexend"/>
                <a:ea typeface="Lexend"/>
                <a:cs typeface="Lexend"/>
                <a:sym typeface="Lexend"/>
              </a:rPr>
              <a:t>High School and University Students</a:t>
            </a:r>
            <a:endParaRPr sz="1300">
              <a:solidFill>
                <a:schemeClr val="lt1"/>
              </a:solidFill>
              <a:latin typeface="Lexend"/>
              <a:ea typeface="Lexend"/>
              <a:cs typeface="Lexend"/>
              <a:sym typeface="Lexend"/>
            </a:endParaRPr>
          </a:p>
        </p:txBody>
      </p:sp>
      <p:sp>
        <p:nvSpPr>
          <p:cNvPr id="419" name="Google Shape;419;p43"/>
          <p:cNvSpPr/>
          <p:nvPr/>
        </p:nvSpPr>
        <p:spPr>
          <a:xfrm>
            <a:off x="648900" y="2494750"/>
            <a:ext cx="3782400" cy="1664400"/>
          </a:xfrm>
          <a:prstGeom prst="rect">
            <a:avLst/>
          </a:prstGeom>
          <a:noFill/>
          <a:ln cap="flat" cmpd="sng" w="28575">
            <a:solidFill>
              <a:srgbClr val="ABBF95"/>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Proximity to University of Toronto</a:t>
            </a:r>
            <a:endParaRPr>
              <a:solidFill>
                <a:schemeClr val="dk1"/>
              </a:solidFill>
              <a:latin typeface="Lexend"/>
              <a:ea typeface="Lexend"/>
              <a:cs typeface="Lexend"/>
              <a:sym typeface="Lexend"/>
            </a:endParaRPr>
          </a:p>
          <a:p>
            <a:pPr indent="-317500" lvl="1" marL="9144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35.6% of population are from age 15-30 (student age)</a:t>
            </a:r>
            <a:endParaRPr>
              <a:solidFill>
                <a:schemeClr val="dk1"/>
              </a:solidFill>
              <a:latin typeface="Lexend"/>
              <a:ea typeface="Lexend"/>
              <a:cs typeface="Lexend"/>
              <a:sym typeface="Lexend"/>
            </a:endParaRPr>
          </a:p>
        </p:txBody>
      </p:sp>
      <p:sp>
        <p:nvSpPr>
          <p:cNvPr id="420" name="Google Shape;420;p43"/>
          <p:cNvSpPr/>
          <p:nvPr/>
        </p:nvSpPr>
        <p:spPr>
          <a:xfrm>
            <a:off x="4712700" y="2049600"/>
            <a:ext cx="3782400" cy="340500"/>
          </a:xfrm>
          <a:prstGeom prst="rect">
            <a:avLst/>
          </a:prstGeom>
          <a:solidFill>
            <a:srgbClr val="87A290"/>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Lexend"/>
                <a:ea typeface="Lexend"/>
                <a:cs typeface="Lexend"/>
                <a:sym typeface="Lexend"/>
              </a:rPr>
              <a:t>Cultural Communities</a:t>
            </a:r>
            <a:endParaRPr sz="1300">
              <a:solidFill>
                <a:schemeClr val="lt1"/>
              </a:solidFill>
              <a:latin typeface="Lexend"/>
              <a:ea typeface="Lexend"/>
              <a:cs typeface="Lexend"/>
              <a:sym typeface="Lexend"/>
            </a:endParaRPr>
          </a:p>
        </p:txBody>
      </p:sp>
      <p:sp>
        <p:nvSpPr>
          <p:cNvPr id="421" name="Google Shape;421;p43"/>
          <p:cNvSpPr/>
          <p:nvPr/>
        </p:nvSpPr>
        <p:spPr>
          <a:xfrm>
            <a:off x="4712700" y="2494750"/>
            <a:ext cx="3782400" cy="1664400"/>
          </a:xfrm>
          <a:prstGeom prst="rect">
            <a:avLst/>
          </a:prstGeom>
          <a:noFill/>
          <a:ln cap="flat" cmpd="sng" w="28575">
            <a:solidFill>
              <a:srgbClr val="ABBF95"/>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Partnerships with the following organizations</a:t>
            </a:r>
            <a:endParaRPr>
              <a:solidFill>
                <a:schemeClr val="dk1"/>
              </a:solidFill>
              <a:latin typeface="Lexend"/>
              <a:ea typeface="Lexend"/>
              <a:cs typeface="Lexend"/>
              <a:sym typeface="Lexend"/>
            </a:endParaRPr>
          </a:p>
          <a:p>
            <a:pPr indent="-317500" lvl="1" marL="9144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NCCT</a:t>
            </a:r>
            <a:endParaRPr>
              <a:solidFill>
                <a:schemeClr val="dk1"/>
              </a:solidFill>
              <a:latin typeface="Lexend"/>
              <a:ea typeface="Lexend"/>
              <a:cs typeface="Lexend"/>
              <a:sym typeface="Lexend"/>
            </a:endParaRPr>
          </a:p>
          <a:p>
            <a:pPr indent="-317500" lvl="1" marL="9144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Lighthouse (refugee groups, Vietnamese community)</a:t>
            </a:r>
            <a:endParaRPr>
              <a:solidFill>
                <a:schemeClr val="dk1"/>
              </a:solidFill>
              <a:latin typeface="Lexend"/>
              <a:ea typeface="Lexend"/>
              <a:cs typeface="Lexend"/>
              <a:sym typeface="Lexend"/>
            </a:endParaRPr>
          </a:p>
          <a:p>
            <a:pPr indent="-317500" lvl="1" marL="9144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Miles Nadal Jewish Community Center</a:t>
            </a:r>
            <a:endParaRPr>
              <a:solidFill>
                <a:schemeClr val="dk1"/>
              </a:solidFill>
              <a:latin typeface="Lexend"/>
              <a:ea typeface="Lexend"/>
              <a:cs typeface="Lexend"/>
              <a:sym typeface="Lexend"/>
            </a:endParaRPr>
          </a:p>
        </p:txBody>
      </p:sp>
      <p:sp>
        <p:nvSpPr>
          <p:cNvPr id="422" name="Google Shape;422;p43"/>
          <p:cNvSpPr txBox="1"/>
          <p:nvPr>
            <p:ph type="title"/>
          </p:nvPr>
        </p:nvSpPr>
        <p:spPr>
          <a:xfrm>
            <a:off x="311700" y="11293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Lexend"/>
                <a:ea typeface="Lexend"/>
                <a:cs typeface="Lexend"/>
                <a:sym typeface="Lexend"/>
              </a:rPr>
              <a:t>The greenhouse is open to anyone who needs it, however, the following groups had an impact on our design</a:t>
            </a:r>
            <a:endParaRPr sz="2000">
              <a:latin typeface="Lexend"/>
              <a:ea typeface="Lexend"/>
              <a:cs typeface="Lexend"/>
              <a:sym typeface="Lexen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4"/>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Appendix J: Specific Plants Being </a:t>
            </a:r>
            <a:r>
              <a:rPr lang="en">
                <a:solidFill>
                  <a:srgbClr val="A44200"/>
                </a:solidFill>
                <a:latin typeface="Lexend"/>
                <a:ea typeface="Lexend"/>
                <a:cs typeface="Lexend"/>
                <a:sym typeface="Lexend"/>
              </a:rPr>
              <a:t>Grown</a:t>
            </a:r>
            <a:endParaRPr>
              <a:solidFill>
                <a:srgbClr val="A44200"/>
              </a:solidFill>
              <a:latin typeface="Lexend"/>
              <a:ea typeface="Lexend"/>
              <a:cs typeface="Lexend"/>
              <a:sym typeface="Lexend"/>
            </a:endParaRPr>
          </a:p>
        </p:txBody>
      </p:sp>
      <p:pic>
        <p:nvPicPr>
          <p:cNvPr id="428" name="Google Shape;428;p44" title="bold.png"/>
          <p:cNvPicPr preferRelativeResize="0"/>
          <p:nvPr/>
        </p:nvPicPr>
        <p:blipFill>
          <a:blip r:embed="rId3">
            <a:alphaModFix/>
          </a:blip>
          <a:stretch>
            <a:fillRect/>
          </a:stretch>
        </p:blipFill>
        <p:spPr>
          <a:xfrm>
            <a:off x="8528400" y="21325"/>
            <a:ext cx="615600" cy="615600"/>
          </a:xfrm>
          <a:prstGeom prst="rect">
            <a:avLst/>
          </a:prstGeom>
          <a:noFill/>
          <a:ln>
            <a:noFill/>
          </a:ln>
        </p:spPr>
      </p:pic>
      <p:sp>
        <p:nvSpPr>
          <p:cNvPr id="429" name="Google Shape;429;p44"/>
          <p:cNvSpPr/>
          <p:nvPr/>
        </p:nvSpPr>
        <p:spPr>
          <a:xfrm>
            <a:off x="648900" y="1071750"/>
            <a:ext cx="3782400" cy="340500"/>
          </a:xfrm>
          <a:prstGeom prst="rect">
            <a:avLst/>
          </a:prstGeom>
          <a:solidFill>
            <a:srgbClr val="87A290"/>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Lexend"/>
                <a:ea typeface="Lexend"/>
                <a:cs typeface="Lexend"/>
                <a:sym typeface="Lexend"/>
              </a:rPr>
              <a:t>Winter Produce</a:t>
            </a:r>
            <a:endParaRPr sz="1300">
              <a:solidFill>
                <a:schemeClr val="lt1"/>
              </a:solidFill>
              <a:latin typeface="Lexend"/>
              <a:ea typeface="Lexend"/>
              <a:cs typeface="Lexend"/>
              <a:sym typeface="Lexend"/>
            </a:endParaRPr>
          </a:p>
        </p:txBody>
      </p:sp>
      <p:sp>
        <p:nvSpPr>
          <p:cNvPr id="430" name="Google Shape;430;p44"/>
          <p:cNvSpPr/>
          <p:nvPr/>
        </p:nvSpPr>
        <p:spPr>
          <a:xfrm>
            <a:off x="648900" y="1516900"/>
            <a:ext cx="3782400" cy="1664400"/>
          </a:xfrm>
          <a:prstGeom prst="rect">
            <a:avLst/>
          </a:prstGeom>
          <a:noFill/>
          <a:ln cap="flat" cmpd="sng" w="28575">
            <a:solidFill>
              <a:srgbClr val="ABBF95"/>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Leafy greens</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Lettuce</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Carrots</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Potatoes</a:t>
            </a:r>
            <a:endParaRPr>
              <a:solidFill>
                <a:schemeClr val="dk1"/>
              </a:solidFill>
              <a:latin typeface="Lexend"/>
              <a:ea typeface="Lexend"/>
              <a:cs typeface="Lexend"/>
              <a:sym typeface="Lexend"/>
            </a:endParaRPr>
          </a:p>
        </p:txBody>
      </p:sp>
      <p:sp>
        <p:nvSpPr>
          <p:cNvPr id="431" name="Google Shape;431;p44"/>
          <p:cNvSpPr/>
          <p:nvPr/>
        </p:nvSpPr>
        <p:spPr>
          <a:xfrm>
            <a:off x="4712700" y="1071750"/>
            <a:ext cx="3782400" cy="340500"/>
          </a:xfrm>
          <a:prstGeom prst="rect">
            <a:avLst/>
          </a:prstGeom>
          <a:solidFill>
            <a:srgbClr val="87A290"/>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Lexend"/>
                <a:ea typeface="Lexend"/>
                <a:cs typeface="Lexend"/>
                <a:sym typeface="Lexend"/>
              </a:rPr>
              <a:t>Year Round Produce</a:t>
            </a:r>
            <a:endParaRPr sz="1300">
              <a:solidFill>
                <a:schemeClr val="lt1"/>
              </a:solidFill>
              <a:latin typeface="Lexend"/>
              <a:ea typeface="Lexend"/>
              <a:cs typeface="Lexend"/>
              <a:sym typeface="Lexend"/>
            </a:endParaRPr>
          </a:p>
        </p:txBody>
      </p:sp>
      <p:sp>
        <p:nvSpPr>
          <p:cNvPr id="432" name="Google Shape;432;p44"/>
          <p:cNvSpPr/>
          <p:nvPr/>
        </p:nvSpPr>
        <p:spPr>
          <a:xfrm>
            <a:off x="4712700" y="1516900"/>
            <a:ext cx="3782400" cy="1664400"/>
          </a:xfrm>
          <a:prstGeom prst="rect">
            <a:avLst/>
          </a:prstGeom>
          <a:noFill/>
          <a:ln cap="flat" cmpd="sng" w="28575">
            <a:solidFill>
              <a:srgbClr val="ABBF95"/>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Strawberries</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Tomatoes</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Onions</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Peppers</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Cucumbers</a:t>
            </a:r>
            <a:endParaRPr>
              <a:solidFill>
                <a:schemeClr val="dk1"/>
              </a:solidFill>
              <a:latin typeface="Lexend"/>
              <a:ea typeface="Lexend"/>
              <a:cs typeface="Lexend"/>
              <a:sym typeface="Lexend"/>
            </a:endParaRPr>
          </a:p>
        </p:txBody>
      </p:sp>
      <p:sp>
        <p:nvSpPr>
          <p:cNvPr id="433" name="Google Shape;433;p44"/>
          <p:cNvSpPr/>
          <p:nvPr/>
        </p:nvSpPr>
        <p:spPr>
          <a:xfrm>
            <a:off x="648900" y="3323175"/>
            <a:ext cx="3782400" cy="340500"/>
          </a:xfrm>
          <a:prstGeom prst="rect">
            <a:avLst/>
          </a:prstGeom>
          <a:solidFill>
            <a:srgbClr val="87A290"/>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Lexend"/>
                <a:ea typeface="Lexend"/>
                <a:cs typeface="Lexend"/>
                <a:sym typeface="Lexend"/>
              </a:rPr>
              <a:t>Indigenous Produce</a:t>
            </a:r>
            <a:endParaRPr sz="1300">
              <a:solidFill>
                <a:schemeClr val="lt1"/>
              </a:solidFill>
              <a:latin typeface="Lexend"/>
              <a:ea typeface="Lexend"/>
              <a:cs typeface="Lexend"/>
              <a:sym typeface="Lexend"/>
            </a:endParaRPr>
          </a:p>
        </p:txBody>
      </p:sp>
      <p:sp>
        <p:nvSpPr>
          <p:cNvPr id="434" name="Google Shape;434;p44"/>
          <p:cNvSpPr/>
          <p:nvPr/>
        </p:nvSpPr>
        <p:spPr>
          <a:xfrm>
            <a:off x="648900" y="3805550"/>
            <a:ext cx="3782400" cy="987600"/>
          </a:xfrm>
          <a:prstGeom prst="rect">
            <a:avLst/>
          </a:prstGeom>
          <a:noFill/>
          <a:ln cap="flat" cmpd="sng" w="28575">
            <a:solidFill>
              <a:srgbClr val="ABBF95"/>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Huckleberries</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Elderberry</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Rhubarb</a:t>
            </a:r>
            <a:endParaRPr>
              <a:solidFill>
                <a:schemeClr val="dk1"/>
              </a:solidFill>
              <a:latin typeface="Lexend"/>
              <a:ea typeface="Lexend"/>
              <a:cs typeface="Lexend"/>
              <a:sym typeface="Lexend"/>
            </a:endParaRPr>
          </a:p>
        </p:txBody>
      </p:sp>
      <p:sp>
        <p:nvSpPr>
          <p:cNvPr id="435" name="Google Shape;435;p44"/>
          <p:cNvSpPr/>
          <p:nvPr/>
        </p:nvSpPr>
        <p:spPr>
          <a:xfrm>
            <a:off x="4712700" y="3323175"/>
            <a:ext cx="3782400" cy="340500"/>
          </a:xfrm>
          <a:prstGeom prst="rect">
            <a:avLst/>
          </a:prstGeom>
          <a:solidFill>
            <a:srgbClr val="87A290"/>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Lexend"/>
                <a:ea typeface="Lexend"/>
                <a:cs typeface="Lexend"/>
                <a:sym typeface="Lexend"/>
              </a:rPr>
              <a:t>Herbs</a:t>
            </a:r>
            <a:endParaRPr sz="1300">
              <a:solidFill>
                <a:schemeClr val="lt1"/>
              </a:solidFill>
              <a:latin typeface="Lexend"/>
              <a:ea typeface="Lexend"/>
              <a:cs typeface="Lexend"/>
              <a:sym typeface="Lexend"/>
            </a:endParaRPr>
          </a:p>
        </p:txBody>
      </p:sp>
      <p:sp>
        <p:nvSpPr>
          <p:cNvPr id="436" name="Google Shape;436;p44"/>
          <p:cNvSpPr/>
          <p:nvPr/>
        </p:nvSpPr>
        <p:spPr>
          <a:xfrm>
            <a:off x="4712700" y="3805550"/>
            <a:ext cx="3782400" cy="987600"/>
          </a:xfrm>
          <a:prstGeom prst="rect">
            <a:avLst/>
          </a:prstGeom>
          <a:noFill/>
          <a:ln cap="flat" cmpd="sng" w="28575">
            <a:solidFill>
              <a:srgbClr val="ABBF95"/>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Oregano</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Mint</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Rosemary</a:t>
            </a:r>
            <a:endParaRPr>
              <a:solidFill>
                <a:schemeClr val="dk1"/>
              </a:solidFill>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5"/>
          <p:cNvSpPr txBox="1"/>
          <p:nvPr>
            <p:ph type="title"/>
          </p:nvPr>
        </p:nvSpPr>
        <p:spPr>
          <a:xfrm>
            <a:off x="311700" y="20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44200"/>
                </a:solidFill>
                <a:latin typeface="Lexend"/>
                <a:ea typeface="Lexend"/>
                <a:cs typeface="Lexend"/>
                <a:sym typeface="Lexend"/>
              </a:rPr>
              <a:t>Appendix K: Floor Plans</a:t>
            </a:r>
            <a:endParaRPr>
              <a:solidFill>
                <a:srgbClr val="A44200"/>
              </a:solidFill>
              <a:latin typeface="Lexend"/>
              <a:ea typeface="Lexend"/>
              <a:cs typeface="Lexend"/>
              <a:sym typeface="Lexend"/>
            </a:endParaRPr>
          </a:p>
        </p:txBody>
      </p:sp>
      <p:pic>
        <p:nvPicPr>
          <p:cNvPr id="442" name="Google Shape;442;p45" title="bold.png"/>
          <p:cNvPicPr preferRelativeResize="0"/>
          <p:nvPr/>
        </p:nvPicPr>
        <p:blipFill>
          <a:blip r:embed="rId3">
            <a:alphaModFix/>
          </a:blip>
          <a:stretch>
            <a:fillRect/>
          </a:stretch>
        </p:blipFill>
        <p:spPr>
          <a:xfrm>
            <a:off x="8528400" y="21325"/>
            <a:ext cx="615600" cy="615600"/>
          </a:xfrm>
          <a:prstGeom prst="rect">
            <a:avLst/>
          </a:prstGeom>
          <a:noFill/>
          <a:ln>
            <a:noFill/>
          </a:ln>
        </p:spPr>
      </p:pic>
      <p:pic>
        <p:nvPicPr>
          <p:cNvPr id="443" name="Google Shape;443;p45"/>
          <p:cNvPicPr preferRelativeResize="0"/>
          <p:nvPr/>
        </p:nvPicPr>
        <p:blipFill>
          <a:blip r:embed="rId4">
            <a:alphaModFix/>
          </a:blip>
          <a:stretch>
            <a:fillRect/>
          </a:stretch>
        </p:blipFill>
        <p:spPr>
          <a:xfrm>
            <a:off x="311700" y="781750"/>
            <a:ext cx="8064627" cy="405695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6"/>
          <p:cNvSpPr txBox="1"/>
          <p:nvPr>
            <p:ph type="title"/>
          </p:nvPr>
        </p:nvSpPr>
        <p:spPr>
          <a:xfrm>
            <a:off x="250550" y="2090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20">
                <a:solidFill>
                  <a:srgbClr val="A44200"/>
                </a:solidFill>
                <a:latin typeface="Lexend"/>
                <a:ea typeface="Lexend"/>
                <a:cs typeface="Lexend"/>
                <a:sym typeface="Lexend"/>
              </a:rPr>
              <a:t>Appendix L: Western and Southern Sections/Elevations</a:t>
            </a:r>
            <a:endParaRPr sz="2420">
              <a:solidFill>
                <a:srgbClr val="A44200"/>
              </a:solidFill>
              <a:latin typeface="Lexend"/>
              <a:ea typeface="Lexend"/>
              <a:cs typeface="Lexend"/>
              <a:sym typeface="Lexend"/>
            </a:endParaRPr>
          </a:p>
        </p:txBody>
      </p:sp>
      <p:pic>
        <p:nvPicPr>
          <p:cNvPr id="449" name="Google Shape;449;p46" title="bold.png"/>
          <p:cNvPicPr preferRelativeResize="0"/>
          <p:nvPr/>
        </p:nvPicPr>
        <p:blipFill>
          <a:blip r:embed="rId3">
            <a:alphaModFix/>
          </a:blip>
          <a:stretch>
            <a:fillRect/>
          </a:stretch>
        </p:blipFill>
        <p:spPr>
          <a:xfrm>
            <a:off x="8528400" y="21325"/>
            <a:ext cx="615600" cy="615600"/>
          </a:xfrm>
          <a:prstGeom prst="rect">
            <a:avLst/>
          </a:prstGeom>
          <a:noFill/>
          <a:ln>
            <a:noFill/>
          </a:ln>
        </p:spPr>
      </p:pic>
      <p:pic>
        <p:nvPicPr>
          <p:cNvPr id="450" name="Google Shape;450;p46"/>
          <p:cNvPicPr preferRelativeResize="0"/>
          <p:nvPr/>
        </p:nvPicPr>
        <p:blipFill rotWithShape="1">
          <a:blip r:embed="rId4">
            <a:alphaModFix/>
          </a:blip>
          <a:srcRect b="0" l="0" r="0" t="3791"/>
          <a:stretch/>
        </p:blipFill>
        <p:spPr>
          <a:xfrm>
            <a:off x="737850" y="978900"/>
            <a:ext cx="7244600" cy="39248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7"/>
          <p:cNvSpPr txBox="1"/>
          <p:nvPr>
            <p:ph type="title"/>
          </p:nvPr>
        </p:nvSpPr>
        <p:spPr>
          <a:xfrm>
            <a:off x="250550" y="2090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20">
                <a:solidFill>
                  <a:srgbClr val="A44200"/>
                </a:solidFill>
                <a:latin typeface="Lexend"/>
                <a:ea typeface="Lexend"/>
                <a:cs typeface="Lexend"/>
                <a:sym typeface="Lexend"/>
              </a:rPr>
              <a:t>Appendix M: Exploded Axonometric</a:t>
            </a:r>
            <a:endParaRPr sz="2420">
              <a:solidFill>
                <a:srgbClr val="A44200"/>
              </a:solidFill>
              <a:latin typeface="Lexend"/>
              <a:ea typeface="Lexend"/>
              <a:cs typeface="Lexend"/>
              <a:sym typeface="Lexend"/>
            </a:endParaRPr>
          </a:p>
        </p:txBody>
      </p:sp>
      <p:pic>
        <p:nvPicPr>
          <p:cNvPr id="456" name="Google Shape;456;p47" title="bold.png"/>
          <p:cNvPicPr preferRelativeResize="0"/>
          <p:nvPr/>
        </p:nvPicPr>
        <p:blipFill>
          <a:blip r:embed="rId3">
            <a:alphaModFix/>
          </a:blip>
          <a:stretch>
            <a:fillRect/>
          </a:stretch>
        </p:blipFill>
        <p:spPr>
          <a:xfrm>
            <a:off x="8528400" y="21325"/>
            <a:ext cx="615600" cy="615600"/>
          </a:xfrm>
          <a:prstGeom prst="rect">
            <a:avLst/>
          </a:prstGeom>
          <a:noFill/>
          <a:ln>
            <a:noFill/>
          </a:ln>
        </p:spPr>
      </p:pic>
      <p:pic>
        <p:nvPicPr>
          <p:cNvPr id="457" name="Google Shape;457;p47"/>
          <p:cNvPicPr preferRelativeResize="0"/>
          <p:nvPr/>
        </p:nvPicPr>
        <p:blipFill>
          <a:blip r:embed="rId4">
            <a:alphaModFix/>
          </a:blip>
          <a:stretch>
            <a:fillRect/>
          </a:stretch>
        </p:blipFill>
        <p:spPr>
          <a:xfrm>
            <a:off x="2173675" y="1130725"/>
            <a:ext cx="4674350" cy="401277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8"/>
          <p:cNvSpPr txBox="1"/>
          <p:nvPr>
            <p:ph type="title"/>
          </p:nvPr>
        </p:nvSpPr>
        <p:spPr>
          <a:xfrm>
            <a:off x="250550" y="2090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20">
                <a:solidFill>
                  <a:srgbClr val="A44200"/>
                </a:solidFill>
                <a:latin typeface="Lexend"/>
                <a:ea typeface="Lexend"/>
                <a:cs typeface="Lexend"/>
                <a:sym typeface="Lexend"/>
              </a:rPr>
              <a:t>Appendix N: </a:t>
            </a:r>
            <a:r>
              <a:rPr lang="en" sz="2420">
                <a:solidFill>
                  <a:srgbClr val="A44200"/>
                </a:solidFill>
                <a:latin typeface="Lexend"/>
                <a:ea typeface="Lexend"/>
                <a:cs typeface="Lexend"/>
                <a:sym typeface="Lexend"/>
              </a:rPr>
              <a:t>Average</a:t>
            </a:r>
            <a:r>
              <a:rPr lang="en" sz="2420">
                <a:solidFill>
                  <a:srgbClr val="A44200"/>
                </a:solidFill>
                <a:latin typeface="Lexend"/>
                <a:ea typeface="Lexend"/>
                <a:cs typeface="Lexend"/>
                <a:sym typeface="Lexend"/>
              </a:rPr>
              <a:t> </a:t>
            </a:r>
            <a:r>
              <a:rPr lang="en" sz="2420">
                <a:solidFill>
                  <a:srgbClr val="A44200"/>
                </a:solidFill>
                <a:latin typeface="Lexend"/>
                <a:ea typeface="Lexend"/>
                <a:cs typeface="Lexend"/>
                <a:sym typeface="Lexend"/>
              </a:rPr>
              <a:t>Weather</a:t>
            </a:r>
            <a:r>
              <a:rPr lang="en" sz="2420">
                <a:solidFill>
                  <a:srgbClr val="A44200"/>
                </a:solidFill>
                <a:latin typeface="Lexend"/>
                <a:ea typeface="Lexend"/>
                <a:cs typeface="Lexend"/>
                <a:sym typeface="Lexend"/>
              </a:rPr>
              <a:t> </a:t>
            </a:r>
            <a:endParaRPr sz="2420">
              <a:solidFill>
                <a:srgbClr val="A44200"/>
              </a:solidFill>
              <a:latin typeface="Lexend"/>
              <a:ea typeface="Lexend"/>
              <a:cs typeface="Lexend"/>
              <a:sym typeface="Lexend"/>
            </a:endParaRPr>
          </a:p>
        </p:txBody>
      </p:sp>
      <p:pic>
        <p:nvPicPr>
          <p:cNvPr id="463" name="Google Shape;463;p48" title="bold.png"/>
          <p:cNvPicPr preferRelativeResize="0"/>
          <p:nvPr/>
        </p:nvPicPr>
        <p:blipFill>
          <a:blip r:embed="rId3">
            <a:alphaModFix/>
          </a:blip>
          <a:stretch>
            <a:fillRect/>
          </a:stretch>
        </p:blipFill>
        <p:spPr>
          <a:xfrm>
            <a:off x="8528400" y="21325"/>
            <a:ext cx="615600" cy="615600"/>
          </a:xfrm>
          <a:prstGeom prst="rect">
            <a:avLst/>
          </a:prstGeom>
          <a:noFill/>
          <a:ln>
            <a:noFill/>
          </a:ln>
        </p:spPr>
      </p:pic>
      <p:sp>
        <p:nvSpPr>
          <p:cNvPr id="464" name="Google Shape;464;p48"/>
          <p:cNvSpPr/>
          <p:nvPr/>
        </p:nvSpPr>
        <p:spPr>
          <a:xfrm>
            <a:off x="360500" y="1254800"/>
            <a:ext cx="3782400" cy="340500"/>
          </a:xfrm>
          <a:prstGeom prst="rect">
            <a:avLst/>
          </a:prstGeom>
          <a:solidFill>
            <a:srgbClr val="87A290"/>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Lexend"/>
                <a:ea typeface="Lexend"/>
                <a:cs typeface="Lexend"/>
                <a:sym typeface="Lexend"/>
              </a:rPr>
              <a:t>Wind </a:t>
            </a:r>
            <a:endParaRPr sz="1300">
              <a:solidFill>
                <a:schemeClr val="lt1"/>
              </a:solidFill>
              <a:latin typeface="Lexend"/>
              <a:ea typeface="Lexend"/>
              <a:cs typeface="Lexend"/>
              <a:sym typeface="Lexend"/>
            </a:endParaRPr>
          </a:p>
        </p:txBody>
      </p:sp>
      <p:sp>
        <p:nvSpPr>
          <p:cNvPr id="465" name="Google Shape;465;p48"/>
          <p:cNvSpPr/>
          <p:nvPr/>
        </p:nvSpPr>
        <p:spPr>
          <a:xfrm>
            <a:off x="360500" y="1699950"/>
            <a:ext cx="3782400" cy="871800"/>
          </a:xfrm>
          <a:prstGeom prst="rect">
            <a:avLst/>
          </a:prstGeom>
          <a:noFill/>
          <a:ln cap="flat" cmpd="sng" w="28575">
            <a:solidFill>
              <a:srgbClr val="ABBF95"/>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Average Wind Direction: West</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18.4 km/hr (Oct-Apr) </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13.9 km/hr (May- Sept</a:t>
            </a:r>
            <a:endParaRPr>
              <a:solidFill>
                <a:schemeClr val="dk1"/>
              </a:solidFill>
              <a:latin typeface="Lexend"/>
              <a:ea typeface="Lexend"/>
              <a:cs typeface="Lexend"/>
              <a:sym typeface="Lexend"/>
            </a:endParaRPr>
          </a:p>
        </p:txBody>
      </p:sp>
      <p:sp>
        <p:nvSpPr>
          <p:cNvPr id="466" name="Google Shape;466;p48"/>
          <p:cNvSpPr/>
          <p:nvPr/>
        </p:nvSpPr>
        <p:spPr>
          <a:xfrm>
            <a:off x="360500" y="2884025"/>
            <a:ext cx="3782400" cy="340500"/>
          </a:xfrm>
          <a:prstGeom prst="rect">
            <a:avLst/>
          </a:prstGeom>
          <a:solidFill>
            <a:srgbClr val="87A290"/>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Lexend"/>
                <a:ea typeface="Lexend"/>
                <a:cs typeface="Lexend"/>
                <a:sym typeface="Lexend"/>
              </a:rPr>
              <a:t>Average Cloud Coverage</a:t>
            </a:r>
            <a:endParaRPr sz="1300">
              <a:solidFill>
                <a:schemeClr val="lt1"/>
              </a:solidFill>
              <a:latin typeface="Lexend"/>
              <a:ea typeface="Lexend"/>
              <a:cs typeface="Lexend"/>
              <a:sym typeface="Lexend"/>
            </a:endParaRPr>
          </a:p>
        </p:txBody>
      </p:sp>
      <p:sp>
        <p:nvSpPr>
          <p:cNvPr id="467" name="Google Shape;467;p48"/>
          <p:cNvSpPr/>
          <p:nvPr/>
        </p:nvSpPr>
        <p:spPr>
          <a:xfrm>
            <a:off x="360500" y="3329175"/>
            <a:ext cx="3782400" cy="871800"/>
          </a:xfrm>
          <a:prstGeom prst="rect">
            <a:avLst/>
          </a:prstGeom>
          <a:noFill/>
          <a:ln cap="flat" cmpd="sng" w="28575">
            <a:solidFill>
              <a:srgbClr val="ABBF95"/>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52.4% (Oct-Jun)</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36% (Jul-Sep) </a:t>
            </a:r>
            <a:endParaRPr>
              <a:solidFill>
                <a:schemeClr val="dk1"/>
              </a:solidFill>
              <a:latin typeface="Lexend"/>
              <a:ea typeface="Lexend"/>
              <a:cs typeface="Lexend"/>
              <a:sym typeface="Lexend"/>
            </a:endParaRPr>
          </a:p>
          <a:p>
            <a:pPr indent="-317500" lvl="1" marL="9144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*(Monthly Avgs) </a:t>
            </a:r>
            <a:endParaRPr>
              <a:solidFill>
                <a:schemeClr val="dk1"/>
              </a:solidFill>
              <a:latin typeface="Lexend"/>
              <a:ea typeface="Lexend"/>
              <a:cs typeface="Lexend"/>
              <a:sym typeface="Lexend"/>
            </a:endParaRPr>
          </a:p>
        </p:txBody>
      </p:sp>
      <p:sp>
        <p:nvSpPr>
          <p:cNvPr id="468" name="Google Shape;468;p48"/>
          <p:cNvSpPr/>
          <p:nvPr/>
        </p:nvSpPr>
        <p:spPr>
          <a:xfrm>
            <a:off x="4746000" y="1254800"/>
            <a:ext cx="3782400" cy="340500"/>
          </a:xfrm>
          <a:prstGeom prst="rect">
            <a:avLst/>
          </a:prstGeom>
          <a:solidFill>
            <a:srgbClr val="87A290"/>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Lexend"/>
                <a:ea typeface="Lexend"/>
                <a:cs typeface="Lexend"/>
                <a:sym typeface="Lexend"/>
              </a:rPr>
              <a:t>Temperature</a:t>
            </a:r>
            <a:r>
              <a:rPr lang="en" sz="1300">
                <a:solidFill>
                  <a:schemeClr val="lt1"/>
                </a:solidFill>
                <a:latin typeface="Lexend"/>
                <a:ea typeface="Lexend"/>
                <a:cs typeface="Lexend"/>
                <a:sym typeface="Lexend"/>
              </a:rPr>
              <a:t> Range</a:t>
            </a:r>
            <a:endParaRPr sz="1300">
              <a:solidFill>
                <a:schemeClr val="lt1"/>
              </a:solidFill>
              <a:latin typeface="Lexend"/>
              <a:ea typeface="Lexend"/>
              <a:cs typeface="Lexend"/>
              <a:sym typeface="Lexend"/>
            </a:endParaRPr>
          </a:p>
        </p:txBody>
      </p:sp>
      <p:sp>
        <p:nvSpPr>
          <p:cNvPr id="469" name="Google Shape;469;p48"/>
          <p:cNvSpPr/>
          <p:nvPr/>
        </p:nvSpPr>
        <p:spPr>
          <a:xfrm>
            <a:off x="4746000" y="1699950"/>
            <a:ext cx="3782400" cy="871800"/>
          </a:xfrm>
          <a:prstGeom prst="rect">
            <a:avLst/>
          </a:prstGeom>
          <a:noFill/>
          <a:ln cap="flat" cmpd="sng" w="28575">
            <a:solidFill>
              <a:srgbClr val="ABBF95"/>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-4</a:t>
            </a:r>
            <a:r>
              <a:rPr baseline="30000" lang="en">
                <a:solidFill>
                  <a:schemeClr val="dk1"/>
                </a:solidFill>
                <a:latin typeface="Lexend"/>
                <a:ea typeface="Lexend"/>
                <a:cs typeface="Lexend"/>
                <a:sym typeface="Lexend"/>
              </a:rPr>
              <a:t>o</a:t>
            </a:r>
            <a:r>
              <a:rPr lang="en">
                <a:solidFill>
                  <a:schemeClr val="dk1"/>
                </a:solidFill>
                <a:latin typeface="Lexend"/>
                <a:ea typeface="Lexend"/>
                <a:cs typeface="Lexend"/>
                <a:sym typeface="Lexend"/>
              </a:rPr>
              <a:t>C</a:t>
            </a:r>
            <a:r>
              <a:rPr baseline="30000" lang="en">
                <a:solidFill>
                  <a:schemeClr val="dk1"/>
                </a:solidFill>
                <a:latin typeface="Lexend"/>
                <a:ea typeface="Lexend"/>
                <a:cs typeface="Lexend"/>
                <a:sym typeface="Lexend"/>
              </a:rPr>
              <a:t> </a:t>
            </a:r>
            <a:r>
              <a:rPr lang="en">
                <a:solidFill>
                  <a:schemeClr val="dk1"/>
                </a:solidFill>
                <a:latin typeface="Lexend"/>
                <a:ea typeface="Lexend"/>
                <a:cs typeface="Lexend"/>
                <a:sym typeface="Lexend"/>
              </a:rPr>
              <a:t>to 24</a:t>
            </a:r>
            <a:r>
              <a:rPr baseline="30000" lang="en">
                <a:solidFill>
                  <a:schemeClr val="dk1"/>
                </a:solidFill>
                <a:latin typeface="Lexend"/>
                <a:ea typeface="Lexend"/>
                <a:cs typeface="Lexend"/>
                <a:sym typeface="Lexend"/>
              </a:rPr>
              <a:t>o</a:t>
            </a:r>
            <a:r>
              <a:rPr lang="en">
                <a:solidFill>
                  <a:schemeClr val="dk1"/>
                </a:solidFill>
                <a:latin typeface="Lexend"/>
                <a:ea typeface="Lexend"/>
                <a:cs typeface="Lexend"/>
                <a:sym typeface="Lexend"/>
              </a:rPr>
              <a:t>C</a:t>
            </a:r>
            <a:endParaRPr>
              <a:solidFill>
                <a:schemeClr val="dk1"/>
              </a:solidFill>
              <a:latin typeface="Lexend"/>
              <a:ea typeface="Lexend"/>
              <a:cs typeface="Lexend"/>
              <a:sym typeface="Lexend"/>
            </a:endParaRPr>
          </a:p>
          <a:p>
            <a:pPr indent="-317500" lvl="1" marL="9144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 Daily Avgs</a:t>
            </a:r>
            <a:endParaRPr>
              <a:solidFill>
                <a:schemeClr val="dk1"/>
              </a:solidFill>
              <a:latin typeface="Lexend"/>
              <a:ea typeface="Lexend"/>
              <a:cs typeface="Lexend"/>
              <a:sym typeface="Lexend"/>
            </a:endParaRPr>
          </a:p>
        </p:txBody>
      </p:sp>
      <p:sp>
        <p:nvSpPr>
          <p:cNvPr id="470" name="Google Shape;470;p48"/>
          <p:cNvSpPr/>
          <p:nvPr/>
        </p:nvSpPr>
        <p:spPr>
          <a:xfrm>
            <a:off x="4746000" y="2884025"/>
            <a:ext cx="3782400" cy="340500"/>
          </a:xfrm>
          <a:prstGeom prst="rect">
            <a:avLst/>
          </a:prstGeom>
          <a:solidFill>
            <a:srgbClr val="87A290"/>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Lexend"/>
                <a:ea typeface="Lexend"/>
                <a:cs typeface="Lexend"/>
                <a:sym typeface="Lexend"/>
              </a:rPr>
              <a:t>Precipitation</a:t>
            </a:r>
            <a:r>
              <a:rPr lang="en" sz="1300">
                <a:solidFill>
                  <a:schemeClr val="lt1"/>
                </a:solidFill>
                <a:latin typeface="Lexend"/>
                <a:ea typeface="Lexend"/>
                <a:cs typeface="Lexend"/>
                <a:sym typeface="Lexend"/>
              </a:rPr>
              <a:t> Range</a:t>
            </a:r>
            <a:endParaRPr sz="1300">
              <a:solidFill>
                <a:schemeClr val="lt1"/>
              </a:solidFill>
              <a:latin typeface="Lexend"/>
              <a:ea typeface="Lexend"/>
              <a:cs typeface="Lexend"/>
              <a:sym typeface="Lexend"/>
            </a:endParaRPr>
          </a:p>
        </p:txBody>
      </p:sp>
      <p:sp>
        <p:nvSpPr>
          <p:cNvPr id="471" name="Google Shape;471;p48"/>
          <p:cNvSpPr/>
          <p:nvPr/>
        </p:nvSpPr>
        <p:spPr>
          <a:xfrm>
            <a:off x="4746000" y="3329175"/>
            <a:ext cx="3782400" cy="871800"/>
          </a:xfrm>
          <a:prstGeom prst="rect">
            <a:avLst/>
          </a:prstGeom>
          <a:noFill/>
          <a:ln cap="flat" cmpd="sng" w="28575">
            <a:solidFill>
              <a:srgbClr val="ABBF95"/>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13.6 mm-52.3 mm (rain)</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17.5 mm-87.7 mm (snow)</a:t>
            </a:r>
            <a:endParaRPr>
              <a:solidFill>
                <a:schemeClr val="dk1"/>
              </a:solidFill>
              <a:latin typeface="Lexend"/>
              <a:ea typeface="Lexend"/>
              <a:cs typeface="Lexend"/>
              <a:sym typeface="Lexend"/>
            </a:endParaRPr>
          </a:p>
          <a:p>
            <a:pPr indent="-317500" lvl="1" marL="9144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*(Monthly Avgs) </a:t>
            </a:r>
            <a:endParaRPr>
              <a:solidFill>
                <a:schemeClr val="dk1"/>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